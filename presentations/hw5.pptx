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538800-1aec-a143-da1c-0e6293c9e1c8}">
          <p14:sldIdLst>
            <p14:sldId id="256"/>
            <p14:sldId id="257"/>
          </p14:sldIdLst>
        </p14:section>
        <p14:section name="XGBoost" id="{6b52cdf7-8096-e256-2a87-0ae04a299ab3}">
          <p14:sldIdLst>
            <p14:sldId id="258"/>
            <p14:sldId id="259"/>
            <p14:sldId id="260"/>
            <p14:sldId id="261"/>
            <p14:sldId id="262"/>
          </p14:sldIdLst>
        </p14:section>
        <p14:section name="Data" id="{48a12228-dfd8-20b7-0234-b17438fde6e2}">
          <p14:sldIdLst>
            <p14:sldId id="263"/>
          </p14:sldIdLst>
        </p14:section>
        <p14:section name="Models" id="{1eced11c-d421-8ea4-23af-d90c2b034c07}">
          <p14:sldIdLst>
            <p14:sldId id="264"/>
            <p14:sldId id="265"/>
            <p14:sldId id="266"/>
            <p14:sldId id="267"/>
          </p14:sldIdLst>
        </p14:section>
        <p14:section name="Results" id="{3a1b2b81-f002-16e1-f87f-be45812a3006}">
          <p14:sldIdLst>
            <p14:sldId id="268"/>
            <p14:sldId id="269"/>
            <p14:sldId id="270"/>
          </p14:sldIdLst>
        </p14:section>
        <p14:section name="Conclusion" id="{4116399b-c490-f2ae-aaca-6e330fbf3340}">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Vadim Egorov, and this is my Homework 5 for ES 603.
The assignment was to learn a new classification algorithm and try to beat the baseline. My algorithm is XGBoost.
First I'll explain what XGBoost is and how it learns, including the math, and work through a small example by hand. Then I'll apply it to a real dataset, where electronic gas sensors have to identify which of six gases they are smelling. I'll compare it with Logistic Regression and a Decision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research question is: can XGBoost classify gases more accurately than Logistic Regression and a Decision Tree, using only the sensor readings?
The dataset is the Gas Sensor Array Drift dataset from UCI. It has 13,910 measurements. Each one comes from an array of 16 metal-oxide sensors, and each sensor gives 8 features, so there are 128 features in total. The target is which gas was in the chamber, one of six: Acetone, Ethylene, Ethanol, Acetaldehyde, Toluene and Ammonia.
On the right you can see the class counts. Acetone is the largest class and Ammonia the smallest, with a ratio of 1.83, so the data is only mildly imbalanced. I still report balanced accuracy and macro F1, so the small classes count as much as the big ones.
For preparation, the main problem was that the loader didn't parse the files correctly. As you can see at the bottom right, every value came in as a string like "2:1.868", with the feature number in front. I stripped those prefixes and converted everything to numbers. There were no missing values and no duplicates. Then I did an 80/20 stratified train/test split with random state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XGBoost? It stands for eXtreme Gradient Boosting, and it was introduced by Chen and Guestrin in 2016. It is an ensemble of small decision trees that are built one after another.
The main idea is boosting. We start with a very simple guess, for example the average of the target. Then we build a small tree, and that tree doesn't try to predict the target directly. It tries to predict the errors our current model is still making. We scale its output down by the learning rate, eta, and add it to the model. Then the next tree looks at the errors that are left, and so on.
So the final prediction, in the gray box, is the starting guess plus eta times the sum of all the trees' outputs. To predict, you just drop a sample down every tree and add up the values in the leaves it lands in.
On the right you can see this with the small example I'll do by hand in a moment. The training loss starts at 20, and every tree removes part of what's left: 13.5, 9.4, 6.7, 5.
This is different from a Random Forest. A Random Forest builds deep trees independently and averages them, which mainly reduces variance. XGBoost builds shallow trees in sequence, each one correcting the last, which mainly reduces bias. The "extreme" part is the extra regularization and engineering on top, which I'll show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 It comes down to four formulas.
One: the objective. XGBoost minimizes the training loss, plus a penalty for each tree. The penalty is gamma times the number of leaves, plus one half lambda times the sum of the squared leaf values. So it pays to have fewer leaves and smaller leaf values, and that's what makes it harder to overfit than plain gradient boosting.
Two: at each round we already have predictions, and we want to add one more tree. XGBoost approximates the loss with a second-order Taylor expansion around the current prediction. So every sample is summarized by two numbers: the gradient g, the first derivative of the loss, and the Hessian h, the second derivative. For squared error, g is just prediction minus target, and h is 1. For classification with log-loss, g is p minus y, and h is p times one minus p. Because the tree only ever sees g and h, you can use any loss you can differentiate twice.
Three: once we fix which samples go into which leaf, the best value for each leaf has a closed form: minus G over H plus lambda, where G and H are the sums of g and h in that leaf. You can see lambda in the denominator, pulling the value toward zero.
Four: to decide where to split, XGBoost computes the gain: the score of the left child plus the right child, minus the parent, minus gamma. It tries every feature and threshold, picks the largest gain, and only splits if the gain is positive.
Let's see these four formulas in action on a small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toy example. Four students: hours studied, x, and quiz score, y. I use squared error, lambda equal to 1, gamma equal to 0, and a learning rate of 0.3.
Step 1. The starting prediction is the mean of y, which is 5. You can see it as the dashed line.
[DRAW: from each point, draw a short vertical arrow to the dashed line at 5. Label them: +4, +2, −2, −4.]
These are the residuals. Since g is the prediction minus the target, the gradients are 4, 2, minus 2 and minus 4, as in the table. For squared error, h is 1 for every point. So at the root, G is 0 and H is 4.
Step 2. The candidate splits are the midpoints between the x values: 1.5, 2.5 and 3.5. For each one I compute the gain. For x less than 2.5, the left side has G = 6 and H = 2, so its score is 6 squared over 2 plus 1, which is 12. The right side is the same, 12. The parent score is 0. So the gain is one half of 12 plus 12, which is 12.
The other two splits only give 6, so the tree splits at x less than 2.5.
[DRAW: a vertical line at x = 2.5, between the second and third points. Circle the two points on each side.]
That makes sense: it separates the low scorers from the high scorers. Next, the leaf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the leaf values. With the formula minus G over H plus lambda, the left leaf gets minus 6 over 2 plus 1, which is minus 2. The right leaf gets plus 2. Without lambda these would just be the average residuals, minus 3 and plus 3, so lambda shrinks them.
[DRAW in the top box: the tree. A root node labeled "x &lt; 2.5?", a "yes" branch to a leaf with "w = −2", and a "no" branch to a leaf with "w = +2".]
This is the first tree.
Step 4: we update the predictions. The new prediction is the old one, 5, plus the learning rate 0.3 times the leaf value. So the first two students go down to 4.4, and the other two go up to 5.6.
[DRAW in the bottom chart: a step line at 4.4 from x = 1 to x = 2.5, then at 5.6 from 2.5 to 4. Show with arrows that every point is now a bit closer to the line than to the dashed line.]
The training loss drops from 20 to 13.52 with just one small tree. The next round would start again from step 1, with the new residuals.
Step 5. The tree could go one level deeper, so should the left leaf split again? Its gain is one half of 8 plus 2 minus 12, which is minus 1. It's negative, so no, even though gamma is 0. Lambda alone stops the tree from growing leaves for single points. That is the regularization doing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most important parameters. The learning rate controls how much each tree adds. A smaller value needs more trees but usually generalizes better. n_estimators is the number of trees. max_depth limits each tree. subsample and colsample_bytree give every tree a random share of the rows and the features, which makes the trees less alike and helps against overfitting. Then there are the regularization parameters from the math slide: lambda, gamma, and min_child_weight, which is the minimum sum of Hessians in a leaf.
The right column shows the values I ended up with. I'll show how I chose them on slide 11.
Advantages: XGBoost is often the most accurate model on tabular data. Regularization is built in. It doesn't need feature scaling, because trees only compare a feature to a threshold, and it handles missing values itself. And it's fast.
Limitations: there are many hyperparameters, and they interact. The trees have to be built one at a time, so it can't be parallelized across trees like a Random Forest. It can overfit small or noisy data. And it's harder to interpret than a single tree. Also, its predictions are piecewise constant, so it can't extrapolate beyond the range it was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from the exploratory analysis affected the modeling.
First, the feature scales. The top chart shows the standard deviation of all 128 features on a log scale. The tall spikes are the DR features, the raw resistance change, with standard deviations around ten thousand, while some others are below 1. Logistic Regression is sensitive to that, so I scaled the features for it, inside a pipeline, so the scaler only ever sees training data. The tree-based models only compare a feature to a threshold, so scaling doesn't change them, and I left their features raw.
Second, correlation. The heatmap shows the 8 features of sensor 1. Most of them are strongly correlated, up to 0.95. Only the normalized DR feature carries different information. So the 128 features are quite redundant. That's not a problem for prediction: Logistic Regression's regularization handles it, and a tree just picks whichever of the correlated features splits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1 is the baseline, Logistic Regression, on all 128 scaled features. I raised the maximum number of iterations so the solver converges.
It does very well: 99.25 percent test accuracy, so only 21 of the 2,782 test measurements are wrong. Training accuracy is almost the same, 99.34, so there's no overfitting. Balanced accuracy is 99.18, so the smaller classes aren't being neglected.
In the confusion matrix, almost everything is on the diagonal. The biggest mistake is 4 Ammonia measurements predicted as Acetone.
A linear model doing this well tells us the six gases are almost linearly separable in this 128-dimensional space. So this is a high bar for XGBoost to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2 is a single Decision Tree with the default settings, so it keeps growing until every leaf is pure.
It's clearly the weakest model: 97.23 percent test accuracy, 77 errors. Training accuracy is 100 percent, so the gap of almost 3 points means the tree overfits. It grew to depth 22 with 267 leaves, so many leaves describe just a handful of training measurements.
In the confusion matrix, the errors are spread out. The worst is Acetaldehyde, which gets mixed up with Ethanol in both directions, 12 and 6 times, and with Toluene, 8 and 8 times.
This is the problem XGBoost is supposed to fix: instead of one deep tree, it uses many shallow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3 is XGBoost. I tuned its main parameters, using only the training data, with 3-fold stratified cross-validation. I tuned them in three steps.
Step 1: the number of trees and the learning rate. These go together, since a smaller learning rate needs more trees. I tracked the validation error after every tree for three learning rates. All three reach the same lowest error, 0.72 percent. They just get there at different speeds: 34 trees at 0.3, about 137 at 0.1, and 248 at 0.03. After that the curves stay flat, so extra trees don't cause overfitting here. I chose 0.1 with 300 trees.
Step 2: tree depth. The training score is perfect for every depth from 3 up, so only the cross-validation score is useful. It's best at depth 3. Depth 2 underfits, and deeper trees don't help, because each tree only has to correct the errors left by the trees before it.
Step 3: row and feature sampling. Giving each tree 70 percent of the rows and 50 percent of the features was slightly best. That fits the correlation we saw: a tree that sees only half the features still finds near-copies of the missing ones.
Honestly, all of these differences are smaller than the variation between folds, so the defaults were already close to optimal on this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those parameters I retrained XGBoost on the full training set and evaluated it on the test set once.
Test accuracy is 99.46 percent, 15 errors, the best of the three models. Balanced accuracy is 99.42 and macro F1 is 99.45.
Training accuracy is 100 percent, just like the Decision Tree. But here the test score stays very high. The difference is that every tree is shallow, depth 3, and its contribution is scaled down by the learning rate. So no single tree can memorize the training data the way one deep tree does.
In the confusion matrix, no gas has more than 4 errors. The smallest class, Ammonia, loses only 4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models side by side, all trained on the same training data and evaluated on the same test set.
XGBoost is the best on every metric.
Compared with the Decision Tree, the improvement is big: 15 errors instead of 77, about 80 percent fewer. Boosting many shallow trees fixes the overfitting of one deep tree.
Compared with Logistic Regression, the improvement is small: 15 errors instead of 21, about 30 percent fewer, or 0.2 points of accuracy.
Precision and recall are almost equal for every model, so none of them is systematically over-predicting one gas.
But with only 2,782 test measurements, a gap of 6 errors could be luck. I check that on slide 15. First, the individual gases.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individual gases, sorted from the smallest class to the largest.
Ammonia is the smallest class, so I checked it separately. XGBoost has the best F1 on it, 0.994, compared with 0.989 for Logistic Regression and 0.974 for the Decision Tree. For Logistic Regression, Ammonia is actually its weakest class, so being the smallest class costs it a little. XGBoost doesn't show that problem.
Overall, XGBoost has the highest F1 on 5 of the 6 gases. The one exception is Toluene, where Logistic Regression is ahead by a single measurement.
The Decision Tree's worst class is Acetaldehyde, with an F1 of 0.946, because of the confusion with Ethanol and Toluene we saw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surprising finding for me was how good the simple baseline was. A linear model reached 99.25 percent, only 6 test errors behind XGBoost. With so few errors, I wanted to know if XGBoost's lead is real, or just luck with this particular test set.
So I scored all three models with 5-fold cross-validation on the training set, without touching the test set.
XGBoost beats Logistic Regression in every single fold. Its lowest fold is above Logistic Regression's highest fold. The means are 0.9939 versus 0.9890, and that gap is 3 to 5 times the fold-to-fold standard deviation. So the improvement is small, but it's consistent, not luck.
The Decision Tree is far behind, at 0.97, and it's also the least stable model: its spread is about four times bigger than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best model is XGBoost, with 300 trees of depth 3: 99.46 percent test accuracy and a macro F1 of 0.9945.
Compared with the Decision Tree, it makes about 80 percent fewer errors. Boosting many small trees fixes the overfitting of a single deep tree.
Compared with Logistic Regression, the gain is small but consistent: XGBoost is ahead in every cross-validation fold.
Shallow trees were enough. Depth 3 was the best, and the tuning moved the score by less than the noise between folds, so XGBoost's defaults were already very good.
One important limitation: this dataset was collected over 36 months, and the sensors drift over time. My random split mixes measurements from every month into both the training and the test set, so these scores are optimistic. A harder and more realistic test would be to train on the early batches and test on the later ones.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29768" y="1371600"/>
            <a:ext cx="822960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29768" y="1371600"/>
            <a:ext cx="8229600" cy="685800"/>
          </a:xfrm>
          <a:prstGeom prst="rect">
            <a:avLst/>
          </a:prstGeom>
          <a:noFill/>
          <a:ln/>
        </p:spPr>
        <p:txBody>
          <a:bodyPr wrap="square" lIns="25400" tIns="25400" rIns="25400" bIns="25400" rtlCol="0" anchor="b"/>
          <a:lstStyle/>
          <a:p>
            <a:pPr algn="l" indent="0" marL="0">
              <a:buNone/>
            </a:pPr>
            <a:r>
              <a:rPr lang="en-US" sz="3000" b="1" dirty="0">
                <a:solidFill>
                  <a:schemeClr val="tx1"/>
                </a:solidFill>
              </a:rPr>
              <a:t>Identifying Gases from Sensor Readings</a:t>
            </a:r>
            <a:endParaRPr lang="en-US" sz="3000" dirty="0"/>
          </a:p>
        </p:txBody>
      </p:sp>
      <p:sp>
        <p:nvSpPr>
          <p:cNvPr id="3" name="Text 1"/>
          <p:cNvSpPr txBox="1"/>
          <p:nvPr/>
        </p:nvSpPr>
        <p:spPr>
          <a:xfrm>
            <a:off x="429768" y="2194560"/>
            <a:ext cx="8229600" cy="320040"/>
          </a:xfrm>
          <a:prstGeom prst="rect">
            <a:avLst/>
          </a:prstGeom>
          <a:noFill/>
          <a:ln/>
        </p:spPr>
        <p:txBody>
          <a:bodyPr wrap="square" lIns="25400" tIns="25400" rIns="25400" bIns="25400" rtlCol="0" anchor="t"/>
          <a:lstStyle/>
          <a:p>
            <a:pPr indent="0" marL="0">
              <a:lnSpc>
                <a:spcPct val="115000"/>
              </a:lnSpc>
              <a:buNone/>
            </a:pPr>
            <a:r>
              <a:rPr lang="en-US" sz="1300" dirty="0">
                <a:solidFill>
                  <a:schemeClr val="tx2"/>
                </a:solidFill>
              </a:rPr>
              <a:t>Can XGBoost beat Logistic Regression and a Decision Tree on the UCI Gas Sensor Array dataset?</a:t>
            </a:r>
            <a:endParaRPr lang="en-US" sz="1300" dirty="0"/>
          </a:p>
        </p:txBody>
      </p:sp>
      <p:sp>
        <p:nvSpPr>
          <p:cNvPr id="4" name="Text 2"/>
          <p:cNvSpPr txBox="1"/>
          <p:nvPr/>
        </p:nvSpPr>
        <p:spPr>
          <a:xfrm>
            <a:off x="429768" y="2542032"/>
            <a:ext cx="8229600" cy="228600"/>
          </a:xfrm>
          <a:prstGeom prst="rect">
            <a:avLst/>
          </a:prstGeom>
          <a:noFill/>
          <a:ln/>
        </p:spPr>
        <p:txBody>
          <a:bodyPr wrap="square" lIns="25400" tIns="25400" rIns="25400" bIns="25400" rtlCol="0" anchor="t"/>
          <a:lstStyle/>
          <a:p>
            <a:pPr indent="0" marL="0">
              <a:lnSpc>
                <a:spcPct val="115000"/>
              </a:lnSpc>
              <a:buNone/>
            </a:pPr>
            <a:r>
              <a:rPr lang="en-US" sz="1200" b="1" dirty="0">
                <a:solidFill>
                  <a:schemeClr val="tx1"/>
                </a:solidFill>
              </a:rPr>
              <a:t>ES 603 — Homework 5</a:t>
            </a:r>
            <a:endParaRPr lang="en-US" sz="1200" dirty="0"/>
          </a:p>
        </p:txBody>
      </p:sp>
      <p:sp>
        <p:nvSpPr>
          <p:cNvPr id="5" name="Text 3"/>
          <p:cNvSpPr txBox="1"/>
          <p:nvPr/>
        </p:nvSpPr>
        <p:spPr>
          <a:xfrm>
            <a:off x="429768" y="2761488"/>
            <a:ext cx="8229600" cy="228600"/>
          </a:xfrm>
          <a:prstGeom prst="rect">
            <a:avLst/>
          </a:prstGeom>
          <a:noFill/>
          <a:ln/>
        </p:spPr>
        <p:txBody>
          <a:bodyPr wrap="square" lIns="25400" tIns="25400" rIns="25400" bIns="25400" rtlCol="0" anchor="t"/>
          <a:lstStyle/>
          <a:p>
            <a:pPr indent="0" marL="0">
              <a:lnSpc>
                <a:spcPct val="115000"/>
              </a:lnSpc>
              <a:buNone/>
            </a:pPr>
            <a:r>
              <a:rPr lang="en-US" sz="1200" b="1" dirty="0">
                <a:solidFill>
                  <a:schemeClr val="tx1"/>
                </a:solidFill>
              </a:rPr>
              <a:t>Vadim Egorov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Dataset, Research Question &amp; Preparation</a:t>
            </a:r>
            <a:endParaRPr lang="en-US" sz="2400" dirty="0"/>
          </a:p>
        </p:txBody>
      </p:sp>
      <p:sp>
        <p:nvSpPr>
          <p:cNvPr id="3" name="Text 4"/>
          <p:cNvSpPr txBox="1"/>
          <p:nvPr/>
        </p:nvSpPr>
        <p:spPr>
          <a:xfrm>
            <a:off x="429768" y="868680"/>
            <a:ext cx="393192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Research question</a:t>
            </a:r>
            <a:endParaRPr lang="en-US" sz="1400" dirty="0"/>
          </a:p>
        </p:txBody>
      </p:sp>
      <p:sp>
        <p:nvSpPr>
          <p:cNvPr id="4" name="Text 5"/>
          <p:cNvSpPr txBox="1"/>
          <p:nvPr/>
        </p:nvSpPr>
        <p:spPr>
          <a:xfrm>
            <a:off x="429768" y="1115568"/>
            <a:ext cx="3931920" cy="640080"/>
          </a:xfrm>
          <a:prstGeom prst="rect">
            <a:avLst/>
          </a:prstGeom>
          <a:noFill/>
          <a:ln/>
        </p:spPr>
        <p:txBody>
          <a:bodyPr wrap="square" lIns="25400" tIns="25400" rIns="25400" bIns="25400" rtlCol="0" anchor="t"/>
          <a:lstStyle/>
          <a:p>
            <a:pPr indent="0" marL="0">
              <a:lnSpc>
                <a:spcPct val="115000"/>
              </a:lnSpc>
              <a:buNone/>
            </a:pPr>
            <a:r>
              <a:rPr lang="en-US" sz="1200" dirty="0">
                <a:solidFill>
                  <a:schemeClr val="tx1"/>
                </a:solidFill>
              </a:rPr>
              <a:t>Can XGBoost classify gases more accurately than Logistic Regression and a Decision Tree, using only the sensor readings?</a:t>
            </a:r>
            <a:endParaRPr lang="en-US" sz="1200" dirty="0"/>
          </a:p>
        </p:txBody>
      </p:sp>
      <p:sp>
        <p:nvSpPr>
          <p:cNvPr id="5" name="Text 6"/>
          <p:cNvSpPr txBox="1"/>
          <p:nvPr/>
        </p:nvSpPr>
        <p:spPr>
          <a:xfrm>
            <a:off x="429768" y="1828800"/>
            <a:ext cx="393192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Dataset</a:t>
            </a:r>
            <a:endParaRPr lang="en-US" sz="1400" dirty="0"/>
          </a:p>
        </p:txBody>
      </p:sp>
      <p:sp>
        <p:nvSpPr>
          <p:cNvPr id="6" name="Bullets 7"/>
          <p:cNvSpPr txBox="1"/>
          <p:nvPr/>
        </p:nvSpPr>
        <p:spPr>
          <a:xfrm>
            <a:off x="429768" y="2084832"/>
            <a:ext cx="3931920" cy="1188720"/>
          </a:xfrm>
          <a:prstGeom prst="rect">
            <a:avLst/>
          </a:prstGeom>
          <a:noFill/>
          <a:ln/>
        </p:spPr>
        <p:txBody>
          <a:bodyPr wrap="square" lIns="25400" tIns="25400" rIns="25400" bIns="25400" rtlCol="0" anchor="t"/>
          <a:lstStyle/>
          <a:p>
            <a:pPr marL="152400" indent="-152400">
              <a:lnSpc>
                <a:spcPct val="110000"/>
              </a:lnSpc>
              <a:spcAft>
                <a:spcPts val="400"/>
              </a:spcAft>
              <a:buSzPct val="100000"/>
              <a:buChar char="–"/>
            </a:pPr>
            <a:r>
              <a:rPr lang="en-US" sz="1200" dirty="0">
                <a:solidFill>
                  <a:schemeClr val="tx1"/>
                </a:solidFill>
              </a:rPr>
              <a:t>Gas Sensor Array Drift at Different Concentrations (UCI)</a:t>
            </a:r>
            <a:endParaRPr lang="en-US" sz="1200" dirty="0"/>
          </a:p>
          <a:p>
            <a:pPr marL="152400" indent="-152400">
              <a:lnSpc>
                <a:spcPct val="110000"/>
              </a:lnSpc>
              <a:spcAft>
                <a:spcPts val="400"/>
              </a:spcAft>
              <a:buSzPct val="100000"/>
              <a:buChar char="–"/>
            </a:pPr>
            <a:r>
              <a:rPr lang="en-US" sz="1200" dirty="0">
                <a:solidFill>
                  <a:schemeClr val="tx1"/>
                </a:solidFill>
              </a:rPr>
              <a:t>13,910 measurements × 128 features (16 sensors × 8)</a:t>
            </a:r>
            <a:endParaRPr lang="en-US" sz="1200" dirty="0"/>
          </a:p>
          <a:p>
            <a:pPr marL="152400" indent="-152400">
              <a:lnSpc>
                <a:spcPct val="110000"/>
              </a:lnSpc>
              <a:spcAft>
                <a:spcPts val="400"/>
              </a:spcAft>
              <a:buSzPct val="100000"/>
              <a:buChar char="–"/>
            </a:pPr>
            <a:r>
              <a:rPr lang="en-US" sz="1200" dirty="0">
                <a:solidFill>
                  <a:schemeClr val="tx1"/>
                </a:solidFill>
              </a:rPr>
              <a:t>Target: gas, 6 classes (Acetone, Ethylene, Ethanol, Acetaldehyde, Toluene, Ammonia)</a:t>
            </a:r>
            <a:endParaRPr lang="en-US" sz="1200" dirty="0"/>
          </a:p>
        </p:txBody>
      </p:sp>
      <p:sp>
        <p:nvSpPr>
          <p:cNvPr id="7" name="Text 8"/>
          <p:cNvSpPr txBox="1"/>
          <p:nvPr/>
        </p:nvSpPr>
        <p:spPr>
          <a:xfrm>
            <a:off x="429768" y="3364992"/>
            <a:ext cx="393192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Preparation</a:t>
            </a:r>
            <a:endParaRPr lang="en-US" sz="1400" dirty="0"/>
          </a:p>
        </p:txBody>
      </p:sp>
      <p:sp>
        <p:nvSpPr>
          <p:cNvPr id="8" name="Bullets 9"/>
          <p:cNvSpPr txBox="1"/>
          <p:nvPr/>
        </p:nvSpPr>
        <p:spPr>
          <a:xfrm>
            <a:off x="429768" y="3621024"/>
            <a:ext cx="3931920" cy="1005840"/>
          </a:xfrm>
          <a:prstGeom prst="rect">
            <a:avLst/>
          </a:prstGeom>
          <a:noFill/>
          <a:ln/>
        </p:spPr>
        <p:txBody>
          <a:bodyPr wrap="square" lIns="25400" tIns="25400" rIns="25400" bIns="25400" rtlCol="0" anchor="t"/>
          <a:lstStyle/>
          <a:p>
            <a:pPr marL="152400" indent="-152400">
              <a:lnSpc>
                <a:spcPct val="110000"/>
              </a:lnSpc>
              <a:spcAft>
                <a:spcPts val="400"/>
              </a:spcAft>
              <a:buSzPct val="100000"/>
              <a:buChar char="–"/>
            </a:pPr>
            <a:r>
              <a:rPr lang="en-US" sz="1200" dirty="0">
                <a:solidFill>
                  <a:schemeClr val="tx1"/>
                </a:solidFill>
              </a:rPr>
              <a:t>Fixed the parsing: values loaded as "2:1.868" strings</a:t>
            </a:r>
            <a:endParaRPr lang="en-US" sz="1200" dirty="0"/>
          </a:p>
          <a:p>
            <a:pPr marL="152400" indent="-152400">
              <a:lnSpc>
                <a:spcPct val="110000"/>
              </a:lnSpc>
              <a:spcAft>
                <a:spcPts val="400"/>
              </a:spcAft>
              <a:buSzPct val="100000"/>
              <a:buChar char="–"/>
            </a:pPr>
            <a:r>
              <a:rPr lang="en-US" sz="1200" dirty="0">
                <a:solidFill>
                  <a:schemeClr val="tx1"/>
                </a:solidFill>
              </a:rPr>
              <a:t>No missing values, no duplicates</a:t>
            </a:r>
            <a:endParaRPr lang="en-US" sz="1200" dirty="0"/>
          </a:p>
          <a:p>
            <a:pPr marL="152400" indent="-152400">
              <a:lnSpc>
                <a:spcPct val="110000"/>
              </a:lnSpc>
              <a:spcAft>
                <a:spcPts val="400"/>
              </a:spcAft>
              <a:buSzPct val="100000"/>
              <a:buChar char="–"/>
            </a:pPr>
            <a:r>
              <a:rPr lang="en-US" sz="1200" dirty="0">
                <a:solidFill>
                  <a:schemeClr val="tx1"/>
                </a:solidFill>
              </a:rPr>
              <a:t>80/20 stratified train/test split, random_state = 42</a:t>
            </a:r>
            <a:endParaRPr lang="en-US" sz="1200" dirty="0"/>
          </a:p>
        </p:txBody>
      </p:sp>
      <p:pic>
        <p:nvPicPr>
          <p:cNvPr id="9" name="Picture 10" descr="Bar chart of class counts per gas">    </p:cNvPr>
          <p:cNvPicPr>
            <a:picLocks noChangeAspect="1"/>
          </p:cNvPicPr>
          <p:nvPr/>
        </p:nvPicPr>
        <p:blipFill>
          <a:blip r:embed="rId1"/>
          <a:stretch>
            <a:fillRect/>
          </a:stretch>
        </p:blipFill>
        <p:spPr>
          <a:xfrm>
            <a:off x="4572000" y="868680"/>
            <a:ext cx="3971473" cy="2331720"/>
          </a:xfrm>
          <a:prstGeom prst="rect">
            <a:avLst/>
          </a:prstGeom>
        </p:spPr>
      </p:pic>
      <p:pic>
        <p:nvPicPr>
          <p:cNvPr id="10" name="Picture 11" descr="Raw data before parsing fix">    </p:cNvPr>
          <p:cNvPicPr>
            <a:picLocks noChangeAspect="1"/>
          </p:cNvPicPr>
          <p:nvPr/>
        </p:nvPicPr>
        <p:blipFill>
          <a:blip r:embed="rId2"/>
          <a:stretch>
            <a:fillRect/>
          </a:stretch>
        </p:blipFill>
        <p:spPr>
          <a:xfrm>
            <a:off x="4572000" y="3291840"/>
            <a:ext cx="2513627" cy="868680"/>
          </a:xfrm>
          <a:prstGeom prst="rect">
            <a:avLst/>
          </a:prstGeom>
        </p:spPr>
      </p:pic>
      <p:sp>
        <p:nvSpPr>
          <p:cNvPr id="11" name="Frame 12"/>
          <p:cNvSpPr/>
          <p:nvPr/>
        </p:nvSpPr>
        <p:spPr>
          <a:xfrm>
            <a:off x="4572000" y="3291840"/>
            <a:ext cx="2513627" cy="868680"/>
          </a:xfrm>
          <a:prstGeom prst="rect">
            <a:avLst/>
          </a:prstGeom>
          <a:noFill/>
          <a:ln w="9525">
            <a:solidFill>
              <a:srgbClr val="CCCCCC"/>
            </a:solidFill>
            <a:prstDash val="solid"/>
          </a:ln>
        </p:spPr>
      </p:sp>
      <p:sp>
        <p:nvSpPr>
          <p:cNvPr id="12" name="Text 13"/>
          <p:cNvSpPr txBox="1"/>
          <p:nvPr/>
        </p:nvSpPr>
        <p:spPr>
          <a:xfrm>
            <a:off x="4572000" y="4215384"/>
            <a:ext cx="4114800" cy="36576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Top: measurements per gas (largest / smallest = 1.83, mildly imbalanced). Bottom: raw data before the parsing fix.</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What Is XGBoost?</a:t>
            </a:r>
            <a:endParaRPr lang="en-US" sz="2400" dirty="0"/>
          </a:p>
        </p:txBody>
      </p:sp>
      <p:sp>
        <p:nvSpPr>
          <p:cNvPr id="3" name="Text 14"/>
          <p:cNvSpPr txBox="1"/>
          <p:nvPr/>
        </p:nvSpPr>
        <p:spPr>
          <a:xfrm>
            <a:off x="429768" y="868680"/>
            <a:ext cx="3931920" cy="502920"/>
          </a:xfrm>
          <a:prstGeom prst="rect">
            <a:avLst/>
          </a:prstGeom>
          <a:noFill/>
          <a:ln/>
        </p:spPr>
        <p:txBody>
          <a:bodyPr wrap="square" lIns="25400" tIns="25400" rIns="25400" bIns="25400" rtlCol="0" anchor="t"/>
          <a:lstStyle/>
          <a:p>
            <a:pPr indent="0" marL="0">
              <a:lnSpc>
                <a:spcPct val="115000"/>
              </a:lnSpc>
              <a:buNone/>
            </a:pPr>
            <a:r>
              <a:rPr lang="en-US" sz="1200" dirty="0">
                <a:solidFill>
                  <a:schemeClr val="tx1"/>
                </a:solidFill>
              </a:rPr>
              <a:t>eXtreme Gradient Boosting (Chen &amp; Guestrin, 2016): an ensemble of small decision trees, built one after another.</a:t>
            </a:r>
            <a:endParaRPr lang="en-US" sz="1200" dirty="0"/>
          </a:p>
        </p:txBody>
      </p:sp>
      <p:sp>
        <p:nvSpPr>
          <p:cNvPr id="4" name="Text 15"/>
          <p:cNvSpPr txBox="1"/>
          <p:nvPr/>
        </p:nvSpPr>
        <p:spPr>
          <a:xfrm>
            <a:off x="429768" y="1463040"/>
            <a:ext cx="393192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Main idea</a:t>
            </a:r>
            <a:endParaRPr lang="en-US" sz="1400" dirty="0"/>
          </a:p>
        </p:txBody>
      </p:sp>
      <p:sp>
        <p:nvSpPr>
          <p:cNvPr id="5" name="Bullets 16"/>
          <p:cNvSpPr txBox="1"/>
          <p:nvPr/>
        </p:nvSpPr>
        <p:spPr>
          <a:xfrm>
            <a:off x="429768" y="1719072"/>
            <a:ext cx="3931920" cy="1188720"/>
          </a:xfrm>
          <a:prstGeom prst="rect">
            <a:avLst/>
          </a:prstGeom>
          <a:noFill/>
          <a:ln/>
        </p:spPr>
        <p:txBody>
          <a:bodyPr wrap="square" lIns="25400" tIns="25400" rIns="25400" bIns="25400" rtlCol="0" anchor="t"/>
          <a:lstStyle/>
          <a:p>
            <a:pPr marL="152400" indent="-152400">
              <a:lnSpc>
                <a:spcPct val="110000"/>
              </a:lnSpc>
              <a:spcAft>
                <a:spcPts val="400"/>
              </a:spcAft>
              <a:buSzPct val="100000"/>
              <a:buChar char="–"/>
            </a:pPr>
            <a:r>
              <a:rPr lang="en-US" sz="1200" dirty="0">
                <a:solidFill>
                  <a:schemeClr val="tx1"/>
                </a:solidFill>
              </a:rPr>
              <a:t>Start with a simple guess (for example, the mean)</a:t>
            </a:r>
            <a:endParaRPr lang="en-US" sz="1200" dirty="0"/>
          </a:p>
          <a:p>
            <a:pPr marL="152400" indent="-152400">
              <a:lnSpc>
                <a:spcPct val="110000"/>
              </a:lnSpc>
              <a:spcAft>
                <a:spcPts val="400"/>
              </a:spcAft>
              <a:buSzPct val="100000"/>
              <a:buChar char="–"/>
            </a:pPr>
            <a:r>
              <a:rPr lang="en-US" sz="1200" dirty="0">
                <a:solidFill>
                  <a:schemeClr val="tx1"/>
                </a:solidFill>
              </a:rPr>
              <a:t>Each new tree learns the errors the model still makes</a:t>
            </a:r>
            <a:endParaRPr lang="en-US" sz="1200" dirty="0"/>
          </a:p>
          <a:p>
            <a:pPr marL="152400" indent="-152400">
              <a:lnSpc>
                <a:spcPct val="110000"/>
              </a:lnSpc>
              <a:spcAft>
                <a:spcPts val="400"/>
              </a:spcAft>
              <a:buSzPct val="100000"/>
              <a:buChar char="–"/>
            </a:pPr>
            <a:r>
              <a:rPr lang="en-US" sz="1200" dirty="0">
                <a:solidFill>
                  <a:schemeClr val="tx1"/>
                </a:solidFill>
              </a:rPr>
              <a:t>Its output is scaled by the learning rate η and added</a:t>
            </a:r>
            <a:endParaRPr lang="en-US" sz="1200" dirty="0"/>
          </a:p>
          <a:p>
            <a:pPr marL="152400" indent="-152400">
              <a:lnSpc>
                <a:spcPct val="110000"/>
              </a:lnSpc>
              <a:spcAft>
                <a:spcPts val="400"/>
              </a:spcAft>
              <a:buSzPct val="100000"/>
              <a:buChar char="–"/>
            </a:pPr>
            <a:r>
              <a:rPr lang="en-US" sz="1200" dirty="0">
                <a:solidFill>
                  <a:schemeClr val="tx1"/>
                </a:solidFill>
              </a:rPr>
              <a:t>A penalty on tree size keeps every tree small</a:t>
            </a:r>
            <a:endParaRPr lang="en-US" sz="1200" dirty="0"/>
          </a:p>
        </p:txBody>
      </p:sp>
      <p:sp>
        <p:nvSpPr>
          <p:cNvPr id="6" name="Formula box 17"/>
          <p:cNvSpPr/>
          <p:nvPr/>
        </p:nvSpPr>
        <p:spPr>
          <a:xfrm>
            <a:off x="429768" y="2971800"/>
            <a:ext cx="3931920" cy="658368"/>
          </a:xfrm>
          <a:prstGeom prst="rect">
            <a:avLst/>
          </a:prstGeom>
          <a:solidFill>
            <a:schemeClr val="bg2"/>
          </a:solidFill>
          <a:ln w="12700">
            <a:solidFill>
              <a:schemeClr val="bg2"/>
            </a:solidFill>
            <a:prstDash val="solid"/>
          </a:ln>
        </p:spPr>
      </p:sp>
      <p:sp>
        <p:nvSpPr>
          <p:cNvPr id="7" name="Text 18"/>
          <p:cNvSpPr txBox="1"/>
          <p:nvPr/>
        </p:nvSpPr>
        <p:spPr>
          <a:xfrm>
            <a:off x="521208" y="3017520"/>
            <a:ext cx="3749040" cy="228600"/>
          </a:xfrm>
          <a:prstGeom prst="rect">
            <a:avLst/>
          </a:prstGeom>
          <a:noFill/>
          <a:ln/>
        </p:spPr>
        <p:txBody>
          <a:bodyPr wrap="square" lIns="25400" tIns="25400" rIns="25400" bIns="25400" rtlCol="0" anchor="t"/>
          <a:lstStyle/>
          <a:p>
            <a:pPr indent="0" marL="0">
              <a:lnSpc>
                <a:spcPct val="115000"/>
              </a:lnSpc>
              <a:buNone/>
            </a:pPr>
            <a:r>
              <a:rPr lang="en-US" sz="1200" b="1" dirty="0">
                <a:solidFill>
                  <a:schemeClr val="tx1"/>
                </a:solidFill>
              </a:rPr>
              <a:t>Prediction</a:t>
            </a:r>
            <a:endParaRPr lang="en-US" sz="1200" dirty="0"/>
          </a:p>
        </p:txBody>
      </p:sp>
      <p:sp>
        <p:nvSpPr>
          <p:cNvPr id="8" name="Text 19"/>
          <p:cNvSpPr txBox="1"/>
          <p:nvPr/>
        </p:nvSpPr>
        <p:spPr>
          <a:xfrm>
            <a:off x="521208" y="3264408"/>
            <a:ext cx="3749040" cy="320040"/>
          </a:xfrm>
          <a:prstGeom prst="rect">
            <a:avLst/>
          </a:prstGeom>
          <a:noFill/>
          <a:ln/>
        </p:spPr>
        <p:txBody>
          <a:bodyPr wrap="square" lIns="25400" tIns="25400" rIns="25400" bIns="25400" rtlCol="0" anchor="t"/>
          <a:lstStyle/>
          <a:p>
            <a:pPr indent="0" marL="0">
              <a:lnSpc>
                <a:spcPct val="115000"/>
              </a:lnSpc>
              <a:buNone/>
            </a:pPr>
            <a:r>
              <a:rPr lang="en-US" sz="1500" dirty="0">
                <a:solidFill>
                  <a:schemeClr val="tx1"/>
                </a:solidFill>
              </a:rPr>
              <a:t>ŷ = ŷ</a:t>
            </a:r>
            <a:pPr indent="0" marL="0">
              <a:lnSpc>
                <a:spcPct val="115000"/>
              </a:lnSpc>
              <a:buNone/>
            </a:pPr>
            <a:r>
              <a:rPr lang="en-US" sz="1500" baseline="30000" dirty="0">
                <a:solidFill>
                  <a:schemeClr val="tx1"/>
                </a:solidFill>
              </a:rPr>
              <a:t>(0)</a:t>
            </a:r>
            <a:pPr indent="0" marL="0">
              <a:lnSpc>
                <a:spcPct val="115000"/>
              </a:lnSpc>
              <a:buNone/>
            </a:pPr>
            <a:r>
              <a:rPr lang="en-US" sz="1500" dirty="0">
                <a:solidFill>
                  <a:schemeClr val="tx1"/>
                </a:solidFill>
              </a:rPr>
              <a:t> + η · [ f</a:t>
            </a:r>
            <a:pPr indent="0" marL="0">
              <a:lnSpc>
                <a:spcPct val="115000"/>
              </a:lnSpc>
              <a:buNone/>
            </a:pPr>
            <a:r>
              <a:rPr lang="en-US" sz="1500" baseline="-40000" dirty="0">
                <a:solidFill>
                  <a:schemeClr val="tx1"/>
                </a:solidFill>
              </a:rPr>
              <a:t>1</a:t>
            </a:r>
            <a:pPr indent="0" marL="0">
              <a:lnSpc>
                <a:spcPct val="115000"/>
              </a:lnSpc>
              <a:buNone/>
            </a:pPr>
            <a:r>
              <a:rPr lang="en-US" sz="1500" dirty="0">
                <a:solidFill>
                  <a:schemeClr val="tx1"/>
                </a:solidFill>
              </a:rPr>
              <a:t>(x) + f</a:t>
            </a:r>
            <a:pPr indent="0" marL="0">
              <a:lnSpc>
                <a:spcPct val="115000"/>
              </a:lnSpc>
              <a:buNone/>
            </a:pPr>
            <a:r>
              <a:rPr lang="en-US" sz="1500" baseline="-40000" dirty="0">
                <a:solidFill>
                  <a:schemeClr val="tx1"/>
                </a:solidFill>
              </a:rPr>
              <a:t>2</a:t>
            </a:r>
            <a:pPr indent="0" marL="0">
              <a:lnSpc>
                <a:spcPct val="115000"/>
              </a:lnSpc>
              <a:buNone/>
            </a:pPr>
            <a:r>
              <a:rPr lang="en-US" sz="1500" dirty="0">
                <a:solidFill>
                  <a:schemeClr val="tx1"/>
                </a:solidFill>
              </a:rPr>
              <a:t>(x) + … + f</a:t>
            </a:r>
            <a:pPr indent="0" marL="0">
              <a:lnSpc>
                <a:spcPct val="115000"/>
              </a:lnSpc>
              <a:buNone/>
            </a:pPr>
            <a:r>
              <a:rPr lang="en-US" sz="1500" baseline="-40000" dirty="0">
                <a:solidFill>
                  <a:schemeClr val="tx1"/>
                </a:solidFill>
              </a:rPr>
              <a:t>K</a:t>
            </a:r>
            <a:pPr indent="0" marL="0">
              <a:lnSpc>
                <a:spcPct val="115000"/>
              </a:lnSpc>
              <a:buNone/>
            </a:pPr>
            <a:r>
              <a:rPr lang="en-US" sz="1500" dirty="0">
                <a:solidFill>
                  <a:schemeClr val="tx1"/>
                </a:solidFill>
              </a:rPr>
              <a:t>(x) ]</a:t>
            </a:r>
            <a:endParaRPr lang="en-US" sz="1500" dirty="0"/>
          </a:p>
        </p:txBody>
      </p:sp>
      <p:sp>
        <p:nvSpPr>
          <p:cNvPr id="9" name="Callout 20"/>
          <p:cNvSpPr/>
          <p:nvPr/>
        </p:nvSpPr>
        <p:spPr>
          <a:xfrm>
            <a:off x="429768" y="3767328"/>
            <a:ext cx="3931920" cy="960120"/>
          </a:xfrm>
          <a:prstGeom prst="rect">
            <a:avLst/>
          </a:prstGeom>
          <a:solidFill>
            <a:schemeClr val="bg2"/>
          </a:solidFill>
          <a:ln w="12700">
            <a:solidFill>
              <a:schemeClr val="bg2"/>
            </a:solidFill>
            <a:prstDash val="solid"/>
          </a:ln>
        </p:spPr>
      </p:sp>
      <p:sp>
        <p:nvSpPr>
          <p:cNvPr id="10" name="Callout text 21"/>
          <p:cNvSpPr txBox="1"/>
          <p:nvPr/>
        </p:nvSpPr>
        <p:spPr>
          <a:xfrm>
            <a:off x="521208" y="3822192"/>
            <a:ext cx="3749040" cy="850392"/>
          </a:xfrm>
          <a:prstGeom prst="rect">
            <a:avLst/>
          </a:prstGeom>
          <a:noFill/>
          <a:ln/>
        </p:spPr>
        <p:txBody>
          <a:bodyPr wrap="square" lIns="25400" tIns="25400" rIns="25400" bIns="25400" rtlCol="0" anchor="t"/>
          <a:lstStyle/>
          <a:p>
            <a:pPr indent="0" marL="0">
              <a:lnSpc>
                <a:spcPct val="110000"/>
              </a:lnSpc>
              <a:buNone/>
            </a:pPr>
            <a:r>
              <a:rPr lang="en-US" sz="1200" b="1" dirty="0">
                <a:solidFill>
                  <a:schemeClr val="tx1"/>
                </a:solidFill>
              </a:rPr>
              <a:t>Boosting vs. Random Forest</a:t>
            </a:r>
            <a:endParaRPr lang="en-US" sz="1200" dirty="0"/>
          </a:p>
          <a:p>
            <a:pPr indent="0" marL="0">
              <a:lnSpc>
                <a:spcPct val="110000"/>
              </a:lnSpc>
              <a:buNone/>
            </a:pPr>
            <a:r>
              <a:rPr lang="en-US" sz="1200" dirty="0">
                <a:solidFill>
                  <a:schemeClr val="tx1"/>
                </a:solidFill>
              </a:rPr>
              <a:t>A Random Forest averages deep trees built independently. XGBoost adds shallow trees in sequence, each one correcting the last.</a:t>
            </a:r>
            <a:endParaRPr lang="en-US" sz="1200" dirty="0"/>
          </a:p>
        </p:txBody>
      </p:sp>
      <p:sp>
        <p:nvSpPr>
          <p:cNvPr id="11" name="Stage 22"/>
          <p:cNvSpPr/>
          <p:nvPr/>
        </p:nvSpPr>
        <p:spPr>
          <a:xfrm>
            <a:off x="4572000" y="896112"/>
            <a:ext cx="713232" cy="475488"/>
          </a:xfrm>
          <a:prstGeom prst="rect">
            <a:avLst/>
          </a:prstGeom>
          <a:solidFill>
            <a:schemeClr val="bg1"/>
          </a:solidFill>
          <a:ln w="9525">
            <a:solidFill>
              <a:srgbClr val="CCCCCC"/>
            </a:solidFill>
            <a:prstDash val="solid"/>
          </a:ln>
        </p:spPr>
      </p:sp>
      <p:sp>
        <p:nvSpPr>
          <p:cNvPr id="12" name="Text 23"/>
          <p:cNvSpPr txBox="1"/>
          <p:nvPr/>
        </p:nvSpPr>
        <p:spPr>
          <a:xfrm>
            <a:off x="4572000" y="896112"/>
            <a:ext cx="713232" cy="475488"/>
          </a:xfrm>
          <a:prstGeom prst="rect">
            <a:avLst/>
          </a:prstGeom>
          <a:noFill/>
          <a:ln/>
        </p:spPr>
        <p:txBody>
          <a:bodyPr wrap="square" lIns="25400" tIns="25400" rIns="25400" bIns="25400" rtlCol="0" anchor="ctr"/>
          <a:lstStyle/>
          <a:p>
            <a:pPr algn="ctr" indent="0" marL="0">
              <a:lnSpc>
                <a:spcPct val="115000"/>
              </a:lnSpc>
              <a:buNone/>
            </a:pPr>
            <a:r>
              <a:rPr lang="en-US" sz="1000" dirty="0">
                <a:solidFill>
                  <a:schemeClr val="tx1"/>
                </a:solidFill>
              </a:rPr>
              <a:t>Start</a:t>
            </a:r>
            <a:endParaRPr lang="en-US" sz="1000" dirty="0"/>
          </a:p>
          <a:p>
            <a:pPr algn="ctr" indent="0" marL="0">
              <a:lnSpc>
                <a:spcPct val="115000"/>
              </a:lnSpc>
              <a:buNone/>
            </a:pPr>
            <a:r>
              <a:rPr lang="en-US" sz="1000" dirty="0">
                <a:solidFill>
                  <a:schemeClr val="tx1"/>
                </a:solidFill>
              </a:rPr>
              <a:t>ŷ = mean</a:t>
            </a:r>
            <a:endParaRPr lang="en-US" sz="1000" dirty="0"/>
          </a:p>
        </p:txBody>
      </p:sp>
      <p:sp>
        <p:nvSpPr>
          <p:cNvPr id="13" name="Arrow 24"/>
          <p:cNvSpPr/>
          <p:nvPr/>
        </p:nvSpPr>
        <p:spPr>
          <a:xfrm>
            <a:off x="5303520" y="1133856"/>
            <a:ext cx="105156" cy="0"/>
          </a:xfrm>
          <a:prstGeom prst="line">
            <a:avLst/>
          </a:prstGeom>
          <a:noFill/>
          <a:ln w="12700">
            <a:solidFill>
              <a:srgbClr val="888888"/>
            </a:solidFill>
            <a:prstDash val="solid"/>
            <a:tailEnd type="triangle"/>
          </a:ln>
        </p:spPr>
      </p:sp>
      <p:sp>
        <p:nvSpPr>
          <p:cNvPr id="14" name="Stage 25"/>
          <p:cNvSpPr/>
          <p:nvPr/>
        </p:nvSpPr>
        <p:spPr>
          <a:xfrm>
            <a:off x="5426964" y="896112"/>
            <a:ext cx="713232" cy="475488"/>
          </a:xfrm>
          <a:prstGeom prst="rect">
            <a:avLst/>
          </a:prstGeom>
          <a:solidFill>
            <a:schemeClr val="bg2"/>
          </a:solidFill>
          <a:ln w="9525">
            <a:solidFill>
              <a:srgbClr val="CCCCCC"/>
            </a:solidFill>
            <a:prstDash val="solid"/>
          </a:ln>
        </p:spPr>
      </p:sp>
      <p:sp>
        <p:nvSpPr>
          <p:cNvPr id="15" name="Text 26"/>
          <p:cNvSpPr txBox="1"/>
          <p:nvPr/>
        </p:nvSpPr>
        <p:spPr>
          <a:xfrm>
            <a:off x="5426964" y="896112"/>
            <a:ext cx="713232" cy="475488"/>
          </a:xfrm>
          <a:prstGeom prst="rect">
            <a:avLst/>
          </a:prstGeom>
          <a:noFill/>
          <a:ln/>
        </p:spPr>
        <p:txBody>
          <a:bodyPr wrap="square" lIns="25400" tIns="25400" rIns="25400" bIns="25400" rtlCol="0" anchor="ctr"/>
          <a:lstStyle/>
          <a:p>
            <a:pPr algn="ctr" indent="0" marL="0">
              <a:lnSpc>
                <a:spcPct val="115000"/>
              </a:lnSpc>
              <a:buNone/>
            </a:pPr>
            <a:r>
              <a:rPr lang="en-US" sz="1000" b="1" dirty="0">
                <a:solidFill>
                  <a:schemeClr val="tx1"/>
                </a:solidFill>
              </a:rPr>
              <a:t>+ Tree 1</a:t>
            </a:r>
            <a:endParaRPr lang="en-US" sz="1000" dirty="0"/>
          </a:p>
        </p:txBody>
      </p:sp>
      <p:sp>
        <p:nvSpPr>
          <p:cNvPr id="16" name="Arrow 27"/>
          <p:cNvSpPr/>
          <p:nvPr/>
        </p:nvSpPr>
        <p:spPr>
          <a:xfrm>
            <a:off x="6158484" y="1133856"/>
            <a:ext cx="105156" cy="0"/>
          </a:xfrm>
          <a:prstGeom prst="line">
            <a:avLst/>
          </a:prstGeom>
          <a:noFill/>
          <a:ln w="12700">
            <a:solidFill>
              <a:srgbClr val="888888"/>
            </a:solidFill>
            <a:prstDash val="solid"/>
            <a:tailEnd type="triangle"/>
          </a:ln>
        </p:spPr>
      </p:sp>
      <p:sp>
        <p:nvSpPr>
          <p:cNvPr id="17" name="Stage 28"/>
          <p:cNvSpPr/>
          <p:nvPr/>
        </p:nvSpPr>
        <p:spPr>
          <a:xfrm>
            <a:off x="6281928" y="896112"/>
            <a:ext cx="713232" cy="475488"/>
          </a:xfrm>
          <a:prstGeom prst="rect">
            <a:avLst/>
          </a:prstGeom>
          <a:solidFill>
            <a:schemeClr val="bg2"/>
          </a:solidFill>
          <a:ln w="9525">
            <a:solidFill>
              <a:srgbClr val="CCCCCC"/>
            </a:solidFill>
            <a:prstDash val="solid"/>
          </a:ln>
        </p:spPr>
      </p:sp>
      <p:sp>
        <p:nvSpPr>
          <p:cNvPr id="18" name="Text 29"/>
          <p:cNvSpPr txBox="1"/>
          <p:nvPr/>
        </p:nvSpPr>
        <p:spPr>
          <a:xfrm>
            <a:off x="6281928" y="896112"/>
            <a:ext cx="713232" cy="475488"/>
          </a:xfrm>
          <a:prstGeom prst="rect">
            <a:avLst/>
          </a:prstGeom>
          <a:noFill/>
          <a:ln/>
        </p:spPr>
        <p:txBody>
          <a:bodyPr wrap="square" lIns="25400" tIns="25400" rIns="25400" bIns="25400" rtlCol="0" anchor="ctr"/>
          <a:lstStyle/>
          <a:p>
            <a:pPr algn="ctr" indent="0" marL="0">
              <a:lnSpc>
                <a:spcPct val="115000"/>
              </a:lnSpc>
              <a:buNone/>
            </a:pPr>
            <a:r>
              <a:rPr lang="en-US" sz="1000" b="1" dirty="0">
                <a:solidFill>
                  <a:schemeClr val="tx1"/>
                </a:solidFill>
              </a:rPr>
              <a:t>+ Tree 2</a:t>
            </a:r>
            <a:endParaRPr lang="en-US" sz="1000" dirty="0"/>
          </a:p>
        </p:txBody>
      </p:sp>
      <p:sp>
        <p:nvSpPr>
          <p:cNvPr id="19" name="Arrow 30"/>
          <p:cNvSpPr/>
          <p:nvPr/>
        </p:nvSpPr>
        <p:spPr>
          <a:xfrm>
            <a:off x="7013448" y="1133856"/>
            <a:ext cx="105156" cy="0"/>
          </a:xfrm>
          <a:prstGeom prst="line">
            <a:avLst/>
          </a:prstGeom>
          <a:noFill/>
          <a:ln w="12700">
            <a:solidFill>
              <a:srgbClr val="888888"/>
            </a:solidFill>
            <a:prstDash val="solid"/>
            <a:tailEnd type="triangle"/>
          </a:ln>
        </p:spPr>
      </p:sp>
      <p:sp>
        <p:nvSpPr>
          <p:cNvPr id="20" name="Stage 31"/>
          <p:cNvSpPr/>
          <p:nvPr/>
        </p:nvSpPr>
        <p:spPr>
          <a:xfrm>
            <a:off x="7136892" y="896112"/>
            <a:ext cx="713232" cy="475488"/>
          </a:xfrm>
          <a:prstGeom prst="rect">
            <a:avLst/>
          </a:prstGeom>
          <a:solidFill>
            <a:schemeClr val="bg2"/>
          </a:solidFill>
          <a:ln w="9525">
            <a:solidFill>
              <a:srgbClr val="CCCCCC"/>
            </a:solidFill>
            <a:prstDash val="solid"/>
          </a:ln>
        </p:spPr>
      </p:sp>
      <p:sp>
        <p:nvSpPr>
          <p:cNvPr id="21" name="Text 32"/>
          <p:cNvSpPr txBox="1"/>
          <p:nvPr/>
        </p:nvSpPr>
        <p:spPr>
          <a:xfrm>
            <a:off x="7136892" y="896112"/>
            <a:ext cx="713232" cy="475488"/>
          </a:xfrm>
          <a:prstGeom prst="rect">
            <a:avLst/>
          </a:prstGeom>
          <a:noFill/>
          <a:ln/>
        </p:spPr>
        <p:txBody>
          <a:bodyPr wrap="square" lIns="25400" tIns="25400" rIns="25400" bIns="25400" rtlCol="0" anchor="ctr"/>
          <a:lstStyle/>
          <a:p>
            <a:pPr algn="ctr" indent="0" marL="0">
              <a:lnSpc>
                <a:spcPct val="115000"/>
              </a:lnSpc>
              <a:buNone/>
            </a:pPr>
            <a:r>
              <a:rPr lang="en-US" sz="1000" b="1" dirty="0">
                <a:solidFill>
                  <a:schemeClr val="tx1"/>
                </a:solidFill>
              </a:rPr>
              <a:t>+ Tree 3</a:t>
            </a:r>
            <a:endParaRPr lang="en-US" sz="1000" dirty="0"/>
          </a:p>
        </p:txBody>
      </p:sp>
      <p:sp>
        <p:nvSpPr>
          <p:cNvPr id="22" name="Arrow 33"/>
          <p:cNvSpPr/>
          <p:nvPr/>
        </p:nvSpPr>
        <p:spPr>
          <a:xfrm>
            <a:off x="7868412" y="1133856"/>
            <a:ext cx="105156" cy="0"/>
          </a:xfrm>
          <a:prstGeom prst="line">
            <a:avLst/>
          </a:prstGeom>
          <a:noFill/>
          <a:ln w="12700">
            <a:solidFill>
              <a:srgbClr val="888888"/>
            </a:solidFill>
            <a:prstDash val="solid"/>
            <a:tailEnd type="triangle"/>
          </a:ln>
        </p:spPr>
      </p:sp>
      <p:sp>
        <p:nvSpPr>
          <p:cNvPr id="23" name="Stage 34"/>
          <p:cNvSpPr/>
          <p:nvPr/>
        </p:nvSpPr>
        <p:spPr>
          <a:xfrm>
            <a:off x="7991856" y="896112"/>
            <a:ext cx="713232" cy="475488"/>
          </a:xfrm>
          <a:prstGeom prst="rect">
            <a:avLst/>
          </a:prstGeom>
          <a:solidFill>
            <a:schemeClr val="bg2"/>
          </a:solidFill>
          <a:ln w="9525">
            <a:solidFill>
              <a:srgbClr val="CCCCCC"/>
            </a:solidFill>
            <a:prstDash val="solid"/>
          </a:ln>
        </p:spPr>
      </p:sp>
      <p:sp>
        <p:nvSpPr>
          <p:cNvPr id="24" name="Text 35"/>
          <p:cNvSpPr txBox="1"/>
          <p:nvPr/>
        </p:nvSpPr>
        <p:spPr>
          <a:xfrm>
            <a:off x="7991856" y="896112"/>
            <a:ext cx="713232" cy="475488"/>
          </a:xfrm>
          <a:prstGeom prst="rect">
            <a:avLst/>
          </a:prstGeom>
          <a:noFill/>
          <a:ln/>
        </p:spPr>
        <p:txBody>
          <a:bodyPr wrap="square" lIns="25400" tIns="25400" rIns="25400" bIns="25400" rtlCol="0" anchor="ctr"/>
          <a:lstStyle/>
          <a:p>
            <a:pPr algn="ctr" indent="0" marL="0">
              <a:lnSpc>
                <a:spcPct val="115000"/>
              </a:lnSpc>
              <a:buNone/>
            </a:pPr>
            <a:r>
              <a:rPr lang="en-US" sz="1000" b="1" dirty="0">
                <a:solidFill>
                  <a:schemeClr val="tx1"/>
                </a:solidFill>
              </a:rPr>
              <a:t>+ Tree 4</a:t>
            </a:r>
            <a:endParaRPr lang="en-US" sz="1000" dirty="0"/>
          </a:p>
        </p:txBody>
      </p:sp>
      <p:sp>
        <p:nvSpPr>
          <p:cNvPr id="25" name="Text 36"/>
          <p:cNvSpPr txBox="1"/>
          <p:nvPr/>
        </p:nvSpPr>
        <p:spPr>
          <a:xfrm>
            <a:off x="4572000" y="1536192"/>
            <a:ext cx="4114800" cy="228600"/>
          </a:xfrm>
          <a:prstGeom prst="rect">
            <a:avLst/>
          </a:prstGeom>
          <a:noFill/>
          <a:ln/>
        </p:spPr>
        <p:txBody>
          <a:bodyPr wrap="square" lIns="25400" tIns="25400" rIns="25400" bIns="25400" rtlCol="0" anchor="t"/>
          <a:lstStyle/>
          <a:p>
            <a:pPr algn="ctr" indent="0" marL="0">
              <a:lnSpc>
                <a:spcPct val="115000"/>
              </a:lnSpc>
              <a:buNone/>
            </a:pPr>
            <a:r>
              <a:rPr lang="en-US" sz="1100" b="1" dirty="0">
                <a:solidFill>
                  <a:schemeClr val="tx1"/>
                </a:solidFill>
              </a:rPr>
              <a:t>Toy example: training loss after each tree</a:t>
            </a:r>
            <a:endParaRPr lang="en-US" sz="1100" dirty="0"/>
          </a:p>
        </p:txBody>
      </p:sp>
      <p:sp>
        <p:nvSpPr>
          <p:cNvPr id="26" name="Bar 37"/>
          <p:cNvSpPr/>
          <p:nvPr/>
        </p:nvSpPr>
        <p:spPr>
          <a:xfrm>
            <a:off x="4681728" y="2011680"/>
            <a:ext cx="493776" cy="2103120"/>
          </a:xfrm>
          <a:prstGeom prst="rect">
            <a:avLst/>
          </a:prstGeom>
          <a:solidFill>
            <a:schemeClr val="accent1"/>
          </a:solidFill>
          <a:ln w="12700">
            <a:solidFill>
              <a:schemeClr val="accent1"/>
            </a:solidFill>
            <a:prstDash val="solid"/>
          </a:ln>
        </p:spPr>
      </p:sp>
      <p:sp>
        <p:nvSpPr>
          <p:cNvPr id="27" name="Text 38"/>
          <p:cNvSpPr txBox="1"/>
          <p:nvPr/>
        </p:nvSpPr>
        <p:spPr>
          <a:xfrm>
            <a:off x="4572000" y="1783080"/>
            <a:ext cx="713232" cy="201168"/>
          </a:xfrm>
          <a:prstGeom prst="rect">
            <a:avLst/>
          </a:prstGeom>
          <a:noFill/>
          <a:ln/>
        </p:spPr>
        <p:txBody>
          <a:bodyPr wrap="square" lIns="25400" tIns="25400" rIns="25400" bIns="25400" rtlCol="0" anchor="t"/>
          <a:lstStyle/>
          <a:p>
            <a:pPr algn="ctr" indent="0" marL="0">
              <a:lnSpc>
                <a:spcPct val="115000"/>
              </a:lnSpc>
              <a:buNone/>
            </a:pPr>
            <a:r>
              <a:rPr lang="en-US" sz="1000" dirty="0">
                <a:solidFill>
                  <a:schemeClr val="tx1"/>
                </a:solidFill>
              </a:rPr>
              <a:t>20</a:t>
            </a:r>
            <a:endParaRPr lang="en-US" sz="1000" dirty="0"/>
          </a:p>
        </p:txBody>
      </p:sp>
      <p:sp>
        <p:nvSpPr>
          <p:cNvPr id="28" name="Bar 39"/>
          <p:cNvSpPr/>
          <p:nvPr/>
        </p:nvSpPr>
        <p:spPr>
          <a:xfrm>
            <a:off x="5536692" y="2693091"/>
            <a:ext cx="493776" cy="1421709"/>
          </a:xfrm>
          <a:prstGeom prst="rect">
            <a:avLst/>
          </a:prstGeom>
          <a:solidFill>
            <a:schemeClr val="accent1"/>
          </a:solidFill>
          <a:ln w="12700">
            <a:solidFill>
              <a:schemeClr val="accent1"/>
            </a:solidFill>
            <a:prstDash val="solid"/>
          </a:ln>
        </p:spPr>
      </p:sp>
      <p:sp>
        <p:nvSpPr>
          <p:cNvPr id="29" name="Text 40"/>
          <p:cNvSpPr txBox="1"/>
          <p:nvPr/>
        </p:nvSpPr>
        <p:spPr>
          <a:xfrm>
            <a:off x="5426964" y="2464491"/>
            <a:ext cx="713232" cy="201168"/>
          </a:xfrm>
          <a:prstGeom prst="rect">
            <a:avLst/>
          </a:prstGeom>
          <a:noFill/>
          <a:ln/>
        </p:spPr>
        <p:txBody>
          <a:bodyPr wrap="square" lIns="25400" tIns="25400" rIns="25400" bIns="25400" rtlCol="0" anchor="t"/>
          <a:lstStyle/>
          <a:p>
            <a:pPr algn="ctr" indent="0" marL="0">
              <a:lnSpc>
                <a:spcPct val="115000"/>
              </a:lnSpc>
              <a:buNone/>
            </a:pPr>
            <a:r>
              <a:rPr lang="en-US" sz="1000" dirty="0">
                <a:solidFill>
                  <a:schemeClr val="tx1"/>
                </a:solidFill>
              </a:rPr>
              <a:t>13.52</a:t>
            </a:r>
            <a:endParaRPr lang="en-US" sz="1000" dirty="0"/>
          </a:p>
        </p:txBody>
      </p:sp>
      <p:sp>
        <p:nvSpPr>
          <p:cNvPr id="30" name="Bar 41"/>
          <p:cNvSpPr/>
          <p:nvPr/>
        </p:nvSpPr>
        <p:spPr>
          <a:xfrm>
            <a:off x="6391656" y="3129488"/>
            <a:ext cx="493776" cy="985312"/>
          </a:xfrm>
          <a:prstGeom prst="rect">
            <a:avLst/>
          </a:prstGeom>
          <a:solidFill>
            <a:schemeClr val="accent1"/>
          </a:solidFill>
          <a:ln w="12700">
            <a:solidFill>
              <a:schemeClr val="accent1"/>
            </a:solidFill>
            <a:prstDash val="solid"/>
          </a:ln>
        </p:spPr>
      </p:sp>
      <p:sp>
        <p:nvSpPr>
          <p:cNvPr id="31" name="Text 42"/>
          <p:cNvSpPr txBox="1"/>
          <p:nvPr/>
        </p:nvSpPr>
        <p:spPr>
          <a:xfrm>
            <a:off x="6281928" y="2900888"/>
            <a:ext cx="713232" cy="201168"/>
          </a:xfrm>
          <a:prstGeom prst="rect">
            <a:avLst/>
          </a:prstGeom>
          <a:noFill/>
          <a:ln/>
        </p:spPr>
        <p:txBody>
          <a:bodyPr wrap="square" lIns="25400" tIns="25400" rIns="25400" bIns="25400" rtlCol="0" anchor="t"/>
          <a:lstStyle/>
          <a:p>
            <a:pPr algn="ctr" indent="0" marL="0">
              <a:lnSpc>
                <a:spcPct val="115000"/>
              </a:lnSpc>
              <a:buNone/>
            </a:pPr>
            <a:r>
              <a:rPr lang="en-US" sz="1000" dirty="0">
                <a:solidFill>
                  <a:schemeClr val="tx1"/>
                </a:solidFill>
              </a:rPr>
              <a:t>9.37</a:t>
            </a:r>
            <a:endParaRPr lang="en-US" sz="1000" dirty="0"/>
          </a:p>
        </p:txBody>
      </p:sp>
      <p:sp>
        <p:nvSpPr>
          <p:cNvPr id="32" name="Bar 43"/>
          <p:cNvSpPr/>
          <p:nvPr/>
        </p:nvSpPr>
        <p:spPr>
          <a:xfrm>
            <a:off x="7246620" y="3408152"/>
            <a:ext cx="493776" cy="706648"/>
          </a:xfrm>
          <a:prstGeom prst="rect">
            <a:avLst/>
          </a:prstGeom>
          <a:solidFill>
            <a:schemeClr val="accent1"/>
          </a:solidFill>
          <a:ln w="12700">
            <a:solidFill>
              <a:schemeClr val="accent1"/>
            </a:solidFill>
            <a:prstDash val="solid"/>
          </a:ln>
        </p:spPr>
      </p:sp>
      <p:sp>
        <p:nvSpPr>
          <p:cNvPr id="33" name="Text 44"/>
          <p:cNvSpPr txBox="1"/>
          <p:nvPr/>
        </p:nvSpPr>
        <p:spPr>
          <a:xfrm>
            <a:off x="7136892" y="3179552"/>
            <a:ext cx="713232" cy="201168"/>
          </a:xfrm>
          <a:prstGeom prst="rect">
            <a:avLst/>
          </a:prstGeom>
          <a:noFill/>
          <a:ln/>
        </p:spPr>
        <p:txBody>
          <a:bodyPr wrap="square" lIns="25400" tIns="25400" rIns="25400" bIns="25400" rtlCol="0" anchor="t"/>
          <a:lstStyle/>
          <a:p>
            <a:pPr algn="ctr" indent="0" marL="0">
              <a:lnSpc>
                <a:spcPct val="115000"/>
              </a:lnSpc>
              <a:buNone/>
            </a:pPr>
            <a:r>
              <a:rPr lang="en-US" sz="1000" dirty="0">
                <a:solidFill>
                  <a:schemeClr val="tx1"/>
                </a:solidFill>
              </a:rPr>
              <a:t>6.72</a:t>
            </a:r>
            <a:endParaRPr lang="en-US" sz="1000" dirty="0"/>
          </a:p>
        </p:txBody>
      </p:sp>
      <p:sp>
        <p:nvSpPr>
          <p:cNvPr id="34" name="Bar 45"/>
          <p:cNvSpPr/>
          <p:nvPr/>
        </p:nvSpPr>
        <p:spPr>
          <a:xfrm>
            <a:off x="8101584" y="3586917"/>
            <a:ext cx="493776" cy="527883"/>
          </a:xfrm>
          <a:prstGeom prst="rect">
            <a:avLst/>
          </a:prstGeom>
          <a:solidFill>
            <a:schemeClr val="accent1"/>
          </a:solidFill>
          <a:ln w="12700">
            <a:solidFill>
              <a:schemeClr val="accent1"/>
            </a:solidFill>
            <a:prstDash val="solid"/>
          </a:ln>
        </p:spPr>
      </p:sp>
      <p:sp>
        <p:nvSpPr>
          <p:cNvPr id="35" name="Text 46"/>
          <p:cNvSpPr txBox="1"/>
          <p:nvPr/>
        </p:nvSpPr>
        <p:spPr>
          <a:xfrm>
            <a:off x="7991856" y="3358317"/>
            <a:ext cx="713232" cy="201168"/>
          </a:xfrm>
          <a:prstGeom prst="rect">
            <a:avLst/>
          </a:prstGeom>
          <a:noFill/>
          <a:ln/>
        </p:spPr>
        <p:txBody>
          <a:bodyPr wrap="square" lIns="25400" tIns="25400" rIns="25400" bIns="25400" rtlCol="0" anchor="t"/>
          <a:lstStyle/>
          <a:p>
            <a:pPr algn="ctr" indent="0" marL="0">
              <a:lnSpc>
                <a:spcPct val="115000"/>
              </a:lnSpc>
              <a:buNone/>
            </a:pPr>
            <a:r>
              <a:rPr lang="en-US" sz="1000" dirty="0">
                <a:solidFill>
                  <a:schemeClr val="tx1"/>
                </a:solidFill>
              </a:rPr>
              <a:t>5.02</a:t>
            </a:r>
            <a:endParaRPr lang="en-US" sz="1000" dirty="0"/>
          </a:p>
        </p:txBody>
      </p:sp>
      <p:sp>
        <p:nvSpPr>
          <p:cNvPr id="36" name="Baseline 47"/>
          <p:cNvSpPr/>
          <p:nvPr/>
        </p:nvSpPr>
        <p:spPr>
          <a:xfrm>
            <a:off x="4572000" y="4114800"/>
            <a:ext cx="4133088" cy="0"/>
          </a:xfrm>
          <a:prstGeom prst="line">
            <a:avLst/>
          </a:prstGeom>
          <a:noFill/>
          <a:ln w="12700">
            <a:solidFill>
              <a:srgbClr val="888888"/>
            </a:solidFill>
            <a:prstDash val="solid"/>
          </a:ln>
        </p:spPr>
      </p:sp>
      <p:sp>
        <p:nvSpPr>
          <p:cNvPr id="37" name="Text 48"/>
          <p:cNvSpPr txBox="1"/>
          <p:nvPr/>
        </p:nvSpPr>
        <p:spPr>
          <a:xfrm>
            <a:off x="4572000" y="4206240"/>
            <a:ext cx="4114800" cy="36576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Each tree removes part of the remaining error. Toy data from slide 5, η = 0.3, one split per tree.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How XGBoost Learns: The Math</a:t>
            </a:r>
            <a:endParaRPr lang="en-US" sz="2400" dirty="0"/>
          </a:p>
        </p:txBody>
      </p:sp>
      <p:sp>
        <p:nvSpPr>
          <p:cNvPr id="3" name="Math box 49"/>
          <p:cNvSpPr/>
          <p:nvPr/>
        </p:nvSpPr>
        <p:spPr>
          <a:xfrm>
            <a:off x="429768" y="868680"/>
            <a:ext cx="4096512" cy="1810512"/>
          </a:xfrm>
          <a:prstGeom prst="rect">
            <a:avLst/>
          </a:prstGeom>
          <a:solidFill>
            <a:schemeClr val="bg2"/>
          </a:solidFill>
          <a:ln w="12700">
            <a:solidFill>
              <a:schemeClr val="bg2"/>
            </a:solidFill>
            <a:prstDash val="solid"/>
          </a:ln>
        </p:spPr>
      </p:sp>
      <p:sp>
        <p:nvSpPr>
          <p:cNvPr id="4" name="Text 50"/>
          <p:cNvSpPr txBox="1"/>
          <p:nvPr/>
        </p:nvSpPr>
        <p:spPr>
          <a:xfrm>
            <a:off x="539496" y="941832"/>
            <a:ext cx="3886200" cy="256032"/>
          </a:xfrm>
          <a:prstGeom prst="rect">
            <a:avLst/>
          </a:prstGeom>
          <a:noFill/>
          <a:ln/>
        </p:spPr>
        <p:txBody>
          <a:bodyPr wrap="square" lIns="25400" tIns="25400" rIns="25400" bIns="25400" rtlCol="0" anchor="t"/>
          <a:lstStyle/>
          <a:p>
            <a:pPr indent="0" marL="0">
              <a:lnSpc>
                <a:spcPct val="115000"/>
              </a:lnSpc>
              <a:buNone/>
            </a:pPr>
            <a:r>
              <a:rPr lang="en-US" sz="1300" b="1" dirty="0">
                <a:solidFill>
                  <a:schemeClr val="tx1"/>
                </a:solidFill>
              </a:rPr>
              <a:t>1. Objective: error + complexity penalty</a:t>
            </a:r>
            <a:endParaRPr lang="en-US" sz="1300" dirty="0"/>
          </a:p>
        </p:txBody>
      </p:sp>
      <p:sp>
        <p:nvSpPr>
          <p:cNvPr id="5" name="Text 51"/>
          <p:cNvSpPr txBox="1"/>
          <p:nvPr/>
        </p:nvSpPr>
        <p:spPr>
          <a:xfrm>
            <a:off x="539496" y="1280160"/>
            <a:ext cx="3886200" cy="658368"/>
          </a:xfrm>
          <a:prstGeom prst="rect">
            <a:avLst/>
          </a:prstGeom>
          <a:noFill/>
          <a:ln/>
        </p:spPr>
        <p:txBody>
          <a:bodyPr wrap="square" lIns="25400" tIns="25400" rIns="25400" bIns="25400" rtlCol="0" anchor="ctr"/>
          <a:lstStyle/>
          <a:p>
            <a:pPr indent="0" marL="0">
              <a:lnSpc>
                <a:spcPct val="115000"/>
              </a:lnSpc>
              <a:buNone/>
            </a:pPr>
            <a:r>
              <a:rPr lang="en-US" sz="1400" dirty="0">
                <a:solidFill>
                  <a:schemeClr val="tx1"/>
                </a:solidFill>
                <a:latin typeface="Cambria" pitchFamily="34" charset="0"/>
                <a:ea typeface="Cambria" pitchFamily="34" charset="-122"/>
                <a:cs typeface="Cambria" pitchFamily="34" charset="-120"/>
              </a:rPr>
              <a:t>Obj = Σ</a:t>
            </a:r>
            <a:pPr indent="0" marL="0">
              <a:lnSpc>
                <a:spcPct val="115000"/>
              </a:lnSpc>
              <a:buNone/>
            </a:pPr>
            <a:r>
              <a:rPr lang="en-US" sz="1400" baseline="-40000" dirty="0">
                <a:solidFill>
                  <a:schemeClr val="tx1"/>
                </a:solidFill>
                <a:latin typeface="Cambria" pitchFamily="34" charset="0"/>
                <a:ea typeface="Cambria" pitchFamily="34" charset="-122"/>
                <a:cs typeface="Cambria" pitchFamily="34" charset="-120"/>
              </a:rPr>
              <a:t>i</a:t>
            </a:r>
            <a:pPr indent="0" marL="0">
              <a:lnSpc>
                <a:spcPct val="115000"/>
              </a:lnSpc>
              <a:buNone/>
            </a:pPr>
            <a:r>
              <a:rPr lang="en-US" sz="1400" dirty="0">
                <a:solidFill>
                  <a:schemeClr val="tx1"/>
                </a:solidFill>
                <a:latin typeface="Cambria" pitchFamily="34" charset="0"/>
                <a:ea typeface="Cambria" pitchFamily="34" charset="-122"/>
                <a:cs typeface="Cambria" pitchFamily="34" charset="-120"/>
              </a:rPr>
              <a:t> l(y</a:t>
            </a:r>
            <a:pPr indent="0" marL="0">
              <a:lnSpc>
                <a:spcPct val="115000"/>
              </a:lnSpc>
              <a:buNone/>
            </a:pPr>
            <a:r>
              <a:rPr lang="en-US" sz="1400" baseline="-40000" dirty="0">
                <a:solidFill>
                  <a:schemeClr val="tx1"/>
                </a:solidFill>
                <a:latin typeface="Cambria" pitchFamily="34" charset="0"/>
                <a:ea typeface="Cambria" pitchFamily="34" charset="-122"/>
                <a:cs typeface="Cambria" pitchFamily="34" charset="-120"/>
              </a:rPr>
              <a:t>i</a:t>
            </a:r>
            <a:pPr indent="0" marL="0">
              <a:lnSpc>
                <a:spcPct val="115000"/>
              </a:lnSpc>
              <a:buNone/>
            </a:pPr>
            <a:r>
              <a:rPr lang="en-US" sz="1400" dirty="0">
                <a:solidFill>
                  <a:schemeClr val="tx1"/>
                </a:solidFill>
                <a:latin typeface="Cambria" pitchFamily="34" charset="0"/>
                <a:ea typeface="Cambria" pitchFamily="34" charset="-122"/>
                <a:cs typeface="Cambria" pitchFamily="34" charset="-120"/>
              </a:rPr>
              <a:t>, ŷ</a:t>
            </a:r>
            <a:pPr indent="0" marL="0">
              <a:lnSpc>
                <a:spcPct val="115000"/>
              </a:lnSpc>
              <a:buNone/>
            </a:pPr>
            <a:r>
              <a:rPr lang="en-US" sz="1400" baseline="-40000" dirty="0">
                <a:solidFill>
                  <a:schemeClr val="tx1"/>
                </a:solidFill>
                <a:latin typeface="Cambria" pitchFamily="34" charset="0"/>
                <a:ea typeface="Cambria" pitchFamily="34" charset="-122"/>
                <a:cs typeface="Cambria" pitchFamily="34" charset="-120"/>
              </a:rPr>
              <a:t>i</a:t>
            </a:r>
            <a:pPr indent="0" marL="0">
              <a:lnSpc>
                <a:spcPct val="115000"/>
              </a:lnSpc>
              <a:buNone/>
            </a:pPr>
            <a:r>
              <a:rPr lang="en-US" sz="1400" dirty="0">
                <a:solidFill>
                  <a:schemeClr val="tx1"/>
                </a:solidFill>
                <a:latin typeface="Cambria" pitchFamily="34" charset="0"/>
                <a:ea typeface="Cambria" pitchFamily="34" charset="-122"/>
                <a:cs typeface="Cambria" pitchFamily="34" charset="-120"/>
              </a:rPr>
              <a:t>) + Σ</a:t>
            </a:r>
            <a:pPr indent="0" marL="0">
              <a:lnSpc>
                <a:spcPct val="115000"/>
              </a:lnSpc>
              <a:buNone/>
            </a:pPr>
            <a:r>
              <a:rPr lang="en-US" sz="1400" baseline="-40000" dirty="0">
                <a:solidFill>
                  <a:schemeClr val="tx1"/>
                </a:solidFill>
                <a:latin typeface="Cambria" pitchFamily="34" charset="0"/>
                <a:ea typeface="Cambria" pitchFamily="34" charset="-122"/>
                <a:cs typeface="Cambria" pitchFamily="34" charset="-120"/>
              </a:rPr>
              <a:t>k</a:t>
            </a:r>
            <a:pPr indent="0" marL="0">
              <a:lnSpc>
                <a:spcPct val="115000"/>
              </a:lnSpc>
              <a:buNone/>
            </a:pPr>
            <a:r>
              <a:rPr lang="en-US" sz="1400" dirty="0">
                <a:solidFill>
                  <a:schemeClr val="tx1"/>
                </a:solidFill>
                <a:latin typeface="Cambria" pitchFamily="34" charset="0"/>
                <a:ea typeface="Cambria" pitchFamily="34" charset="-122"/>
                <a:cs typeface="Cambria" pitchFamily="34" charset="-120"/>
              </a:rPr>
              <a:t> Ω(f</a:t>
            </a:r>
            <a:pPr indent="0" marL="0">
              <a:lnSpc>
                <a:spcPct val="115000"/>
              </a:lnSpc>
              <a:buNone/>
            </a:pPr>
            <a:r>
              <a:rPr lang="en-US" sz="1400" baseline="-40000" dirty="0">
                <a:solidFill>
                  <a:schemeClr val="tx1"/>
                </a:solidFill>
                <a:latin typeface="Cambria" pitchFamily="34" charset="0"/>
                <a:ea typeface="Cambria" pitchFamily="34" charset="-122"/>
                <a:cs typeface="Cambria" pitchFamily="34" charset="-120"/>
              </a:rPr>
              <a:t>k</a:t>
            </a:r>
            <a:pPr indent="0" marL="0">
              <a:lnSpc>
                <a:spcPct val="115000"/>
              </a:lnSpc>
              <a:buNone/>
            </a:pPr>
            <a:r>
              <a:rPr lang="en-US" sz="1400" dirty="0">
                <a:solidFill>
                  <a:schemeClr val="tx1"/>
                </a:solidFill>
                <a:latin typeface="Cambria" pitchFamily="34" charset="0"/>
                <a:ea typeface="Cambria" pitchFamily="34" charset="-122"/>
                <a:cs typeface="Cambria" pitchFamily="34" charset="-120"/>
              </a:rPr>
              <a:t>)</a:t>
            </a:r>
            <a:endParaRPr lang="en-US" sz="1400" dirty="0"/>
          </a:p>
          <a:p>
            <a:pPr indent="0" marL="0">
              <a:lnSpc>
                <a:spcPct val="115000"/>
              </a:lnSpc>
              <a:buNone/>
            </a:pPr>
            <a:r>
              <a:rPr lang="en-US" sz="1400" dirty="0">
                <a:solidFill>
                  <a:schemeClr val="tx1"/>
                </a:solidFill>
                <a:latin typeface="Cambria" pitchFamily="34" charset="0"/>
                <a:ea typeface="Cambria" pitchFamily="34" charset="-122"/>
                <a:cs typeface="Cambria" pitchFamily="34" charset="-120"/>
              </a:rPr>
              <a:t>Ω(f) = γT + ½ λ Σ</a:t>
            </a:r>
            <a:pPr indent="0" marL="0">
              <a:lnSpc>
                <a:spcPct val="115000"/>
              </a:lnSpc>
              <a:buNone/>
            </a:pPr>
            <a:r>
              <a:rPr lang="en-US" sz="1400" baseline="-40000" dirty="0">
                <a:solidFill>
                  <a:schemeClr val="tx1"/>
                </a:solidFill>
                <a:latin typeface="Cambria" pitchFamily="34" charset="0"/>
                <a:ea typeface="Cambria" pitchFamily="34" charset="-122"/>
                <a:cs typeface="Cambria" pitchFamily="34" charset="-120"/>
              </a:rPr>
              <a:t>j</a:t>
            </a:r>
            <a:pPr indent="0" marL="0">
              <a:lnSpc>
                <a:spcPct val="115000"/>
              </a:lnSpc>
              <a:buNone/>
            </a:pPr>
            <a:r>
              <a:rPr lang="en-US" sz="1400" dirty="0">
                <a:solidFill>
                  <a:schemeClr val="tx1"/>
                </a:solidFill>
                <a:latin typeface="Cambria" pitchFamily="34" charset="0"/>
                <a:ea typeface="Cambria" pitchFamily="34" charset="-122"/>
                <a:cs typeface="Cambria" pitchFamily="34" charset="-120"/>
              </a:rPr>
              <a:t> w</a:t>
            </a:r>
            <a:pPr indent="0" marL="0">
              <a:lnSpc>
                <a:spcPct val="115000"/>
              </a:lnSpc>
              <a:buNone/>
            </a:pPr>
            <a:r>
              <a:rPr lang="en-US" sz="1400" baseline="-40000" dirty="0">
                <a:solidFill>
                  <a:schemeClr val="tx1"/>
                </a:solidFill>
                <a:latin typeface="Cambria" pitchFamily="34" charset="0"/>
                <a:ea typeface="Cambria" pitchFamily="34" charset="-122"/>
                <a:cs typeface="Cambria" pitchFamily="34" charset="-120"/>
              </a:rPr>
              <a:t>j</a:t>
            </a:r>
            <a:pPr indent="0" marL="0">
              <a:lnSpc>
                <a:spcPct val="115000"/>
              </a:lnSpc>
              <a:buNone/>
            </a:pPr>
            <a:r>
              <a:rPr lang="en-US" sz="1400" baseline="30000" dirty="0">
                <a:solidFill>
                  <a:schemeClr val="tx1"/>
                </a:solidFill>
                <a:latin typeface="Cambria" pitchFamily="34" charset="0"/>
                <a:ea typeface="Cambria" pitchFamily="34" charset="-122"/>
                <a:cs typeface="Cambria" pitchFamily="34" charset="-120"/>
              </a:rPr>
              <a:t>2</a:t>
            </a:r>
            <a:endParaRPr lang="en-US" sz="1400" dirty="0"/>
          </a:p>
        </p:txBody>
      </p:sp>
      <p:sp>
        <p:nvSpPr>
          <p:cNvPr id="6" name="Text 52"/>
          <p:cNvSpPr txBox="1"/>
          <p:nvPr/>
        </p:nvSpPr>
        <p:spPr>
          <a:xfrm>
            <a:off x="539496" y="1984248"/>
            <a:ext cx="3886200" cy="640080"/>
          </a:xfrm>
          <a:prstGeom prst="rect">
            <a:avLst/>
          </a:prstGeom>
          <a:noFill/>
          <a:ln/>
        </p:spPr>
        <p:txBody>
          <a:bodyPr wrap="square" lIns="25400" tIns="25400" rIns="25400" bIns="25400" rtlCol="0" anchor="t"/>
          <a:lstStyle/>
          <a:p>
            <a:pPr indent="0" marL="0">
              <a:lnSpc>
                <a:spcPct val="115000"/>
              </a:lnSpc>
              <a:buNone/>
            </a:pPr>
            <a:r>
              <a:rPr lang="en-US" sz="1100" dirty="0">
                <a:solidFill>
                  <a:schemeClr val="tx2"/>
                </a:solidFill>
              </a:rPr>
              <a:t>T = number of leaves, w = leaf values. γ penalizes extra leaves and λ penalizes large leaf values.</a:t>
            </a:r>
            <a:endParaRPr lang="en-US" sz="1100" dirty="0"/>
          </a:p>
        </p:txBody>
      </p:sp>
      <p:sp>
        <p:nvSpPr>
          <p:cNvPr id="7" name="Math box 53"/>
          <p:cNvSpPr/>
          <p:nvPr/>
        </p:nvSpPr>
        <p:spPr>
          <a:xfrm>
            <a:off x="4617720" y="868680"/>
            <a:ext cx="4096512" cy="1810512"/>
          </a:xfrm>
          <a:prstGeom prst="rect">
            <a:avLst/>
          </a:prstGeom>
          <a:solidFill>
            <a:schemeClr val="bg2"/>
          </a:solidFill>
          <a:ln w="12700">
            <a:solidFill>
              <a:schemeClr val="bg2"/>
            </a:solidFill>
            <a:prstDash val="solid"/>
          </a:ln>
        </p:spPr>
      </p:sp>
      <p:sp>
        <p:nvSpPr>
          <p:cNvPr id="8" name="Text 54"/>
          <p:cNvSpPr txBox="1"/>
          <p:nvPr/>
        </p:nvSpPr>
        <p:spPr>
          <a:xfrm>
            <a:off x="4727448" y="941832"/>
            <a:ext cx="3886200" cy="256032"/>
          </a:xfrm>
          <a:prstGeom prst="rect">
            <a:avLst/>
          </a:prstGeom>
          <a:noFill/>
          <a:ln/>
        </p:spPr>
        <p:txBody>
          <a:bodyPr wrap="square" lIns="25400" tIns="25400" rIns="25400" bIns="25400" rtlCol="0" anchor="t"/>
          <a:lstStyle/>
          <a:p>
            <a:pPr indent="0" marL="0">
              <a:lnSpc>
                <a:spcPct val="115000"/>
              </a:lnSpc>
              <a:buNone/>
            </a:pPr>
            <a:r>
              <a:rPr lang="en-US" sz="1300" b="1" dirty="0">
                <a:solidFill>
                  <a:schemeClr val="tx1"/>
                </a:solidFill>
              </a:rPr>
              <a:t>2. Gradient and Hessian of the loss</a:t>
            </a:r>
            <a:endParaRPr lang="en-US" sz="1300" dirty="0"/>
          </a:p>
        </p:txBody>
      </p:sp>
      <p:sp>
        <p:nvSpPr>
          <p:cNvPr id="9" name="Text 55"/>
          <p:cNvSpPr txBox="1"/>
          <p:nvPr/>
        </p:nvSpPr>
        <p:spPr>
          <a:xfrm>
            <a:off x="4727448" y="1280160"/>
            <a:ext cx="3886200" cy="658368"/>
          </a:xfrm>
          <a:prstGeom prst="rect">
            <a:avLst/>
          </a:prstGeom>
          <a:noFill/>
          <a:ln/>
        </p:spPr>
        <p:txBody>
          <a:bodyPr wrap="square" lIns="25400" tIns="25400" rIns="25400" bIns="25400" rtlCol="0" anchor="ctr"/>
          <a:lstStyle/>
          <a:p>
            <a:pPr indent="0" marL="0">
              <a:lnSpc>
                <a:spcPct val="115000"/>
              </a:lnSpc>
              <a:buNone/>
            </a:pPr>
            <a:r>
              <a:rPr lang="en-US" sz="1400" dirty="0">
                <a:solidFill>
                  <a:schemeClr val="tx1"/>
                </a:solidFill>
                <a:latin typeface="Cambria" pitchFamily="34" charset="0"/>
                <a:ea typeface="Cambria" pitchFamily="34" charset="-122"/>
                <a:cs typeface="Cambria" pitchFamily="34" charset="-120"/>
              </a:rPr>
              <a:t>g</a:t>
            </a:r>
            <a:pPr indent="0" marL="0">
              <a:lnSpc>
                <a:spcPct val="115000"/>
              </a:lnSpc>
              <a:buNone/>
            </a:pPr>
            <a:r>
              <a:rPr lang="en-US" sz="1400" baseline="-40000" dirty="0">
                <a:solidFill>
                  <a:schemeClr val="tx1"/>
                </a:solidFill>
                <a:latin typeface="Cambria" pitchFamily="34" charset="0"/>
                <a:ea typeface="Cambria" pitchFamily="34" charset="-122"/>
                <a:cs typeface="Cambria" pitchFamily="34" charset="-120"/>
              </a:rPr>
              <a:t>i</a:t>
            </a:r>
            <a:pPr indent="0" marL="0">
              <a:lnSpc>
                <a:spcPct val="115000"/>
              </a:lnSpc>
              <a:buNone/>
            </a:pPr>
            <a:r>
              <a:rPr lang="en-US" sz="1400" dirty="0">
                <a:solidFill>
                  <a:schemeClr val="tx1"/>
                </a:solidFill>
                <a:latin typeface="Cambria" pitchFamily="34" charset="0"/>
                <a:ea typeface="Cambria" pitchFamily="34" charset="-122"/>
                <a:cs typeface="Cambria" pitchFamily="34" charset="-120"/>
              </a:rPr>
              <a:t> = ∂l / ∂ŷ</a:t>
            </a:r>
            <a:pPr indent="0" marL="0">
              <a:lnSpc>
                <a:spcPct val="115000"/>
              </a:lnSpc>
              <a:buNone/>
            </a:pPr>
            <a:r>
              <a:rPr lang="en-US" sz="1400" baseline="-40000" dirty="0">
                <a:solidFill>
                  <a:schemeClr val="tx1"/>
                </a:solidFill>
                <a:latin typeface="Cambria" pitchFamily="34" charset="0"/>
                <a:ea typeface="Cambria" pitchFamily="34" charset="-122"/>
                <a:cs typeface="Cambria" pitchFamily="34" charset="-120"/>
              </a:rPr>
              <a:t>i</a:t>
            </a:r>
            <a:pPr indent="0" marL="0">
              <a:lnSpc>
                <a:spcPct val="115000"/>
              </a:lnSpc>
              <a:buNone/>
            </a:pPr>
            <a:r>
              <a:rPr lang="en-US" sz="1400" dirty="0">
                <a:solidFill>
                  <a:schemeClr val="tx1"/>
                </a:solidFill>
                <a:latin typeface="Cambria" pitchFamily="34" charset="0"/>
                <a:ea typeface="Cambria" pitchFamily="34" charset="-122"/>
                <a:cs typeface="Cambria" pitchFamily="34" charset="-120"/>
              </a:rPr>
              <a:t>          h</a:t>
            </a:r>
            <a:pPr indent="0" marL="0">
              <a:lnSpc>
                <a:spcPct val="115000"/>
              </a:lnSpc>
              <a:buNone/>
            </a:pPr>
            <a:r>
              <a:rPr lang="en-US" sz="1400" baseline="-40000" dirty="0">
                <a:solidFill>
                  <a:schemeClr val="tx1"/>
                </a:solidFill>
                <a:latin typeface="Cambria" pitchFamily="34" charset="0"/>
                <a:ea typeface="Cambria" pitchFamily="34" charset="-122"/>
                <a:cs typeface="Cambria" pitchFamily="34" charset="-120"/>
              </a:rPr>
              <a:t>i</a:t>
            </a:r>
            <a:pPr indent="0" marL="0">
              <a:lnSpc>
                <a:spcPct val="115000"/>
              </a:lnSpc>
              <a:buNone/>
            </a:pPr>
            <a:r>
              <a:rPr lang="en-US" sz="1400" dirty="0">
                <a:solidFill>
                  <a:schemeClr val="tx1"/>
                </a:solidFill>
                <a:latin typeface="Cambria" pitchFamily="34" charset="0"/>
                <a:ea typeface="Cambria" pitchFamily="34" charset="-122"/>
                <a:cs typeface="Cambria" pitchFamily="34" charset="-120"/>
              </a:rPr>
              <a:t> = ∂</a:t>
            </a:r>
            <a:pPr indent="0" marL="0">
              <a:lnSpc>
                <a:spcPct val="115000"/>
              </a:lnSpc>
              <a:buNone/>
            </a:pPr>
            <a:r>
              <a:rPr lang="en-US" sz="1400" baseline="30000" dirty="0">
                <a:solidFill>
                  <a:schemeClr val="tx1"/>
                </a:solidFill>
                <a:latin typeface="Cambria" pitchFamily="34" charset="0"/>
                <a:ea typeface="Cambria" pitchFamily="34" charset="-122"/>
                <a:cs typeface="Cambria" pitchFamily="34" charset="-120"/>
              </a:rPr>
              <a:t>2</a:t>
            </a:r>
            <a:pPr indent="0" marL="0">
              <a:lnSpc>
                <a:spcPct val="115000"/>
              </a:lnSpc>
              <a:buNone/>
            </a:pPr>
            <a:r>
              <a:rPr lang="en-US" sz="1400" dirty="0">
                <a:solidFill>
                  <a:schemeClr val="tx1"/>
                </a:solidFill>
                <a:latin typeface="Cambria" pitchFamily="34" charset="0"/>
                <a:ea typeface="Cambria" pitchFamily="34" charset="-122"/>
                <a:cs typeface="Cambria" pitchFamily="34" charset="-120"/>
              </a:rPr>
              <a:t>l / ∂ŷ</a:t>
            </a:r>
            <a:pPr indent="0" marL="0">
              <a:lnSpc>
                <a:spcPct val="115000"/>
              </a:lnSpc>
              <a:buNone/>
            </a:pPr>
            <a:r>
              <a:rPr lang="en-US" sz="1400" baseline="-40000" dirty="0">
                <a:solidFill>
                  <a:schemeClr val="tx1"/>
                </a:solidFill>
                <a:latin typeface="Cambria" pitchFamily="34" charset="0"/>
                <a:ea typeface="Cambria" pitchFamily="34" charset="-122"/>
                <a:cs typeface="Cambria" pitchFamily="34" charset="-120"/>
              </a:rPr>
              <a:t>i</a:t>
            </a:r>
            <a:pPr indent="0" marL="0">
              <a:lnSpc>
                <a:spcPct val="115000"/>
              </a:lnSpc>
              <a:buNone/>
            </a:pPr>
            <a:r>
              <a:rPr lang="en-US" sz="1400" baseline="30000" dirty="0">
                <a:solidFill>
                  <a:schemeClr val="tx1"/>
                </a:solidFill>
                <a:latin typeface="Cambria" pitchFamily="34" charset="0"/>
                <a:ea typeface="Cambria" pitchFamily="34" charset="-122"/>
                <a:cs typeface="Cambria" pitchFamily="34" charset="-120"/>
              </a:rPr>
              <a:t>2</a:t>
            </a:r>
            <a:endParaRPr lang="en-US" sz="1400" dirty="0"/>
          </a:p>
        </p:txBody>
      </p:sp>
      <p:sp>
        <p:nvSpPr>
          <p:cNvPr id="10" name="Text 56"/>
          <p:cNvSpPr txBox="1"/>
          <p:nvPr/>
        </p:nvSpPr>
        <p:spPr>
          <a:xfrm>
            <a:off x="4727448" y="1984248"/>
            <a:ext cx="3886200" cy="640080"/>
          </a:xfrm>
          <a:prstGeom prst="rect">
            <a:avLst/>
          </a:prstGeom>
          <a:noFill/>
          <a:ln/>
        </p:spPr>
        <p:txBody>
          <a:bodyPr wrap="square" lIns="25400" tIns="25400" rIns="25400" bIns="25400" rtlCol="0" anchor="t"/>
          <a:lstStyle/>
          <a:p>
            <a:pPr indent="0" marL="0">
              <a:lnSpc>
                <a:spcPct val="115000"/>
              </a:lnSpc>
              <a:buNone/>
            </a:pPr>
            <a:r>
              <a:rPr lang="en-US" sz="1100" dirty="0">
                <a:solidFill>
                  <a:schemeClr val="tx2"/>
                </a:solidFill>
              </a:rPr>
              <a:t>From a 2nd-order Taylor expansion of the loss. Squared error: g = ŷ − y, h = 1. Log-loss: g = p − y, h = p(1 − p).</a:t>
            </a:r>
            <a:endParaRPr lang="en-US" sz="1100" dirty="0"/>
          </a:p>
        </p:txBody>
      </p:sp>
      <p:sp>
        <p:nvSpPr>
          <p:cNvPr id="11" name="Math box 57"/>
          <p:cNvSpPr/>
          <p:nvPr/>
        </p:nvSpPr>
        <p:spPr>
          <a:xfrm>
            <a:off x="429768" y="2807208"/>
            <a:ext cx="4096512" cy="1810512"/>
          </a:xfrm>
          <a:prstGeom prst="rect">
            <a:avLst/>
          </a:prstGeom>
          <a:solidFill>
            <a:schemeClr val="bg2"/>
          </a:solidFill>
          <a:ln w="12700">
            <a:solidFill>
              <a:schemeClr val="bg2"/>
            </a:solidFill>
            <a:prstDash val="solid"/>
          </a:ln>
        </p:spPr>
      </p:sp>
      <p:sp>
        <p:nvSpPr>
          <p:cNvPr id="12" name="Text 58"/>
          <p:cNvSpPr txBox="1"/>
          <p:nvPr/>
        </p:nvSpPr>
        <p:spPr>
          <a:xfrm>
            <a:off x="539496" y="2880360"/>
            <a:ext cx="3886200" cy="256032"/>
          </a:xfrm>
          <a:prstGeom prst="rect">
            <a:avLst/>
          </a:prstGeom>
          <a:noFill/>
          <a:ln/>
        </p:spPr>
        <p:txBody>
          <a:bodyPr wrap="square" lIns="25400" tIns="25400" rIns="25400" bIns="25400" rtlCol="0" anchor="t"/>
          <a:lstStyle/>
          <a:p>
            <a:pPr indent="0" marL="0">
              <a:lnSpc>
                <a:spcPct val="115000"/>
              </a:lnSpc>
              <a:buNone/>
            </a:pPr>
            <a:r>
              <a:rPr lang="en-US" sz="1300" b="1" dirty="0">
                <a:solidFill>
                  <a:schemeClr val="tx1"/>
                </a:solidFill>
              </a:rPr>
              <a:t>3. Best value for each leaf</a:t>
            </a:r>
            <a:endParaRPr lang="en-US" sz="1300" dirty="0"/>
          </a:p>
        </p:txBody>
      </p:sp>
      <p:sp>
        <p:nvSpPr>
          <p:cNvPr id="13" name="Text 59"/>
          <p:cNvSpPr txBox="1"/>
          <p:nvPr/>
        </p:nvSpPr>
        <p:spPr>
          <a:xfrm>
            <a:off x="539496" y="3218688"/>
            <a:ext cx="3886200" cy="658368"/>
          </a:xfrm>
          <a:prstGeom prst="rect">
            <a:avLst/>
          </a:prstGeom>
          <a:noFill/>
          <a:ln/>
        </p:spPr>
        <p:txBody>
          <a:bodyPr wrap="square" lIns="25400" tIns="25400" rIns="25400" bIns="25400" rtlCol="0" anchor="ctr"/>
          <a:lstStyle/>
          <a:p>
            <a:pPr indent="0" marL="0">
              <a:lnSpc>
                <a:spcPct val="115000"/>
              </a:lnSpc>
              <a:buNone/>
            </a:pPr>
            <a:r>
              <a:rPr lang="en-US" sz="1400" dirty="0">
                <a:solidFill>
                  <a:schemeClr val="tx1"/>
                </a:solidFill>
                <a:latin typeface="Cambria" pitchFamily="34" charset="0"/>
                <a:ea typeface="Cambria" pitchFamily="34" charset="-122"/>
                <a:cs typeface="Cambria" pitchFamily="34" charset="-120"/>
              </a:rPr>
              <a:t>w* = − G / (H + λ)</a:t>
            </a:r>
            <a:endParaRPr lang="en-US" sz="1400" dirty="0"/>
          </a:p>
        </p:txBody>
      </p:sp>
      <p:sp>
        <p:nvSpPr>
          <p:cNvPr id="14" name="Text 60"/>
          <p:cNvSpPr txBox="1"/>
          <p:nvPr/>
        </p:nvSpPr>
        <p:spPr>
          <a:xfrm>
            <a:off x="539496" y="3922776"/>
            <a:ext cx="3886200" cy="640080"/>
          </a:xfrm>
          <a:prstGeom prst="rect">
            <a:avLst/>
          </a:prstGeom>
          <a:noFill/>
          <a:ln/>
        </p:spPr>
        <p:txBody>
          <a:bodyPr wrap="square" lIns="25400" tIns="25400" rIns="25400" bIns="25400" rtlCol="0" anchor="t"/>
          <a:lstStyle/>
          <a:p>
            <a:pPr indent="0" marL="0">
              <a:lnSpc>
                <a:spcPct val="115000"/>
              </a:lnSpc>
              <a:buNone/>
            </a:pPr>
            <a:r>
              <a:rPr lang="en-US" sz="1100" dirty="0">
                <a:solidFill>
                  <a:schemeClr val="tx2"/>
                </a:solidFill>
              </a:rPr>
              <a:t>G and H are the sums of g and h over the samples in the leaf. λ pulls the value toward 0.</a:t>
            </a:r>
            <a:endParaRPr lang="en-US" sz="1100" dirty="0"/>
          </a:p>
        </p:txBody>
      </p:sp>
      <p:sp>
        <p:nvSpPr>
          <p:cNvPr id="15" name="Math box 61"/>
          <p:cNvSpPr/>
          <p:nvPr/>
        </p:nvSpPr>
        <p:spPr>
          <a:xfrm>
            <a:off x="4617720" y="2807208"/>
            <a:ext cx="4096512" cy="1810512"/>
          </a:xfrm>
          <a:prstGeom prst="rect">
            <a:avLst/>
          </a:prstGeom>
          <a:solidFill>
            <a:schemeClr val="bg2"/>
          </a:solidFill>
          <a:ln w="12700">
            <a:solidFill>
              <a:schemeClr val="bg2"/>
            </a:solidFill>
            <a:prstDash val="solid"/>
          </a:ln>
        </p:spPr>
      </p:sp>
      <p:sp>
        <p:nvSpPr>
          <p:cNvPr id="16" name="Text 62"/>
          <p:cNvSpPr txBox="1"/>
          <p:nvPr/>
        </p:nvSpPr>
        <p:spPr>
          <a:xfrm>
            <a:off x="4727448" y="2880360"/>
            <a:ext cx="3886200" cy="256032"/>
          </a:xfrm>
          <a:prstGeom prst="rect">
            <a:avLst/>
          </a:prstGeom>
          <a:noFill/>
          <a:ln/>
        </p:spPr>
        <p:txBody>
          <a:bodyPr wrap="square" lIns="25400" tIns="25400" rIns="25400" bIns="25400" rtlCol="0" anchor="t"/>
          <a:lstStyle/>
          <a:p>
            <a:pPr indent="0" marL="0">
              <a:lnSpc>
                <a:spcPct val="115000"/>
              </a:lnSpc>
              <a:buNone/>
            </a:pPr>
            <a:r>
              <a:rPr lang="en-US" sz="1300" b="1" dirty="0">
                <a:solidFill>
                  <a:schemeClr val="tx1"/>
                </a:solidFill>
              </a:rPr>
              <a:t>4. Gain of a split</a:t>
            </a:r>
            <a:endParaRPr lang="en-US" sz="1300" dirty="0"/>
          </a:p>
        </p:txBody>
      </p:sp>
      <p:sp>
        <p:nvSpPr>
          <p:cNvPr id="17" name="Text 63"/>
          <p:cNvSpPr txBox="1"/>
          <p:nvPr/>
        </p:nvSpPr>
        <p:spPr>
          <a:xfrm>
            <a:off x="4727448" y="3218688"/>
            <a:ext cx="3886200" cy="658368"/>
          </a:xfrm>
          <a:prstGeom prst="rect">
            <a:avLst/>
          </a:prstGeom>
          <a:noFill/>
          <a:ln/>
        </p:spPr>
        <p:txBody>
          <a:bodyPr wrap="square" lIns="25400" tIns="25400" rIns="25400" bIns="25400" rtlCol="0" anchor="ctr"/>
          <a:lstStyle/>
          <a:p>
            <a:pPr indent="0" marL="0">
              <a:lnSpc>
                <a:spcPct val="115000"/>
              </a:lnSpc>
              <a:buNone/>
            </a:pPr>
            <a:r>
              <a:rPr lang="en-US" sz="1250" dirty="0">
                <a:solidFill>
                  <a:schemeClr val="tx1"/>
                </a:solidFill>
                <a:latin typeface="Cambria" pitchFamily="34" charset="0"/>
                <a:ea typeface="Cambria" pitchFamily="34" charset="-122"/>
                <a:cs typeface="Cambria" pitchFamily="34" charset="-120"/>
              </a:rPr>
              <a:t>Gain = ½ [ G</a:t>
            </a:r>
            <a:pPr indent="0" marL="0">
              <a:lnSpc>
                <a:spcPct val="115000"/>
              </a:lnSpc>
              <a:buNone/>
            </a:pPr>
            <a:r>
              <a:rPr lang="en-US" sz="1250" baseline="-40000" dirty="0">
                <a:solidFill>
                  <a:schemeClr val="tx1"/>
                </a:solidFill>
                <a:latin typeface="Cambria" pitchFamily="34" charset="0"/>
                <a:ea typeface="Cambria" pitchFamily="34" charset="-122"/>
                <a:cs typeface="Cambria" pitchFamily="34" charset="-120"/>
              </a:rPr>
              <a:t>L</a:t>
            </a:r>
            <a:pPr indent="0" marL="0">
              <a:lnSpc>
                <a:spcPct val="115000"/>
              </a:lnSpc>
              <a:buNone/>
            </a:pPr>
            <a:r>
              <a:rPr lang="en-US" sz="1250" baseline="30000" dirty="0">
                <a:solidFill>
                  <a:schemeClr val="tx1"/>
                </a:solidFill>
                <a:latin typeface="Cambria" pitchFamily="34" charset="0"/>
                <a:ea typeface="Cambria" pitchFamily="34" charset="-122"/>
                <a:cs typeface="Cambria" pitchFamily="34" charset="-120"/>
              </a:rPr>
              <a:t>2</a:t>
            </a:r>
            <a:pPr indent="0" marL="0">
              <a:lnSpc>
                <a:spcPct val="115000"/>
              </a:lnSpc>
              <a:buNone/>
            </a:pPr>
            <a:r>
              <a:rPr lang="en-US" sz="1250" dirty="0">
                <a:solidFill>
                  <a:schemeClr val="tx1"/>
                </a:solidFill>
                <a:latin typeface="Cambria" pitchFamily="34" charset="0"/>
                <a:ea typeface="Cambria" pitchFamily="34" charset="-122"/>
                <a:cs typeface="Cambria" pitchFamily="34" charset="-120"/>
              </a:rPr>
              <a:t>/(H</a:t>
            </a:r>
            <a:pPr indent="0" marL="0">
              <a:lnSpc>
                <a:spcPct val="115000"/>
              </a:lnSpc>
              <a:buNone/>
            </a:pPr>
            <a:r>
              <a:rPr lang="en-US" sz="1250" baseline="-40000" dirty="0">
                <a:solidFill>
                  <a:schemeClr val="tx1"/>
                </a:solidFill>
                <a:latin typeface="Cambria" pitchFamily="34" charset="0"/>
                <a:ea typeface="Cambria" pitchFamily="34" charset="-122"/>
                <a:cs typeface="Cambria" pitchFamily="34" charset="-120"/>
              </a:rPr>
              <a:t>L</a:t>
            </a:r>
            <a:pPr indent="0" marL="0">
              <a:lnSpc>
                <a:spcPct val="115000"/>
              </a:lnSpc>
              <a:buNone/>
            </a:pPr>
            <a:r>
              <a:rPr lang="en-US" sz="1250" dirty="0">
                <a:solidFill>
                  <a:schemeClr val="tx1"/>
                </a:solidFill>
                <a:latin typeface="Cambria" pitchFamily="34" charset="0"/>
                <a:ea typeface="Cambria" pitchFamily="34" charset="-122"/>
                <a:cs typeface="Cambria" pitchFamily="34" charset="-120"/>
              </a:rPr>
              <a:t>+λ) + G</a:t>
            </a:r>
            <a:pPr indent="0" marL="0">
              <a:lnSpc>
                <a:spcPct val="115000"/>
              </a:lnSpc>
              <a:buNone/>
            </a:pPr>
            <a:r>
              <a:rPr lang="en-US" sz="1250" baseline="-40000" dirty="0">
                <a:solidFill>
                  <a:schemeClr val="tx1"/>
                </a:solidFill>
                <a:latin typeface="Cambria" pitchFamily="34" charset="0"/>
                <a:ea typeface="Cambria" pitchFamily="34" charset="-122"/>
                <a:cs typeface="Cambria" pitchFamily="34" charset="-120"/>
              </a:rPr>
              <a:t>R</a:t>
            </a:r>
            <a:pPr indent="0" marL="0">
              <a:lnSpc>
                <a:spcPct val="115000"/>
              </a:lnSpc>
              <a:buNone/>
            </a:pPr>
            <a:r>
              <a:rPr lang="en-US" sz="1250" baseline="30000" dirty="0">
                <a:solidFill>
                  <a:schemeClr val="tx1"/>
                </a:solidFill>
                <a:latin typeface="Cambria" pitchFamily="34" charset="0"/>
                <a:ea typeface="Cambria" pitchFamily="34" charset="-122"/>
                <a:cs typeface="Cambria" pitchFamily="34" charset="-120"/>
              </a:rPr>
              <a:t>2</a:t>
            </a:r>
            <a:pPr indent="0" marL="0">
              <a:lnSpc>
                <a:spcPct val="115000"/>
              </a:lnSpc>
              <a:buNone/>
            </a:pPr>
            <a:r>
              <a:rPr lang="en-US" sz="1250" dirty="0">
                <a:solidFill>
                  <a:schemeClr val="tx1"/>
                </a:solidFill>
                <a:latin typeface="Cambria" pitchFamily="34" charset="0"/>
                <a:ea typeface="Cambria" pitchFamily="34" charset="-122"/>
                <a:cs typeface="Cambria" pitchFamily="34" charset="-120"/>
              </a:rPr>
              <a:t>/(H</a:t>
            </a:r>
            <a:pPr indent="0" marL="0">
              <a:lnSpc>
                <a:spcPct val="115000"/>
              </a:lnSpc>
              <a:buNone/>
            </a:pPr>
            <a:r>
              <a:rPr lang="en-US" sz="1250" baseline="-40000" dirty="0">
                <a:solidFill>
                  <a:schemeClr val="tx1"/>
                </a:solidFill>
                <a:latin typeface="Cambria" pitchFamily="34" charset="0"/>
                <a:ea typeface="Cambria" pitchFamily="34" charset="-122"/>
                <a:cs typeface="Cambria" pitchFamily="34" charset="-120"/>
              </a:rPr>
              <a:t>R</a:t>
            </a:r>
            <a:pPr indent="0" marL="0">
              <a:lnSpc>
                <a:spcPct val="115000"/>
              </a:lnSpc>
              <a:buNone/>
            </a:pPr>
            <a:r>
              <a:rPr lang="en-US" sz="1250" dirty="0">
                <a:solidFill>
                  <a:schemeClr val="tx1"/>
                </a:solidFill>
                <a:latin typeface="Cambria" pitchFamily="34" charset="0"/>
                <a:ea typeface="Cambria" pitchFamily="34" charset="-122"/>
                <a:cs typeface="Cambria" pitchFamily="34" charset="-120"/>
              </a:rPr>
              <a:t>+λ) − G</a:t>
            </a:r>
            <a:pPr indent="0" marL="0">
              <a:lnSpc>
                <a:spcPct val="115000"/>
              </a:lnSpc>
              <a:buNone/>
            </a:pPr>
            <a:r>
              <a:rPr lang="en-US" sz="1250" baseline="30000" dirty="0">
                <a:solidFill>
                  <a:schemeClr val="tx1"/>
                </a:solidFill>
                <a:latin typeface="Cambria" pitchFamily="34" charset="0"/>
                <a:ea typeface="Cambria" pitchFamily="34" charset="-122"/>
                <a:cs typeface="Cambria" pitchFamily="34" charset="-120"/>
              </a:rPr>
              <a:t>2</a:t>
            </a:r>
            <a:pPr indent="0" marL="0">
              <a:lnSpc>
                <a:spcPct val="115000"/>
              </a:lnSpc>
              <a:buNone/>
            </a:pPr>
            <a:r>
              <a:rPr lang="en-US" sz="1250" dirty="0">
                <a:solidFill>
                  <a:schemeClr val="tx1"/>
                </a:solidFill>
                <a:latin typeface="Cambria" pitchFamily="34" charset="0"/>
                <a:ea typeface="Cambria" pitchFamily="34" charset="-122"/>
                <a:cs typeface="Cambria" pitchFamily="34" charset="-120"/>
              </a:rPr>
              <a:t>/(H+λ) ] − γ</a:t>
            </a:r>
            <a:endParaRPr lang="en-US" sz="1250" dirty="0"/>
          </a:p>
        </p:txBody>
      </p:sp>
      <p:sp>
        <p:nvSpPr>
          <p:cNvPr id="18" name="Text 64"/>
          <p:cNvSpPr txBox="1"/>
          <p:nvPr/>
        </p:nvSpPr>
        <p:spPr>
          <a:xfrm>
            <a:off x="4727448" y="3922776"/>
            <a:ext cx="3886200" cy="640080"/>
          </a:xfrm>
          <a:prstGeom prst="rect">
            <a:avLst/>
          </a:prstGeom>
          <a:noFill/>
          <a:ln/>
        </p:spPr>
        <p:txBody>
          <a:bodyPr wrap="square" lIns="25400" tIns="25400" rIns="25400" bIns="25400" rtlCol="0" anchor="t"/>
          <a:lstStyle/>
          <a:p>
            <a:pPr indent="0" marL="0">
              <a:lnSpc>
                <a:spcPct val="115000"/>
              </a:lnSpc>
              <a:buNone/>
            </a:pPr>
            <a:r>
              <a:rPr lang="en-US" sz="1100" dirty="0">
                <a:solidFill>
                  <a:schemeClr val="tx2"/>
                </a:solidFill>
              </a:rPr>
              <a:t>Left score + right score − parent score. Split only if Gain &gt; 0, and pick the split with the largest gain.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Toy Example: Finding the Best Split</a:t>
            </a:r>
            <a:endParaRPr lang="en-US" sz="2400" dirty="0"/>
          </a:p>
        </p:txBody>
      </p:sp>
      <p:sp>
        <p:nvSpPr>
          <p:cNvPr id="3" name="Text 65"/>
          <p:cNvSpPr txBox="1"/>
          <p:nvPr/>
        </p:nvSpPr>
        <p:spPr>
          <a:xfrm>
            <a:off x="429768" y="841248"/>
            <a:ext cx="3977640" cy="411480"/>
          </a:xfrm>
          <a:prstGeom prst="rect">
            <a:avLst/>
          </a:prstGeom>
          <a:noFill/>
          <a:ln/>
        </p:spPr>
        <p:txBody>
          <a:bodyPr wrap="square" lIns="25400" tIns="25400" rIns="25400" bIns="25400" rtlCol="0" anchor="t"/>
          <a:lstStyle/>
          <a:p>
            <a:pPr indent="0" marL="0">
              <a:lnSpc>
                <a:spcPct val="115000"/>
              </a:lnSpc>
              <a:buNone/>
            </a:pPr>
            <a:r>
              <a:rPr lang="en-US" sz="1200" dirty="0">
                <a:solidFill>
                  <a:schemeClr val="tx1"/>
                </a:solidFill>
              </a:rPr>
              <a:t>4 students: hours studied (x) and quiz score (y). Squared error, λ = 1, γ = 0, η = 0.3.</a:t>
            </a:r>
            <a:endParaRPr lang="en-US" sz="1200" dirty="0"/>
          </a:p>
        </p:txBody>
      </p:sp>
      <p:sp>
        <p:nvSpPr>
          <p:cNvPr id="4" name="Text 66"/>
          <p:cNvSpPr txBox="1"/>
          <p:nvPr/>
        </p:nvSpPr>
        <p:spPr>
          <a:xfrm>
            <a:off x="429768" y="1298448"/>
            <a:ext cx="397764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Step 1: start and gradients</a:t>
            </a:r>
            <a:endParaRPr lang="en-US" sz="1400" dirty="0"/>
          </a:p>
        </p:txBody>
      </p:sp>
      <p:graphicFrame>
        <p:nvGraphicFramePr>
          <p:cNvPr id="6" name="Table 67"/>
          <p:cNvGraphicFramePr>
            <a:graphicFrameLocks noGrp="1"/>
          </p:cNvGraphicFramePr>
          <p:nvPr>
            <p:extLst>
              <p:ext uri="{D42A27DB-BD31-4B8C-83A1-F6EECF244321}">
                <p14:modId xmlns:p14="http://schemas.microsoft.com/office/powerpoint/2010/main" val="1579011935"/>
              </p:ext>
            </p:extLst>
          </p:nvPr>
        </p:nvGraphicFramePr>
        <p:xfrm>
          <a:off x="429768" y="1572768"/>
          <a:ext cx="3931920" cy="914400"/>
        </p:xfrm>
        <a:graphic>
          <a:graphicData uri="http://schemas.openxmlformats.org/drawingml/2006/table">
            <a:tbl>
              <a:tblPr/>
              <a:tblGrid>
                <a:gridCol w="640080"/>
                <a:gridCol w="640080"/>
                <a:gridCol w="731520"/>
                <a:gridCol w="1188720"/>
                <a:gridCol w="731520"/>
              </a:tblGrid>
              <a:tr h="219456">
                <a:tc>
                  <a:txBody>
                    <a:bodyPr/>
                    <a:lstStyle/>
                    <a:p>
                      <a:pPr algn="l" indent="0" marL="0">
                        <a:buNone/>
                      </a:pPr>
                      <a:r>
                        <a:rPr lang="en-US" sz="1100" b="1" dirty="0">
                          <a:solidFill>
                            <a:schemeClr val="tx1"/>
                          </a:solidFill>
                        </a:rPr>
                        <a:t>x</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chemeClr val="tx1"/>
                          </a:solidFill>
                        </a:rPr>
                        <a:t>y</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chemeClr val="tx1"/>
                          </a:solidFill>
                        </a:rPr>
                        <a:t>ŷ(0)</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chemeClr val="tx1"/>
                          </a:solidFill>
                        </a:rPr>
                        <a:t>g = ŷ − y</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chemeClr val="tx1"/>
                          </a:solidFill>
                        </a:rPr>
                        <a:t>h</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219456">
                <a:tc>
                  <a:txBody>
                    <a:bodyPr/>
                    <a:lstStyle/>
                    <a:p>
                      <a:pPr algn="l" indent="0" marL="0">
                        <a:buNone/>
                      </a:pPr>
                      <a:r>
                        <a:rPr lang="en-US" sz="1100" dirty="0">
                          <a:solidFill>
                            <a:schemeClr val="tx1"/>
                          </a:solidFill>
                        </a:rPr>
                        <a:t>1</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1</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5</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4</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1</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19456">
                <a:tc>
                  <a:txBody>
                    <a:bodyPr/>
                    <a:lstStyle/>
                    <a:p>
                      <a:pPr algn="l" indent="0" marL="0">
                        <a:buNone/>
                      </a:pPr>
                      <a:r>
                        <a:rPr lang="en-US" sz="1100" dirty="0">
                          <a:solidFill>
                            <a:schemeClr val="tx1"/>
                          </a:solidFill>
                        </a:rPr>
                        <a:t>2</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3</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5</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2</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1</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19456">
                <a:tc>
                  <a:txBody>
                    <a:bodyPr/>
                    <a:lstStyle/>
                    <a:p>
                      <a:pPr algn="l" indent="0" marL="0">
                        <a:buNone/>
                      </a:pPr>
                      <a:r>
                        <a:rPr lang="en-US" sz="1100" dirty="0">
                          <a:solidFill>
                            <a:schemeClr val="tx1"/>
                          </a:solidFill>
                        </a:rPr>
                        <a:t>3</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7</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5</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−2</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1</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19456">
                <a:tc>
                  <a:txBody>
                    <a:bodyPr/>
                    <a:lstStyle/>
                    <a:p>
                      <a:pPr algn="l" indent="0" marL="0">
                        <a:buNone/>
                      </a:pPr>
                      <a:r>
                        <a:rPr lang="en-US" sz="1100" dirty="0">
                          <a:solidFill>
                            <a:schemeClr val="tx1"/>
                          </a:solidFill>
                        </a:rPr>
                        <a:t>4</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9</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5</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−4</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1</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bl>
          </a:graphicData>
        </a:graphic>
      </p:graphicFrame>
      <p:sp>
        <p:nvSpPr>
          <p:cNvPr id="6" name="Text 68"/>
          <p:cNvSpPr txBox="1"/>
          <p:nvPr/>
        </p:nvSpPr>
        <p:spPr>
          <a:xfrm>
            <a:off x="429768" y="2697480"/>
            <a:ext cx="3931920" cy="201168"/>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ŷ(0) = mean(y) = 5.  Root: G = 0, H = 4</a:t>
            </a:r>
            <a:endParaRPr lang="en-US" sz="1000" dirty="0"/>
          </a:p>
        </p:txBody>
      </p:sp>
      <p:sp>
        <p:nvSpPr>
          <p:cNvPr id="7" name="Text 69"/>
          <p:cNvSpPr txBox="1"/>
          <p:nvPr/>
        </p:nvSpPr>
        <p:spPr>
          <a:xfrm>
            <a:off x="429768" y="2944368"/>
            <a:ext cx="397764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Step 2: gain of each split</a:t>
            </a:r>
            <a:endParaRPr lang="en-US" sz="1400" dirty="0"/>
          </a:p>
        </p:txBody>
      </p:sp>
      <p:graphicFrame>
        <p:nvGraphicFramePr>
          <p:cNvPr id="11" name="Table 70"/>
          <p:cNvGraphicFramePr>
            <a:graphicFrameLocks noGrp="1"/>
          </p:cNvGraphicFramePr>
          <p:nvPr>
            <p:extLst>
              <p:ext uri="{D42A27DB-BD31-4B8C-83A1-F6EECF244321}">
                <p14:modId xmlns:p14="http://schemas.microsoft.com/office/powerpoint/2010/main" val="1579011935"/>
              </p:ext>
            </p:extLst>
          </p:nvPr>
        </p:nvGraphicFramePr>
        <p:xfrm>
          <a:off x="429768" y="3218688"/>
          <a:ext cx="3931920" cy="914400"/>
        </p:xfrm>
        <a:graphic>
          <a:graphicData uri="http://schemas.openxmlformats.org/drawingml/2006/table">
            <a:tbl>
              <a:tblPr/>
              <a:tblGrid>
                <a:gridCol w="1005840"/>
                <a:gridCol w="1005840"/>
                <a:gridCol w="1005840"/>
                <a:gridCol w="914400"/>
              </a:tblGrid>
              <a:tr h="219456">
                <a:tc>
                  <a:txBody>
                    <a:bodyPr/>
                    <a:lstStyle/>
                    <a:p>
                      <a:pPr algn="l" indent="0" marL="0">
                        <a:buNone/>
                      </a:pPr>
                      <a:r>
                        <a:rPr lang="en-US" sz="1100" b="1" dirty="0">
                          <a:solidFill>
                            <a:schemeClr val="tx1"/>
                          </a:solidFill>
                        </a:rPr>
                        <a:t>Split</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chemeClr val="tx1"/>
                          </a:solidFill>
                        </a:rPr>
                        <a:t>Left: G, H</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chemeClr val="tx1"/>
                          </a:solidFill>
                        </a:rPr>
                        <a:t>Right: G, H</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chemeClr val="tx1"/>
                          </a:solidFill>
                        </a:rPr>
                        <a:t>Gain</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219456">
                <a:tc>
                  <a:txBody>
                    <a:bodyPr/>
                    <a:lstStyle/>
                    <a:p>
                      <a:pPr algn="l" indent="0" marL="0">
                        <a:buNone/>
                      </a:pPr>
                      <a:r>
                        <a:rPr lang="en-US" sz="1100" dirty="0">
                          <a:solidFill>
                            <a:schemeClr val="tx1"/>
                          </a:solidFill>
                        </a:rPr>
                        <a:t>x &lt; 1.5</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4, 1</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−4, 3</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6</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19456">
                <a:tc>
                  <a:txBody>
                    <a:bodyPr/>
                    <a:lstStyle/>
                    <a:p>
                      <a:pPr algn="l" indent="0" marL="0">
                        <a:buNone/>
                      </a:pPr>
                      <a:r>
                        <a:rPr lang="en-US" sz="1100" b="1" dirty="0">
                          <a:solidFill>
                            <a:schemeClr val="tx1"/>
                          </a:solidFill>
                        </a:rPr>
                        <a:t>x &lt; 2.5</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b="1" dirty="0">
                          <a:solidFill>
                            <a:schemeClr val="tx1"/>
                          </a:solidFill>
                        </a:rPr>
                        <a:t>6, 2</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b="1" dirty="0">
                          <a:solidFill>
                            <a:schemeClr val="tx1"/>
                          </a:solidFill>
                        </a:rPr>
                        <a:t>−6, 2</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b="1" dirty="0">
                          <a:solidFill>
                            <a:schemeClr val="tx1"/>
                          </a:solidFill>
                        </a:rPr>
                        <a:t>12</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19456">
                <a:tc>
                  <a:txBody>
                    <a:bodyPr/>
                    <a:lstStyle/>
                    <a:p>
                      <a:pPr algn="l" indent="0" marL="0">
                        <a:buNone/>
                      </a:pPr>
                      <a:r>
                        <a:rPr lang="en-US" sz="1100" dirty="0">
                          <a:solidFill>
                            <a:schemeClr val="tx1"/>
                          </a:solidFill>
                        </a:rPr>
                        <a:t>x &lt; 3.5</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4, 3</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−4, 1</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6</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bl>
          </a:graphicData>
        </a:graphic>
      </p:graphicFrame>
      <p:sp>
        <p:nvSpPr>
          <p:cNvPr id="9" name="Text 71"/>
          <p:cNvSpPr txBox="1"/>
          <p:nvPr/>
        </p:nvSpPr>
        <p:spPr>
          <a:xfrm>
            <a:off x="429768" y="4160520"/>
            <a:ext cx="3977640" cy="274320"/>
          </a:xfrm>
          <a:prstGeom prst="rect">
            <a:avLst/>
          </a:prstGeom>
          <a:noFill/>
          <a:ln/>
        </p:spPr>
        <p:txBody>
          <a:bodyPr wrap="square" lIns="25400" tIns="25400" rIns="25400" bIns="25400" rtlCol="0" anchor="t"/>
          <a:lstStyle/>
          <a:p>
            <a:pPr indent="0" marL="0">
              <a:lnSpc>
                <a:spcPct val="115000"/>
              </a:lnSpc>
              <a:buNone/>
            </a:pPr>
            <a:r>
              <a:rPr lang="en-US" sz="1200" dirty="0">
                <a:solidFill>
                  <a:schemeClr val="tx1"/>
                </a:solidFill>
                <a:latin typeface="Cambria" pitchFamily="34" charset="0"/>
                <a:ea typeface="Cambria" pitchFamily="34" charset="-122"/>
                <a:cs typeface="Cambria" pitchFamily="34" charset="-120"/>
              </a:rPr>
              <a:t>x &lt; 2.5:  ½ [ 6</a:t>
            </a:r>
            <a:pPr indent="0" marL="0">
              <a:lnSpc>
                <a:spcPct val="115000"/>
              </a:lnSpc>
              <a:buNone/>
            </a:pPr>
            <a:r>
              <a:rPr lang="en-US" sz="1200" baseline="30000" dirty="0">
                <a:solidFill>
                  <a:schemeClr val="tx1"/>
                </a:solidFill>
                <a:latin typeface="Cambria" pitchFamily="34" charset="0"/>
                <a:ea typeface="Cambria" pitchFamily="34" charset="-122"/>
                <a:cs typeface="Cambria" pitchFamily="34" charset="-120"/>
              </a:rPr>
              <a:t>2</a:t>
            </a:r>
            <a:pPr indent="0" marL="0">
              <a:lnSpc>
                <a:spcPct val="115000"/>
              </a:lnSpc>
              <a:buNone/>
            </a:pPr>
            <a:r>
              <a:rPr lang="en-US" sz="1200" dirty="0">
                <a:solidFill>
                  <a:schemeClr val="tx1"/>
                </a:solidFill>
                <a:latin typeface="Cambria" pitchFamily="34" charset="0"/>
                <a:ea typeface="Cambria" pitchFamily="34" charset="-122"/>
                <a:cs typeface="Cambria" pitchFamily="34" charset="-120"/>
              </a:rPr>
              <a:t>/3 + (−6)</a:t>
            </a:r>
            <a:pPr indent="0" marL="0">
              <a:lnSpc>
                <a:spcPct val="115000"/>
              </a:lnSpc>
              <a:buNone/>
            </a:pPr>
            <a:r>
              <a:rPr lang="en-US" sz="1200" baseline="30000" dirty="0">
                <a:solidFill>
                  <a:schemeClr val="tx1"/>
                </a:solidFill>
                <a:latin typeface="Cambria" pitchFamily="34" charset="0"/>
                <a:ea typeface="Cambria" pitchFamily="34" charset="-122"/>
                <a:cs typeface="Cambria" pitchFamily="34" charset="-120"/>
              </a:rPr>
              <a:t>2</a:t>
            </a:r>
            <a:pPr indent="0" marL="0">
              <a:lnSpc>
                <a:spcPct val="115000"/>
              </a:lnSpc>
              <a:buNone/>
            </a:pPr>
            <a:r>
              <a:rPr lang="en-US" sz="1200" dirty="0">
                <a:solidFill>
                  <a:schemeClr val="tx1"/>
                </a:solidFill>
                <a:latin typeface="Cambria" pitchFamily="34" charset="0"/>
                <a:ea typeface="Cambria" pitchFamily="34" charset="-122"/>
                <a:cs typeface="Cambria" pitchFamily="34" charset="-120"/>
              </a:rPr>
              <a:t>/3 − 0</a:t>
            </a:r>
            <a:pPr indent="0" marL="0">
              <a:lnSpc>
                <a:spcPct val="115000"/>
              </a:lnSpc>
              <a:buNone/>
            </a:pPr>
            <a:r>
              <a:rPr lang="en-US" sz="1200" baseline="30000" dirty="0">
                <a:solidFill>
                  <a:schemeClr val="tx1"/>
                </a:solidFill>
                <a:latin typeface="Cambria" pitchFamily="34" charset="0"/>
                <a:ea typeface="Cambria" pitchFamily="34" charset="-122"/>
                <a:cs typeface="Cambria" pitchFamily="34" charset="-120"/>
              </a:rPr>
              <a:t>2</a:t>
            </a:r>
            <a:pPr indent="0" marL="0">
              <a:lnSpc>
                <a:spcPct val="115000"/>
              </a:lnSpc>
              <a:buNone/>
            </a:pPr>
            <a:r>
              <a:rPr lang="en-US" sz="1200" dirty="0">
                <a:solidFill>
                  <a:schemeClr val="tx1"/>
                </a:solidFill>
                <a:latin typeface="Cambria" pitchFamily="34" charset="0"/>
                <a:ea typeface="Cambria" pitchFamily="34" charset="-122"/>
                <a:cs typeface="Cambria" pitchFamily="34" charset="-120"/>
              </a:rPr>
              <a:t>/5 ] = ½ (12 + 12) = 12</a:t>
            </a:r>
            <a:endParaRPr lang="en-US" sz="1200" dirty="0"/>
          </a:p>
        </p:txBody>
      </p:sp>
      <p:sp>
        <p:nvSpPr>
          <p:cNvPr id="10" name="Drawing area 72"/>
          <p:cNvSpPr/>
          <p:nvPr/>
        </p:nvSpPr>
        <p:spPr>
          <a:xfrm>
            <a:off x="4617720" y="841248"/>
            <a:ext cx="4096512" cy="3886200"/>
          </a:xfrm>
          <a:prstGeom prst="rect">
            <a:avLst/>
          </a:prstGeom>
          <a:noFill/>
          <a:ln w="12700">
            <a:solidFill>
              <a:srgbClr val="AAAAAA"/>
            </a:solidFill>
            <a:prstDash val="dash"/>
          </a:ln>
        </p:spPr>
      </p:sp>
      <p:sp>
        <p:nvSpPr>
          <p:cNvPr id="11" name="Text 73"/>
          <p:cNvSpPr txBox="1"/>
          <p:nvPr/>
        </p:nvSpPr>
        <p:spPr>
          <a:xfrm>
            <a:off x="4709160" y="896112"/>
            <a:ext cx="3913632" cy="22860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Drawing area: residuals and the best split</a:t>
            </a:r>
            <a:endParaRPr lang="en-US" sz="1000" dirty="0"/>
          </a:p>
        </p:txBody>
      </p:sp>
      <p:sp>
        <p:nvSpPr>
          <p:cNvPr id="12" name="Axis 74"/>
          <p:cNvSpPr/>
          <p:nvPr/>
        </p:nvSpPr>
        <p:spPr>
          <a:xfrm>
            <a:off x="5120640" y="1417320"/>
            <a:ext cx="0" cy="2880360"/>
          </a:xfrm>
          <a:prstGeom prst="line">
            <a:avLst/>
          </a:prstGeom>
          <a:noFill/>
          <a:ln w="12700">
            <a:solidFill>
              <a:srgbClr val="888888"/>
            </a:solidFill>
            <a:prstDash val="solid"/>
          </a:ln>
        </p:spPr>
      </p:sp>
      <p:sp>
        <p:nvSpPr>
          <p:cNvPr id="13" name="Axis 75"/>
          <p:cNvSpPr/>
          <p:nvPr/>
        </p:nvSpPr>
        <p:spPr>
          <a:xfrm>
            <a:off x="5120640" y="4297680"/>
            <a:ext cx="3319272" cy="0"/>
          </a:xfrm>
          <a:prstGeom prst="line">
            <a:avLst/>
          </a:prstGeom>
          <a:noFill/>
          <a:ln w="12700">
            <a:solidFill>
              <a:srgbClr val="888888"/>
            </a:solidFill>
            <a:prstDash val="solid"/>
          </a:ln>
        </p:spPr>
      </p:sp>
      <p:sp>
        <p:nvSpPr>
          <p:cNvPr id="14" name="Text 76"/>
          <p:cNvSpPr txBox="1"/>
          <p:nvPr/>
        </p:nvSpPr>
        <p:spPr>
          <a:xfrm>
            <a:off x="4800600" y="4206240"/>
            <a:ext cx="274320" cy="182880"/>
          </a:xfrm>
          <a:prstGeom prst="rect">
            <a:avLst/>
          </a:prstGeom>
          <a:noFill/>
          <a:ln/>
        </p:spPr>
        <p:txBody>
          <a:bodyPr wrap="square" lIns="25400" tIns="25400" rIns="25400" bIns="25400" rtlCol="0" anchor="t"/>
          <a:lstStyle/>
          <a:p>
            <a:pPr algn="r" indent="0" marL="0">
              <a:lnSpc>
                <a:spcPct val="115000"/>
              </a:lnSpc>
              <a:buNone/>
            </a:pPr>
            <a:r>
              <a:rPr lang="en-US" sz="900" dirty="0">
                <a:solidFill>
                  <a:schemeClr val="tx2"/>
                </a:solidFill>
              </a:rPr>
              <a:t>0</a:t>
            </a:r>
            <a:endParaRPr lang="en-US" sz="900" dirty="0"/>
          </a:p>
        </p:txBody>
      </p:sp>
      <p:sp>
        <p:nvSpPr>
          <p:cNvPr id="15" name="Text 77"/>
          <p:cNvSpPr txBox="1"/>
          <p:nvPr/>
        </p:nvSpPr>
        <p:spPr>
          <a:xfrm>
            <a:off x="4800600" y="2766060"/>
            <a:ext cx="274320" cy="182880"/>
          </a:xfrm>
          <a:prstGeom prst="rect">
            <a:avLst/>
          </a:prstGeom>
          <a:noFill/>
          <a:ln/>
        </p:spPr>
        <p:txBody>
          <a:bodyPr wrap="square" lIns="25400" tIns="25400" rIns="25400" bIns="25400" rtlCol="0" anchor="t"/>
          <a:lstStyle/>
          <a:p>
            <a:pPr algn="r" indent="0" marL="0">
              <a:lnSpc>
                <a:spcPct val="115000"/>
              </a:lnSpc>
              <a:buNone/>
            </a:pPr>
            <a:r>
              <a:rPr lang="en-US" sz="900" dirty="0">
                <a:solidFill>
                  <a:schemeClr val="tx2"/>
                </a:solidFill>
              </a:rPr>
              <a:t>5</a:t>
            </a:r>
            <a:endParaRPr lang="en-US" sz="900" dirty="0"/>
          </a:p>
        </p:txBody>
      </p:sp>
      <p:sp>
        <p:nvSpPr>
          <p:cNvPr id="16" name="Text 78"/>
          <p:cNvSpPr txBox="1"/>
          <p:nvPr/>
        </p:nvSpPr>
        <p:spPr>
          <a:xfrm>
            <a:off x="4800600" y="1325880"/>
            <a:ext cx="274320" cy="182880"/>
          </a:xfrm>
          <a:prstGeom prst="rect">
            <a:avLst/>
          </a:prstGeom>
          <a:noFill/>
          <a:ln/>
        </p:spPr>
        <p:txBody>
          <a:bodyPr wrap="square" lIns="25400" tIns="25400" rIns="25400" bIns="25400" rtlCol="0" anchor="t"/>
          <a:lstStyle/>
          <a:p>
            <a:pPr algn="r" indent="0" marL="0">
              <a:lnSpc>
                <a:spcPct val="115000"/>
              </a:lnSpc>
              <a:buNone/>
            </a:pPr>
            <a:r>
              <a:rPr lang="en-US" sz="900" dirty="0">
                <a:solidFill>
                  <a:schemeClr val="tx2"/>
                </a:solidFill>
              </a:rPr>
              <a:t>10</a:t>
            </a:r>
            <a:endParaRPr lang="en-US" sz="900" dirty="0"/>
          </a:p>
        </p:txBody>
      </p:sp>
      <p:sp>
        <p:nvSpPr>
          <p:cNvPr id="17" name="Text 79"/>
          <p:cNvSpPr txBox="1"/>
          <p:nvPr/>
        </p:nvSpPr>
        <p:spPr>
          <a:xfrm>
            <a:off x="5303520" y="4325112"/>
            <a:ext cx="274320" cy="182880"/>
          </a:xfrm>
          <a:prstGeom prst="rect">
            <a:avLst/>
          </a:prstGeom>
          <a:noFill/>
          <a:ln/>
        </p:spPr>
        <p:txBody>
          <a:bodyPr wrap="square" lIns="25400" tIns="25400" rIns="25400" bIns="25400" rtlCol="0" anchor="t"/>
          <a:lstStyle/>
          <a:p>
            <a:pPr algn="ctr" indent="0" marL="0">
              <a:lnSpc>
                <a:spcPct val="115000"/>
              </a:lnSpc>
              <a:buNone/>
            </a:pPr>
            <a:r>
              <a:rPr lang="en-US" sz="900" dirty="0">
                <a:solidFill>
                  <a:schemeClr val="tx2"/>
                </a:solidFill>
              </a:rPr>
              <a:t>1</a:t>
            </a:r>
            <a:endParaRPr lang="en-US" sz="900" dirty="0"/>
          </a:p>
        </p:txBody>
      </p:sp>
      <p:sp>
        <p:nvSpPr>
          <p:cNvPr id="18" name="Text 80"/>
          <p:cNvSpPr txBox="1"/>
          <p:nvPr/>
        </p:nvSpPr>
        <p:spPr>
          <a:xfrm>
            <a:off x="6227064" y="4325112"/>
            <a:ext cx="274320" cy="182880"/>
          </a:xfrm>
          <a:prstGeom prst="rect">
            <a:avLst/>
          </a:prstGeom>
          <a:noFill/>
          <a:ln/>
        </p:spPr>
        <p:txBody>
          <a:bodyPr wrap="square" lIns="25400" tIns="25400" rIns="25400" bIns="25400" rtlCol="0" anchor="t"/>
          <a:lstStyle/>
          <a:p>
            <a:pPr algn="ctr" indent="0" marL="0">
              <a:lnSpc>
                <a:spcPct val="115000"/>
              </a:lnSpc>
              <a:buNone/>
            </a:pPr>
            <a:r>
              <a:rPr lang="en-US" sz="900" dirty="0">
                <a:solidFill>
                  <a:schemeClr val="tx2"/>
                </a:solidFill>
              </a:rPr>
              <a:t>2</a:t>
            </a:r>
            <a:endParaRPr lang="en-US" sz="900" dirty="0"/>
          </a:p>
        </p:txBody>
      </p:sp>
      <p:sp>
        <p:nvSpPr>
          <p:cNvPr id="19" name="Text 81"/>
          <p:cNvSpPr txBox="1"/>
          <p:nvPr/>
        </p:nvSpPr>
        <p:spPr>
          <a:xfrm>
            <a:off x="7150608" y="4325112"/>
            <a:ext cx="274320" cy="182880"/>
          </a:xfrm>
          <a:prstGeom prst="rect">
            <a:avLst/>
          </a:prstGeom>
          <a:noFill/>
          <a:ln/>
        </p:spPr>
        <p:txBody>
          <a:bodyPr wrap="square" lIns="25400" tIns="25400" rIns="25400" bIns="25400" rtlCol="0" anchor="t"/>
          <a:lstStyle/>
          <a:p>
            <a:pPr algn="ctr" indent="0" marL="0">
              <a:lnSpc>
                <a:spcPct val="115000"/>
              </a:lnSpc>
              <a:buNone/>
            </a:pPr>
            <a:r>
              <a:rPr lang="en-US" sz="900" dirty="0">
                <a:solidFill>
                  <a:schemeClr val="tx2"/>
                </a:solidFill>
              </a:rPr>
              <a:t>3</a:t>
            </a:r>
            <a:endParaRPr lang="en-US" sz="900" dirty="0"/>
          </a:p>
        </p:txBody>
      </p:sp>
      <p:sp>
        <p:nvSpPr>
          <p:cNvPr id="20" name="Text 82"/>
          <p:cNvSpPr txBox="1"/>
          <p:nvPr/>
        </p:nvSpPr>
        <p:spPr>
          <a:xfrm>
            <a:off x="8074152" y="4325112"/>
            <a:ext cx="274320" cy="182880"/>
          </a:xfrm>
          <a:prstGeom prst="rect">
            <a:avLst/>
          </a:prstGeom>
          <a:noFill/>
          <a:ln/>
        </p:spPr>
        <p:txBody>
          <a:bodyPr wrap="square" lIns="25400" tIns="25400" rIns="25400" bIns="25400" rtlCol="0" anchor="t"/>
          <a:lstStyle/>
          <a:p>
            <a:pPr algn="ctr" indent="0" marL="0">
              <a:lnSpc>
                <a:spcPct val="115000"/>
              </a:lnSpc>
              <a:buNone/>
            </a:pPr>
            <a:r>
              <a:rPr lang="en-US" sz="900" dirty="0">
                <a:solidFill>
                  <a:schemeClr val="tx2"/>
                </a:solidFill>
              </a:rPr>
              <a:t>4</a:t>
            </a:r>
            <a:endParaRPr lang="en-US" sz="900" dirty="0"/>
          </a:p>
        </p:txBody>
      </p:sp>
      <p:sp>
        <p:nvSpPr>
          <p:cNvPr id="21" name="Text 83"/>
          <p:cNvSpPr txBox="1"/>
          <p:nvPr/>
        </p:nvSpPr>
        <p:spPr>
          <a:xfrm>
            <a:off x="5120640" y="4480560"/>
            <a:ext cx="3319272" cy="182880"/>
          </a:xfrm>
          <a:prstGeom prst="rect">
            <a:avLst/>
          </a:prstGeom>
          <a:noFill/>
          <a:ln/>
        </p:spPr>
        <p:txBody>
          <a:bodyPr wrap="square" lIns="25400" tIns="25400" rIns="25400" bIns="25400" rtlCol="0" anchor="t"/>
          <a:lstStyle/>
          <a:p>
            <a:pPr algn="ctr" indent="0" marL="0">
              <a:lnSpc>
                <a:spcPct val="115000"/>
              </a:lnSpc>
              <a:buNone/>
            </a:pPr>
            <a:r>
              <a:rPr lang="en-US" sz="900" dirty="0">
                <a:solidFill>
                  <a:schemeClr val="tx2"/>
                </a:solidFill>
              </a:rPr>
              <a:t>hours studied (x)</a:t>
            </a:r>
            <a:endParaRPr lang="en-US" sz="900" dirty="0"/>
          </a:p>
        </p:txBody>
      </p:sp>
      <p:sp>
        <p:nvSpPr>
          <p:cNvPr id="22" name="Text 84"/>
          <p:cNvSpPr txBox="1"/>
          <p:nvPr/>
        </p:nvSpPr>
        <p:spPr>
          <a:xfrm>
            <a:off x="4709160" y="1161288"/>
            <a:ext cx="822960" cy="182880"/>
          </a:xfrm>
          <a:prstGeom prst="rect">
            <a:avLst/>
          </a:prstGeom>
          <a:noFill/>
          <a:ln/>
        </p:spPr>
        <p:txBody>
          <a:bodyPr wrap="square" lIns="25400" tIns="25400" rIns="25400" bIns="25400" rtlCol="0" anchor="t"/>
          <a:lstStyle/>
          <a:p>
            <a:pPr indent="0" marL="0">
              <a:lnSpc>
                <a:spcPct val="115000"/>
              </a:lnSpc>
              <a:buNone/>
            </a:pPr>
            <a:r>
              <a:rPr lang="en-US" sz="900" dirty="0">
                <a:solidFill>
                  <a:schemeClr val="tx2"/>
                </a:solidFill>
              </a:rPr>
              <a:t>score (y)</a:t>
            </a:r>
            <a:endParaRPr lang="en-US" sz="900" dirty="0"/>
          </a:p>
        </p:txBody>
      </p:sp>
      <p:sp>
        <p:nvSpPr>
          <p:cNvPr id="23" name="Baseline 85"/>
          <p:cNvSpPr/>
          <p:nvPr/>
        </p:nvSpPr>
        <p:spPr>
          <a:xfrm>
            <a:off x="5120640" y="2857500"/>
            <a:ext cx="3319272" cy="0"/>
          </a:xfrm>
          <a:prstGeom prst="line">
            <a:avLst/>
          </a:prstGeom>
          <a:noFill/>
          <a:ln w="15875">
            <a:solidFill>
              <a:schemeClr val="accent1"/>
            </a:solidFill>
            <a:prstDash val="dash"/>
          </a:ln>
        </p:spPr>
      </p:sp>
      <p:sp>
        <p:nvSpPr>
          <p:cNvPr id="24" name="Text 86"/>
          <p:cNvSpPr txBox="1"/>
          <p:nvPr/>
        </p:nvSpPr>
        <p:spPr>
          <a:xfrm>
            <a:off x="7754112" y="2638044"/>
            <a:ext cx="685800" cy="182880"/>
          </a:xfrm>
          <a:prstGeom prst="rect">
            <a:avLst/>
          </a:prstGeom>
          <a:noFill/>
          <a:ln/>
        </p:spPr>
        <p:txBody>
          <a:bodyPr wrap="square" lIns="25400" tIns="25400" rIns="25400" bIns="25400" rtlCol="0" anchor="t"/>
          <a:lstStyle/>
          <a:p>
            <a:pPr algn="r" indent="0" marL="0">
              <a:lnSpc>
                <a:spcPct val="115000"/>
              </a:lnSpc>
              <a:buNone/>
            </a:pPr>
            <a:r>
              <a:rPr lang="en-US" sz="900" dirty="0">
                <a:solidFill>
                  <a:schemeClr val="accent1"/>
                </a:solidFill>
              </a:rPr>
              <a:t>ŷ(0) = 5</a:t>
            </a:r>
            <a:endParaRPr lang="en-US" sz="900" dirty="0"/>
          </a:p>
        </p:txBody>
      </p:sp>
      <p:sp>
        <p:nvSpPr>
          <p:cNvPr id="25" name="Point 87"/>
          <p:cNvSpPr/>
          <p:nvPr/>
        </p:nvSpPr>
        <p:spPr>
          <a:xfrm>
            <a:off x="5385816" y="3954780"/>
            <a:ext cx="109728" cy="109728"/>
          </a:xfrm>
          <a:prstGeom prst="ellipse">
            <a:avLst/>
          </a:prstGeom>
          <a:solidFill>
            <a:schemeClr val="tx1"/>
          </a:solidFill>
          <a:ln w="12700">
            <a:solidFill>
              <a:schemeClr val="tx1"/>
            </a:solidFill>
            <a:prstDash val="solid"/>
          </a:ln>
        </p:spPr>
      </p:sp>
      <p:sp>
        <p:nvSpPr>
          <p:cNvPr id="26" name="Text 88"/>
          <p:cNvSpPr txBox="1"/>
          <p:nvPr/>
        </p:nvSpPr>
        <p:spPr>
          <a:xfrm>
            <a:off x="5513832" y="3918204"/>
            <a:ext cx="548640" cy="182880"/>
          </a:xfrm>
          <a:prstGeom prst="rect">
            <a:avLst/>
          </a:prstGeom>
          <a:noFill/>
          <a:ln/>
        </p:spPr>
        <p:txBody>
          <a:bodyPr wrap="square" lIns="25400" tIns="25400" rIns="25400" bIns="25400" rtlCol="0" anchor="t"/>
          <a:lstStyle/>
          <a:p>
            <a:pPr indent="0" marL="0">
              <a:lnSpc>
                <a:spcPct val="115000"/>
              </a:lnSpc>
              <a:buNone/>
            </a:pPr>
            <a:r>
              <a:rPr lang="en-US" sz="900" dirty="0">
                <a:solidFill>
                  <a:schemeClr val="tx2"/>
                </a:solidFill>
              </a:rPr>
              <a:t>(1, 1)</a:t>
            </a:r>
            <a:endParaRPr lang="en-US" sz="900" dirty="0"/>
          </a:p>
        </p:txBody>
      </p:sp>
      <p:sp>
        <p:nvSpPr>
          <p:cNvPr id="27" name="Point 89"/>
          <p:cNvSpPr/>
          <p:nvPr/>
        </p:nvSpPr>
        <p:spPr>
          <a:xfrm>
            <a:off x="6309360" y="3378708"/>
            <a:ext cx="109728" cy="109728"/>
          </a:xfrm>
          <a:prstGeom prst="ellipse">
            <a:avLst/>
          </a:prstGeom>
          <a:solidFill>
            <a:schemeClr val="tx1"/>
          </a:solidFill>
          <a:ln w="12700">
            <a:solidFill>
              <a:schemeClr val="tx1"/>
            </a:solidFill>
            <a:prstDash val="solid"/>
          </a:ln>
        </p:spPr>
      </p:sp>
      <p:sp>
        <p:nvSpPr>
          <p:cNvPr id="28" name="Text 90"/>
          <p:cNvSpPr txBox="1"/>
          <p:nvPr/>
        </p:nvSpPr>
        <p:spPr>
          <a:xfrm>
            <a:off x="6437376" y="3342132"/>
            <a:ext cx="548640" cy="182880"/>
          </a:xfrm>
          <a:prstGeom prst="rect">
            <a:avLst/>
          </a:prstGeom>
          <a:noFill/>
          <a:ln/>
        </p:spPr>
        <p:txBody>
          <a:bodyPr wrap="square" lIns="25400" tIns="25400" rIns="25400" bIns="25400" rtlCol="0" anchor="t"/>
          <a:lstStyle/>
          <a:p>
            <a:pPr indent="0" marL="0">
              <a:lnSpc>
                <a:spcPct val="115000"/>
              </a:lnSpc>
              <a:buNone/>
            </a:pPr>
            <a:r>
              <a:rPr lang="en-US" sz="900" dirty="0">
                <a:solidFill>
                  <a:schemeClr val="tx2"/>
                </a:solidFill>
              </a:rPr>
              <a:t>(2, 3)</a:t>
            </a:r>
            <a:endParaRPr lang="en-US" sz="900" dirty="0"/>
          </a:p>
        </p:txBody>
      </p:sp>
      <p:sp>
        <p:nvSpPr>
          <p:cNvPr id="29" name="Point 91"/>
          <p:cNvSpPr/>
          <p:nvPr/>
        </p:nvSpPr>
        <p:spPr>
          <a:xfrm>
            <a:off x="7232904" y="2226564"/>
            <a:ext cx="109728" cy="109728"/>
          </a:xfrm>
          <a:prstGeom prst="ellipse">
            <a:avLst/>
          </a:prstGeom>
          <a:solidFill>
            <a:schemeClr val="tx1"/>
          </a:solidFill>
          <a:ln w="12700">
            <a:solidFill>
              <a:schemeClr val="tx1"/>
            </a:solidFill>
            <a:prstDash val="solid"/>
          </a:ln>
        </p:spPr>
      </p:sp>
      <p:sp>
        <p:nvSpPr>
          <p:cNvPr id="30" name="Text 92"/>
          <p:cNvSpPr txBox="1"/>
          <p:nvPr/>
        </p:nvSpPr>
        <p:spPr>
          <a:xfrm>
            <a:off x="7360920" y="2189988"/>
            <a:ext cx="548640" cy="182880"/>
          </a:xfrm>
          <a:prstGeom prst="rect">
            <a:avLst/>
          </a:prstGeom>
          <a:noFill/>
          <a:ln/>
        </p:spPr>
        <p:txBody>
          <a:bodyPr wrap="square" lIns="25400" tIns="25400" rIns="25400" bIns="25400" rtlCol="0" anchor="t"/>
          <a:lstStyle/>
          <a:p>
            <a:pPr indent="0" marL="0">
              <a:lnSpc>
                <a:spcPct val="115000"/>
              </a:lnSpc>
              <a:buNone/>
            </a:pPr>
            <a:r>
              <a:rPr lang="en-US" sz="900" dirty="0">
                <a:solidFill>
                  <a:schemeClr val="tx2"/>
                </a:solidFill>
              </a:rPr>
              <a:t>(3, 7)</a:t>
            </a:r>
            <a:endParaRPr lang="en-US" sz="900" dirty="0"/>
          </a:p>
        </p:txBody>
      </p:sp>
      <p:sp>
        <p:nvSpPr>
          <p:cNvPr id="31" name="Point 93"/>
          <p:cNvSpPr/>
          <p:nvPr/>
        </p:nvSpPr>
        <p:spPr>
          <a:xfrm>
            <a:off x="8156448" y="1650492"/>
            <a:ext cx="109728" cy="109728"/>
          </a:xfrm>
          <a:prstGeom prst="ellipse">
            <a:avLst/>
          </a:prstGeom>
          <a:solidFill>
            <a:schemeClr val="tx1"/>
          </a:solidFill>
          <a:ln w="12700">
            <a:solidFill>
              <a:schemeClr val="tx1"/>
            </a:solidFill>
            <a:prstDash val="solid"/>
          </a:ln>
        </p:spPr>
      </p:sp>
      <p:sp>
        <p:nvSpPr>
          <p:cNvPr id="32" name="Text 94"/>
          <p:cNvSpPr txBox="1"/>
          <p:nvPr/>
        </p:nvSpPr>
        <p:spPr>
          <a:xfrm>
            <a:off x="8284464" y="1613916"/>
            <a:ext cx="548640" cy="182880"/>
          </a:xfrm>
          <a:prstGeom prst="rect">
            <a:avLst/>
          </a:prstGeom>
          <a:noFill/>
          <a:ln/>
        </p:spPr>
        <p:txBody>
          <a:bodyPr wrap="square" lIns="25400" tIns="25400" rIns="25400" bIns="25400" rtlCol="0" anchor="t"/>
          <a:lstStyle/>
          <a:p>
            <a:pPr indent="0" marL="0">
              <a:lnSpc>
                <a:spcPct val="115000"/>
              </a:lnSpc>
              <a:buNone/>
            </a:pPr>
            <a:r>
              <a:rPr lang="en-US" sz="900" dirty="0">
                <a:solidFill>
                  <a:schemeClr val="tx2"/>
                </a:solidFill>
              </a:rPr>
              <a:t>(4, 9)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Toy Example: Leaf Values and the Update</a:t>
            </a:r>
            <a:endParaRPr lang="en-US" sz="2400" dirty="0"/>
          </a:p>
        </p:txBody>
      </p:sp>
      <p:sp>
        <p:nvSpPr>
          <p:cNvPr id="3" name="Text 95"/>
          <p:cNvSpPr txBox="1"/>
          <p:nvPr/>
        </p:nvSpPr>
        <p:spPr>
          <a:xfrm>
            <a:off x="429768" y="841248"/>
            <a:ext cx="397764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Step 3: leaf values</a:t>
            </a:r>
            <a:endParaRPr lang="en-US" sz="1400" dirty="0"/>
          </a:p>
        </p:txBody>
      </p:sp>
      <p:sp>
        <p:nvSpPr>
          <p:cNvPr id="4" name="Text 96"/>
          <p:cNvSpPr txBox="1"/>
          <p:nvPr/>
        </p:nvSpPr>
        <p:spPr>
          <a:xfrm>
            <a:off x="429768" y="1097280"/>
            <a:ext cx="3977640" cy="274320"/>
          </a:xfrm>
          <a:prstGeom prst="rect">
            <a:avLst/>
          </a:prstGeom>
          <a:noFill/>
          <a:ln/>
        </p:spPr>
        <p:txBody>
          <a:bodyPr wrap="square" lIns="25400" tIns="25400" rIns="25400" bIns="25400" rtlCol="0" anchor="t"/>
          <a:lstStyle/>
          <a:p>
            <a:pPr indent="0" marL="0">
              <a:lnSpc>
                <a:spcPct val="115000"/>
              </a:lnSpc>
              <a:buNone/>
            </a:pPr>
            <a:r>
              <a:rPr lang="en-US" sz="1300" dirty="0">
                <a:solidFill>
                  <a:schemeClr val="tx1"/>
                </a:solidFill>
                <a:latin typeface="Cambria" pitchFamily="34" charset="0"/>
                <a:ea typeface="Cambria" pitchFamily="34" charset="-122"/>
                <a:cs typeface="Cambria" pitchFamily="34" charset="-120"/>
              </a:rPr>
              <a:t>w</a:t>
            </a:r>
            <a:pPr indent="0" marL="0">
              <a:lnSpc>
                <a:spcPct val="115000"/>
              </a:lnSpc>
              <a:buNone/>
            </a:pPr>
            <a:r>
              <a:rPr lang="en-US" sz="1300" baseline="-40000" dirty="0">
                <a:solidFill>
                  <a:schemeClr val="tx1"/>
                </a:solidFill>
                <a:latin typeface="Cambria" pitchFamily="34" charset="0"/>
                <a:ea typeface="Cambria" pitchFamily="34" charset="-122"/>
                <a:cs typeface="Cambria" pitchFamily="34" charset="-120"/>
              </a:rPr>
              <a:t>L</a:t>
            </a:r>
            <a:pPr indent="0" marL="0">
              <a:lnSpc>
                <a:spcPct val="115000"/>
              </a:lnSpc>
              <a:buNone/>
            </a:pPr>
            <a:r>
              <a:rPr lang="en-US" sz="1300" dirty="0">
                <a:solidFill>
                  <a:schemeClr val="tx1"/>
                </a:solidFill>
                <a:latin typeface="Cambria" pitchFamily="34" charset="0"/>
                <a:ea typeface="Cambria" pitchFamily="34" charset="-122"/>
                <a:cs typeface="Cambria" pitchFamily="34" charset="-120"/>
              </a:rPr>
              <a:t> = −6 / (2 + 1) = −2        w</a:t>
            </a:r>
            <a:pPr indent="0" marL="0">
              <a:lnSpc>
                <a:spcPct val="115000"/>
              </a:lnSpc>
              <a:buNone/>
            </a:pPr>
            <a:r>
              <a:rPr lang="en-US" sz="1300" baseline="-40000" dirty="0">
                <a:solidFill>
                  <a:schemeClr val="tx1"/>
                </a:solidFill>
                <a:latin typeface="Cambria" pitchFamily="34" charset="0"/>
                <a:ea typeface="Cambria" pitchFamily="34" charset="-122"/>
                <a:cs typeface="Cambria" pitchFamily="34" charset="-120"/>
              </a:rPr>
              <a:t>R</a:t>
            </a:r>
            <a:pPr indent="0" marL="0">
              <a:lnSpc>
                <a:spcPct val="115000"/>
              </a:lnSpc>
              <a:buNone/>
            </a:pPr>
            <a:r>
              <a:rPr lang="en-US" sz="1300" dirty="0">
                <a:solidFill>
                  <a:schemeClr val="tx1"/>
                </a:solidFill>
                <a:latin typeface="Cambria" pitchFamily="34" charset="0"/>
                <a:ea typeface="Cambria" pitchFamily="34" charset="-122"/>
                <a:cs typeface="Cambria" pitchFamily="34" charset="-120"/>
              </a:rPr>
              <a:t> = 6 / (2 + 1) = +2</a:t>
            </a:r>
            <a:endParaRPr lang="en-US" sz="1300" dirty="0"/>
          </a:p>
        </p:txBody>
      </p:sp>
      <p:sp>
        <p:nvSpPr>
          <p:cNvPr id="5" name="Text 97"/>
          <p:cNvSpPr txBox="1"/>
          <p:nvPr/>
        </p:nvSpPr>
        <p:spPr>
          <a:xfrm>
            <a:off x="429768" y="1389888"/>
            <a:ext cx="3977640" cy="201168"/>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Without λ these would be the mean residuals, −3 and +3.</a:t>
            </a:r>
            <a:endParaRPr lang="en-US" sz="1000" dirty="0"/>
          </a:p>
        </p:txBody>
      </p:sp>
      <p:sp>
        <p:nvSpPr>
          <p:cNvPr id="6" name="Text 98"/>
          <p:cNvSpPr txBox="1"/>
          <p:nvPr/>
        </p:nvSpPr>
        <p:spPr>
          <a:xfrm>
            <a:off x="429768" y="1691640"/>
            <a:ext cx="397764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Step 4: update predictions (η = 0.3)</a:t>
            </a:r>
            <a:endParaRPr lang="en-US" sz="1400" dirty="0"/>
          </a:p>
        </p:txBody>
      </p:sp>
      <p:graphicFrame>
        <p:nvGraphicFramePr>
          <p:cNvPr id="7" name="Table 99"/>
          <p:cNvGraphicFramePr>
            <a:graphicFrameLocks noGrp="1"/>
          </p:cNvGraphicFramePr>
          <p:nvPr>
            <p:extLst>
              <p:ext uri="{D42A27DB-BD31-4B8C-83A1-F6EECF244321}">
                <p14:modId xmlns:p14="http://schemas.microsoft.com/office/powerpoint/2010/main" val="1579011935"/>
              </p:ext>
            </p:extLst>
          </p:nvPr>
        </p:nvGraphicFramePr>
        <p:xfrm>
          <a:off x="429768" y="1965960"/>
          <a:ext cx="3931920" cy="914400"/>
        </p:xfrm>
        <a:graphic>
          <a:graphicData uri="http://schemas.openxmlformats.org/drawingml/2006/table">
            <a:tbl>
              <a:tblPr/>
              <a:tblGrid>
                <a:gridCol w="502920"/>
                <a:gridCol w="502920"/>
                <a:gridCol w="640080"/>
                <a:gridCol w="822960"/>
                <a:gridCol w="1463040"/>
              </a:tblGrid>
              <a:tr h="219456">
                <a:tc>
                  <a:txBody>
                    <a:bodyPr/>
                    <a:lstStyle/>
                    <a:p>
                      <a:pPr algn="l" indent="0" marL="0">
                        <a:buNone/>
                      </a:pPr>
                      <a:r>
                        <a:rPr lang="en-US" sz="1100" b="1" dirty="0">
                          <a:solidFill>
                            <a:schemeClr val="tx1"/>
                          </a:solidFill>
                        </a:rPr>
                        <a:t>x</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chemeClr val="tx1"/>
                          </a:solidFill>
                        </a:rPr>
                        <a:t>y</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chemeClr val="tx1"/>
                          </a:solidFill>
                        </a:rPr>
                        <a:t>ŷ(0)</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chemeClr val="tx1"/>
                          </a:solidFill>
                        </a:rPr>
                        <a:t>leaf w</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chemeClr val="tx1"/>
                          </a:solidFill>
                        </a:rPr>
                        <a:t>ŷ(1) = 5 + 0.3w</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219456">
                <a:tc>
                  <a:txBody>
                    <a:bodyPr/>
                    <a:lstStyle/>
                    <a:p>
                      <a:pPr algn="l" indent="0" marL="0">
                        <a:buNone/>
                      </a:pPr>
                      <a:r>
                        <a:rPr lang="en-US" sz="1100" dirty="0">
                          <a:solidFill>
                            <a:schemeClr val="tx1"/>
                          </a:solidFill>
                        </a:rPr>
                        <a:t>1</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1</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5</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−2</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4.4</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19456">
                <a:tc>
                  <a:txBody>
                    <a:bodyPr/>
                    <a:lstStyle/>
                    <a:p>
                      <a:pPr algn="l" indent="0" marL="0">
                        <a:buNone/>
                      </a:pPr>
                      <a:r>
                        <a:rPr lang="en-US" sz="1100" dirty="0">
                          <a:solidFill>
                            <a:schemeClr val="tx1"/>
                          </a:solidFill>
                        </a:rPr>
                        <a:t>2</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3</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5</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−2</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4.4</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19456">
                <a:tc>
                  <a:txBody>
                    <a:bodyPr/>
                    <a:lstStyle/>
                    <a:p>
                      <a:pPr algn="l" indent="0" marL="0">
                        <a:buNone/>
                      </a:pPr>
                      <a:r>
                        <a:rPr lang="en-US" sz="1100" dirty="0">
                          <a:solidFill>
                            <a:schemeClr val="tx1"/>
                          </a:solidFill>
                        </a:rPr>
                        <a:t>3</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7</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5</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+2</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5.6</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19456">
                <a:tc>
                  <a:txBody>
                    <a:bodyPr/>
                    <a:lstStyle/>
                    <a:p>
                      <a:pPr algn="l" indent="0" marL="0">
                        <a:buNone/>
                      </a:pPr>
                      <a:r>
                        <a:rPr lang="en-US" sz="1100" dirty="0">
                          <a:solidFill>
                            <a:schemeClr val="tx1"/>
                          </a:solidFill>
                        </a:rPr>
                        <a:t>4</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9</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5</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+2</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5.6</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bl>
          </a:graphicData>
        </a:graphic>
      </p:graphicFrame>
      <p:sp>
        <p:nvSpPr>
          <p:cNvPr id="8" name="Text 100"/>
          <p:cNvSpPr txBox="1"/>
          <p:nvPr/>
        </p:nvSpPr>
        <p:spPr>
          <a:xfrm>
            <a:off x="429768" y="3108960"/>
            <a:ext cx="3977640" cy="256032"/>
          </a:xfrm>
          <a:prstGeom prst="rect">
            <a:avLst/>
          </a:prstGeom>
          <a:noFill/>
          <a:ln/>
        </p:spPr>
        <p:txBody>
          <a:bodyPr wrap="square" lIns="25400" tIns="25400" rIns="25400" bIns="25400" rtlCol="0" anchor="t"/>
          <a:lstStyle/>
          <a:p>
            <a:pPr indent="0" marL="0">
              <a:lnSpc>
                <a:spcPct val="115000"/>
              </a:lnSpc>
              <a:buNone/>
            </a:pPr>
            <a:r>
              <a:rPr lang="en-US" sz="1200" b="1" dirty="0">
                <a:solidFill>
                  <a:schemeClr val="tx1"/>
                </a:solidFill>
              </a:rPr>
              <a:t>Training loss ½Σ(y − ŷ)</a:t>
            </a:r>
            <a:pPr indent="0" marL="0">
              <a:lnSpc>
                <a:spcPct val="115000"/>
              </a:lnSpc>
              <a:buNone/>
            </a:pPr>
            <a:r>
              <a:rPr lang="en-US" sz="1200" b="1" baseline="30000" dirty="0">
                <a:solidFill>
                  <a:schemeClr val="tx1"/>
                </a:solidFill>
              </a:rPr>
              <a:t>2</a:t>
            </a:r>
            <a:pPr indent="0" marL="0">
              <a:lnSpc>
                <a:spcPct val="115000"/>
              </a:lnSpc>
              <a:buNone/>
            </a:pPr>
            <a:r>
              <a:rPr lang="en-US" sz="1200" b="1" dirty="0">
                <a:solidFill>
                  <a:schemeClr val="tx1"/>
                </a:solidFill>
              </a:rPr>
              <a:t>:  20 → 13.52 after one tree</a:t>
            </a:r>
            <a:endParaRPr lang="en-US" sz="1200" dirty="0"/>
          </a:p>
        </p:txBody>
      </p:sp>
      <p:sp>
        <p:nvSpPr>
          <p:cNvPr id="9" name="Text 101"/>
          <p:cNvSpPr txBox="1"/>
          <p:nvPr/>
        </p:nvSpPr>
        <p:spPr>
          <a:xfrm>
            <a:off x="429768" y="3474720"/>
            <a:ext cx="397764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Step 5: should a leaf split again?</a:t>
            </a:r>
            <a:endParaRPr lang="en-US" sz="1400" dirty="0"/>
          </a:p>
        </p:txBody>
      </p:sp>
      <p:sp>
        <p:nvSpPr>
          <p:cNvPr id="10" name="Text 102"/>
          <p:cNvSpPr txBox="1"/>
          <p:nvPr/>
        </p:nvSpPr>
        <p:spPr>
          <a:xfrm>
            <a:off x="429768" y="3730752"/>
            <a:ext cx="3977640" cy="685800"/>
          </a:xfrm>
          <a:prstGeom prst="rect">
            <a:avLst/>
          </a:prstGeom>
          <a:noFill/>
          <a:ln/>
        </p:spPr>
        <p:txBody>
          <a:bodyPr wrap="square" lIns="25400" tIns="25400" rIns="25400" bIns="25400" rtlCol="0" anchor="t"/>
          <a:lstStyle/>
          <a:p>
            <a:pPr indent="0" marL="0">
              <a:lnSpc>
                <a:spcPct val="115000"/>
              </a:lnSpc>
              <a:buNone/>
            </a:pPr>
            <a:r>
              <a:rPr lang="en-US" sz="1200" dirty="0">
                <a:solidFill>
                  <a:schemeClr val="tx1"/>
                </a:solidFill>
              </a:rPr>
              <a:t>Left leaf (x = 1, 2): Gain = ½ (8 + 2 − 12) = −1. It is negative, so no split. λ alone stops the tree from fitting single points.</a:t>
            </a:r>
            <a:endParaRPr lang="en-US" sz="1200" dirty="0"/>
          </a:p>
        </p:txBody>
      </p:sp>
      <p:sp>
        <p:nvSpPr>
          <p:cNvPr id="11" name="Drawing area 103"/>
          <p:cNvSpPr/>
          <p:nvPr/>
        </p:nvSpPr>
        <p:spPr>
          <a:xfrm>
            <a:off x="4617720" y="841248"/>
            <a:ext cx="4096512" cy="1600200"/>
          </a:xfrm>
          <a:prstGeom prst="rect">
            <a:avLst/>
          </a:prstGeom>
          <a:noFill/>
          <a:ln w="12700">
            <a:solidFill>
              <a:srgbClr val="AAAAAA"/>
            </a:solidFill>
            <a:prstDash val="dash"/>
          </a:ln>
        </p:spPr>
      </p:sp>
      <p:sp>
        <p:nvSpPr>
          <p:cNvPr id="12" name="Text 104"/>
          <p:cNvSpPr txBox="1"/>
          <p:nvPr/>
        </p:nvSpPr>
        <p:spPr>
          <a:xfrm>
            <a:off x="4709160" y="896112"/>
            <a:ext cx="3913632" cy="22860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Drawing area: the tree</a:t>
            </a:r>
            <a:endParaRPr lang="en-US" sz="1000" dirty="0"/>
          </a:p>
        </p:txBody>
      </p:sp>
      <p:sp>
        <p:nvSpPr>
          <p:cNvPr id="13" name="Drawing area 105"/>
          <p:cNvSpPr/>
          <p:nvPr/>
        </p:nvSpPr>
        <p:spPr>
          <a:xfrm>
            <a:off x="4617720" y="2560320"/>
            <a:ext cx="4096512" cy="2167128"/>
          </a:xfrm>
          <a:prstGeom prst="rect">
            <a:avLst/>
          </a:prstGeom>
          <a:noFill/>
          <a:ln w="12700">
            <a:solidFill>
              <a:srgbClr val="AAAAAA"/>
            </a:solidFill>
            <a:prstDash val="dash"/>
          </a:ln>
        </p:spPr>
      </p:sp>
      <p:sp>
        <p:nvSpPr>
          <p:cNvPr id="14" name="Text 106"/>
          <p:cNvSpPr txBox="1"/>
          <p:nvPr/>
        </p:nvSpPr>
        <p:spPr>
          <a:xfrm>
            <a:off x="4709160" y="2615184"/>
            <a:ext cx="3913632" cy="22860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Drawing area: new predictions</a:t>
            </a:r>
            <a:endParaRPr lang="en-US" sz="1000" dirty="0"/>
          </a:p>
        </p:txBody>
      </p:sp>
      <p:sp>
        <p:nvSpPr>
          <p:cNvPr id="15" name="Axis 107"/>
          <p:cNvSpPr/>
          <p:nvPr/>
        </p:nvSpPr>
        <p:spPr>
          <a:xfrm>
            <a:off x="5120640" y="3108960"/>
            <a:ext cx="0" cy="1207008"/>
          </a:xfrm>
          <a:prstGeom prst="line">
            <a:avLst/>
          </a:prstGeom>
          <a:noFill/>
          <a:ln w="12700">
            <a:solidFill>
              <a:srgbClr val="888888"/>
            </a:solidFill>
            <a:prstDash val="solid"/>
          </a:ln>
        </p:spPr>
      </p:sp>
      <p:sp>
        <p:nvSpPr>
          <p:cNvPr id="16" name="Axis 108"/>
          <p:cNvSpPr/>
          <p:nvPr/>
        </p:nvSpPr>
        <p:spPr>
          <a:xfrm>
            <a:off x="5120640" y="4315968"/>
            <a:ext cx="3319272" cy="0"/>
          </a:xfrm>
          <a:prstGeom prst="line">
            <a:avLst/>
          </a:prstGeom>
          <a:noFill/>
          <a:ln w="12700">
            <a:solidFill>
              <a:srgbClr val="888888"/>
            </a:solidFill>
            <a:prstDash val="solid"/>
          </a:ln>
        </p:spPr>
      </p:sp>
      <p:sp>
        <p:nvSpPr>
          <p:cNvPr id="17" name="Text 109"/>
          <p:cNvSpPr txBox="1"/>
          <p:nvPr/>
        </p:nvSpPr>
        <p:spPr>
          <a:xfrm>
            <a:off x="4800600" y="4224528"/>
            <a:ext cx="274320" cy="182880"/>
          </a:xfrm>
          <a:prstGeom prst="rect">
            <a:avLst/>
          </a:prstGeom>
          <a:noFill/>
          <a:ln/>
        </p:spPr>
        <p:txBody>
          <a:bodyPr wrap="square" lIns="25400" tIns="25400" rIns="25400" bIns="25400" rtlCol="0" anchor="t"/>
          <a:lstStyle/>
          <a:p>
            <a:pPr algn="r" indent="0" marL="0">
              <a:lnSpc>
                <a:spcPct val="115000"/>
              </a:lnSpc>
              <a:buNone/>
            </a:pPr>
            <a:r>
              <a:rPr lang="en-US" sz="900" dirty="0">
                <a:solidFill>
                  <a:schemeClr val="tx2"/>
                </a:solidFill>
              </a:rPr>
              <a:t>0</a:t>
            </a:r>
            <a:endParaRPr lang="en-US" sz="900" dirty="0"/>
          </a:p>
        </p:txBody>
      </p:sp>
      <p:sp>
        <p:nvSpPr>
          <p:cNvPr id="18" name="Text 110"/>
          <p:cNvSpPr txBox="1"/>
          <p:nvPr/>
        </p:nvSpPr>
        <p:spPr>
          <a:xfrm>
            <a:off x="4800600" y="3621024"/>
            <a:ext cx="274320" cy="182880"/>
          </a:xfrm>
          <a:prstGeom prst="rect">
            <a:avLst/>
          </a:prstGeom>
          <a:noFill/>
          <a:ln/>
        </p:spPr>
        <p:txBody>
          <a:bodyPr wrap="square" lIns="25400" tIns="25400" rIns="25400" bIns="25400" rtlCol="0" anchor="t"/>
          <a:lstStyle/>
          <a:p>
            <a:pPr algn="r" indent="0" marL="0">
              <a:lnSpc>
                <a:spcPct val="115000"/>
              </a:lnSpc>
              <a:buNone/>
            </a:pPr>
            <a:r>
              <a:rPr lang="en-US" sz="900" dirty="0">
                <a:solidFill>
                  <a:schemeClr val="tx2"/>
                </a:solidFill>
              </a:rPr>
              <a:t>5</a:t>
            </a:r>
            <a:endParaRPr lang="en-US" sz="900" dirty="0"/>
          </a:p>
        </p:txBody>
      </p:sp>
      <p:sp>
        <p:nvSpPr>
          <p:cNvPr id="19" name="Text 111"/>
          <p:cNvSpPr txBox="1"/>
          <p:nvPr/>
        </p:nvSpPr>
        <p:spPr>
          <a:xfrm>
            <a:off x="4800600" y="3017520"/>
            <a:ext cx="274320" cy="182880"/>
          </a:xfrm>
          <a:prstGeom prst="rect">
            <a:avLst/>
          </a:prstGeom>
          <a:noFill/>
          <a:ln/>
        </p:spPr>
        <p:txBody>
          <a:bodyPr wrap="square" lIns="25400" tIns="25400" rIns="25400" bIns="25400" rtlCol="0" anchor="t"/>
          <a:lstStyle/>
          <a:p>
            <a:pPr algn="r" indent="0" marL="0">
              <a:lnSpc>
                <a:spcPct val="115000"/>
              </a:lnSpc>
              <a:buNone/>
            </a:pPr>
            <a:r>
              <a:rPr lang="en-US" sz="900" dirty="0">
                <a:solidFill>
                  <a:schemeClr val="tx2"/>
                </a:solidFill>
              </a:rPr>
              <a:t>10</a:t>
            </a:r>
            <a:endParaRPr lang="en-US" sz="900" dirty="0"/>
          </a:p>
        </p:txBody>
      </p:sp>
      <p:sp>
        <p:nvSpPr>
          <p:cNvPr id="20" name="Text 112"/>
          <p:cNvSpPr txBox="1"/>
          <p:nvPr/>
        </p:nvSpPr>
        <p:spPr>
          <a:xfrm>
            <a:off x="5303520" y="4343400"/>
            <a:ext cx="274320" cy="182880"/>
          </a:xfrm>
          <a:prstGeom prst="rect">
            <a:avLst/>
          </a:prstGeom>
          <a:noFill/>
          <a:ln/>
        </p:spPr>
        <p:txBody>
          <a:bodyPr wrap="square" lIns="25400" tIns="25400" rIns="25400" bIns="25400" rtlCol="0" anchor="t"/>
          <a:lstStyle/>
          <a:p>
            <a:pPr algn="ctr" indent="0" marL="0">
              <a:lnSpc>
                <a:spcPct val="115000"/>
              </a:lnSpc>
              <a:buNone/>
            </a:pPr>
            <a:r>
              <a:rPr lang="en-US" sz="900" dirty="0">
                <a:solidFill>
                  <a:schemeClr val="tx2"/>
                </a:solidFill>
              </a:rPr>
              <a:t>1</a:t>
            </a:r>
            <a:endParaRPr lang="en-US" sz="900" dirty="0"/>
          </a:p>
        </p:txBody>
      </p:sp>
      <p:sp>
        <p:nvSpPr>
          <p:cNvPr id="21" name="Text 113"/>
          <p:cNvSpPr txBox="1"/>
          <p:nvPr/>
        </p:nvSpPr>
        <p:spPr>
          <a:xfrm>
            <a:off x="6227064" y="4343400"/>
            <a:ext cx="274320" cy="182880"/>
          </a:xfrm>
          <a:prstGeom prst="rect">
            <a:avLst/>
          </a:prstGeom>
          <a:noFill/>
          <a:ln/>
        </p:spPr>
        <p:txBody>
          <a:bodyPr wrap="square" lIns="25400" tIns="25400" rIns="25400" bIns="25400" rtlCol="0" anchor="t"/>
          <a:lstStyle/>
          <a:p>
            <a:pPr algn="ctr" indent="0" marL="0">
              <a:lnSpc>
                <a:spcPct val="115000"/>
              </a:lnSpc>
              <a:buNone/>
            </a:pPr>
            <a:r>
              <a:rPr lang="en-US" sz="900" dirty="0">
                <a:solidFill>
                  <a:schemeClr val="tx2"/>
                </a:solidFill>
              </a:rPr>
              <a:t>2</a:t>
            </a:r>
            <a:endParaRPr lang="en-US" sz="900" dirty="0"/>
          </a:p>
        </p:txBody>
      </p:sp>
      <p:sp>
        <p:nvSpPr>
          <p:cNvPr id="22" name="Text 114"/>
          <p:cNvSpPr txBox="1"/>
          <p:nvPr/>
        </p:nvSpPr>
        <p:spPr>
          <a:xfrm>
            <a:off x="7150608" y="4343400"/>
            <a:ext cx="274320" cy="182880"/>
          </a:xfrm>
          <a:prstGeom prst="rect">
            <a:avLst/>
          </a:prstGeom>
          <a:noFill/>
          <a:ln/>
        </p:spPr>
        <p:txBody>
          <a:bodyPr wrap="square" lIns="25400" tIns="25400" rIns="25400" bIns="25400" rtlCol="0" anchor="t"/>
          <a:lstStyle/>
          <a:p>
            <a:pPr algn="ctr" indent="0" marL="0">
              <a:lnSpc>
                <a:spcPct val="115000"/>
              </a:lnSpc>
              <a:buNone/>
            </a:pPr>
            <a:r>
              <a:rPr lang="en-US" sz="900" dirty="0">
                <a:solidFill>
                  <a:schemeClr val="tx2"/>
                </a:solidFill>
              </a:rPr>
              <a:t>3</a:t>
            </a:r>
            <a:endParaRPr lang="en-US" sz="900" dirty="0"/>
          </a:p>
        </p:txBody>
      </p:sp>
      <p:sp>
        <p:nvSpPr>
          <p:cNvPr id="23" name="Text 115"/>
          <p:cNvSpPr txBox="1"/>
          <p:nvPr/>
        </p:nvSpPr>
        <p:spPr>
          <a:xfrm>
            <a:off x="8074152" y="4343400"/>
            <a:ext cx="274320" cy="182880"/>
          </a:xfrm>
          <a:prstGeom prst="rect">
            <a:avLst/>
          </a:prstGeom>
          <a:noFill/>
          <a:ln/>
        </p:spPr>
        <p:txBody>
          <a:bodyPr wrap="square" lIns="25400" tIns="25400" rIns="25400" bIns="25400" rtlCol="0" anchor="t"/>
          <a:lstStyle/>
          <a:p>
            <a:pPr algn="ctr" indent="0" marL="0">
              <a:lnSpc>
                <a:spcPct val="115000"/>
              </a:lnSpc>
              <a:buNone/>
            </a:pPr>
            <a:r>
              <a:rPr lang="en-US" sz="900" dirty="0">
                <a:solidFill>
                  <a:schemeClr val="tx2"/>
                </a:solidFill>
              </a:rPr>
              <a:t>4</a:t>
            </a:r>
            <a:endParaRPr lang="en-US" sz="900" dirty="0"/>
          </a:p>
        </p:txBody>
      </p:sp>
      <p:sp>
        <p:nvSpPr>
          <p:cNvPr id="24" name="Text 116"/>
          <p:cNvSpPr txBox="1"/>
          <p:nvPr/>
        </p:nvSpPr>
        <p:spPr>
          <a:xfrm>
            <a:off x="5120640" y="4498848"/>
            <a:ext cx="3319272" cy="182880"/>
          </a:xfrm>
          <a:prstGeom prst="rect">
            <a:avLst/>
          </a:prstGeom>
          <a:noFill/>
          <a:ln/>
        </p:spPr>
        <p:txBody>
          <a:bodyPr wrap="square" lIns="25400" tIns="25400" rIns="25400" bIns="25400" rtlCol="0" anchor="t"/>
          <a:lstStyle/>
          <a:p>
            <a:pPr algn="ctr" indent="0" marL="0">
              <a:lnSpc>
                <a:spcPct val="115000"/>
              </a:lnSpc>
              <a:buNone/>
            </a:pPr>
            <a:r>
              <a:rPr lang="en-US" sz="900" dirty="0">
                <a:solidFill>
                  <a:schemeClr val="tx2"/>
                </a:solidFill>
              </a:rPr>
              <a:t>hours studied (x)</a:t>
            </a:r>
            <a:endParaRPr lang="en-US" sz="900" dirty="0"/>
          </a:p>
        </p:txBody>
      </p:sp>
      <p:sp>
        <p:nvSpPr>
          <p:cNvPr id="25" name="Text 117"/>
          <p:cNvSpPr txBox="1"/>
          <p:nvPr/>
        </p:nvSpPr>
        <p:spPr>
          <a:xfrm>
            <a:off x="4709160" y="2852928"/>
            <a:ext cx="822960" cy="182880"/>
          </a:xfrm>
          <a:prstGeom prst="rect">
            <a:avLst/>
          </a:prstGeom>
          <a:noFill/>
          <a:ln/>
        </p:spPr>
        <p:txBody>
          <a:bodyPr wrap="square" lIns="25400" tIns="25400" rIns="25400" bIns="25400" rtlCol="0" anchor="t"/>
          <a:lstStyle/>
          <a:p>
            <a:pPr indent="0" marL="0">
              <a:lnSpc>
                <a:spcPct val="115000"/>
              </a:lnSpc>
              <a:buNone/>
            </a:pPr>
            <a:r>
              <a:rPr lang="en-US" sz="900" dirty="0">
                <a:solidFill>
                  <a:schemeClr val="tx2"/>
                </a:solidFill>
              </a:rPr>
              <a:t>score (y)</a:t>
            </a:r>
            <a:endParaRPr lang="en-US" sz="900" dirty="0"/>
          </a:p>
        </p:txBody>
      </p:sp>
      <p:sp>
        <p:nvSpPr>
          <p:cNvPr id="26" name="Baseline 118"/>
          <p:cNvSpPr/>
          <p:nvPr/>
        </p:nvSpPr>
        <p:spPr>
          <a:xfrm>
            <a:off x="5120640" y="3712464"/>
            <a:ext cx="3319272" cy="0"/>
          </a:xfrm>
          <a:prstGeom prst="line">
            <a:avLst/>
          </a:prstGeom>
          <a:noFill/>
          <a:ln w="15875">
            <a:solidFill>
              <a:schemeClr val="accent1"/>
            </a:solidFill>
            <a:prstDash val="dash"/>
          </a:ln>
        </p:spPr>
      </p:sp>
      <p:sp>
        <p:nvSpPr>
          <p:cNvPr id="27" name="Text 119"/>
          <p:cNvSpPr txBox="1"/>
          <p:nvPr/>
        </p:nvSpPr>
        <p:spPr>
          <a:xfrm>
            <a:off x="7754112" y="3493008"/>
            <a:ext cx="685800" cy="182880"/>
          </a:xfrm>
          <a:prstGeom prst="rect">
            <a:avLst/>
          </a:prstGeom>
          <a:noFill/>
          <a:ln/>
        </p:spPr>
        <p:txBody>
          <a:bodyPr wrap="square" lIns="25400" tIns="25400" rIns="25400" bIns="25400" rtlCol="0" anchor="t"/>
          <a:lstStyle/>
          <a:p>
            <a:pPr algn="r" indent="0" marL="0">
              <a:lnSpc>
                <a:spcPct val="115000"/>
              </a:lnSpc>
              <a:buNone/>
            </a:pPr>
            <a:r>
              <a:rPr lang="en-US" sz="900" dirty="0">
                <a:solidFill>
                  <a:schemeClr val="accent1"/>
                </a:solidFill>
              </a:rPr>
              <a:t>ŷ(0) = 5</a:t>
            </a:r>
            <a:endParaRPr lang="en-US" sz="900" dirty="0"/>
          </a:p>
        </p:txBody>
      </p:sp>
      <p:sp>
        <p:nvSpPr>
          <p:cNvPr id="28" name="Point 120"/>
          <p:cNvSpPr/>
          <p:nvPr/>
        </p:nvSpPr>
        <p:spPr>
          <a:xfrm>
            <a:off x="5385816" y="4140403"/>
            <a:ext cx="109728" cy="109728"/>
          </a:xfrm>
          <a:prstGeom prst="ellipse">
            <a:avLst/>
          </a:prstGeom>
          <a:solidFill>
            <a:schemeClr val="tx1"/>
          </a:solidFill>
          <a:ln w="12700">
            <a:solidFill>
              <a:schemeClr val="tx1"/>
            </a:solidFill>
            <a:prstDash val="solid"/>
          </a:ln>
        </p:spPr>
      </p:sp>
      <p:sp>
        <p:nvSpPr>
          <p:cNvPr id="29" name="Text 121"/>
          <p:cNvSpPr txBox="1"/>
          <p:nvPr/>
        </p:nvSpPr>
        <p:spPr>
          <a:xfrm>
            <a:off x="5513832" y="4103827"/>
            <a:ext cx="548640" cy="182880"/>
          </a:xfrm>
          <a:prstGeom prst="rect">
            <a:avLst/>
          </a:prstGeom>
          <a:noFill/>
          <a:ln/>
        </p:spPr>
        <p:txBody>
          <a:bodyPr wrap="square" lIns="25400" tIns="25400" rIns="25400" bIns="25400" rtlCol="0" anchor="t"/>
          <a:lstStyle/>
          <a:p>
            <a:pPr indent="0" marL="0">
              <a:lnSpc>
                <a:spcPct val="115000"/>
              </a:lnSpc>
              <a:buNone/>
            </a:pPr>
            <a:r>
              <a:rPr lang="en-US" sz="900" dirty="0">
                <a:solidFill>
                  <a:schemeClr val="tx2"/>
                </a:solidFill>
              </a:rPr>
              <a:t>(1, 1)</a:t>
            </a:r>
            <a:endParaRPr lang="en-US" sz="900" dirty="0"/>
          </a:p>
        </p:txBody>
      </p:sp>
      <p:sp>
        <p:nvSpPr>
          <p:cNvPr id="30" name="Point 122"/>
          <p:cNvSpPr/>
          <p:nvPr/>
        </p:nvSpPr>
        <p:spPr>
          <a:xfrm>
            <a:off x="6309360" y="3899002"/>
            <a:ext cx="109728" cy="109728"/>
          </a:xfrm>
          <a:prstGeom prst="ellipse">
            <a:avLst/>
          </a:prstGeom>
          <a:solidFill>
            <a:schemeClr val="tx1"/>
          </a:solidFill>
          <a:ln w="12700">
            <a:solidFill>
              <a:schemeClr val="tx1"/>
            </a:solidFill>
            <a:prstDash val="solid"/>
          </a:ln>
        </p:spPr>
      </p:sp>
      <p:sp>
        <p:nvSpPr>
          <p:cNvPr id="31" name="Text 123"/>
          <p:cNvSpPr txBox="1"/>
          <p:nvPr/>
        </p:nvSpPr>
        <p:spPr>
          <a:xfrm>
            <a:off x="6437376" y="3862426"/>
            <a:ext cx="548640" cy="182880"/>
          </a:xfrm>
          <a:prstGeom prst="rect">
            <a:avLst/>
          </a:prstGeom>
          <a:noFill/>
          <a:ln/>
        </p:spPr>
        <p:txBody>
          <a:bodyPr wrap="square" lIns="25400" tIns="25400" rIns="25400" bIns="25400" rtlCol="0" anchor="t"/>
          <a:lstStyle/>
          <a:p>
            <a:pPr indent="0" marL="0">
              <a:lnSpc>
                <a:spcPct val="115000"/>
              </a:lnSpc>
              <a:buNone/>
            </a:pPr>
            <a:r>
              <a:rPr lang="en-US" sz="900" dirty="0">
                <a:solidFill>
                  <a:schemeClr val="tx2"/>
                </a:solidFill>
              </a:rPr>
              <a:t>(2, 3)</a:t>
            </a:r>
            <a:endParaRPr lang="en-US" sz="900" dirty="0"/>
          </a:p>
        </p:txBody>
      </p:sp>
      <p:sp>
        <p:nvSpPr>
          <p:cNvPr id="32" name="Point 124"/>
          <p:cNvSpPr/>
          <p:nvPr/>
        </p:nvSpPr>
        <p:spPr>
          <a:xfrm>
            <a:off x="7232904" y="3416198"/>
            <a:ext cx="109728" cy="109728"/>
          </a:xfrm>
          <a:prstGeom prst="ellipse">
            <a:avLst/>
          </a:prstGeom>
          <a:solidFill>
            <a:schemeClr val="tx1"/>
          </a:solidFill>
          <a:ln w="12700">
            <a:solidFill>
              <a:schemeClr val="tx1"/>
            </a:solidFill>
            <a:prstDash val="solid"/>
          </a:ln>
        </p:spPr>
      </p:sp>
      <p:sp>
        <p:nvSpPr>
          <p:cNvPr id="33" name="Text 125"/>
          <p:cNvSpPr txBox="1"/>
          <p:nvPr/>
        </p:nvSpPr>
        <p:spPr>
          <a:xfrm>
            <a:off x="7360920" y="3379622"/>
            <a:ext cx="548640" cy="182880"/>
          </a:xfrm>
          <a:prstGeom prst="rect">
            <a:avLst/>
          </a:prstGeom>
          <a:noFill/>
          <a:ln/>
        </p:spPr>
        <p:txBody>
          <a:bodyPr wrap="square" lIns="25400" tIns="25400" rIns="25400" bIns="25400" rtlCol="0" anchor="t"/>
          <a:lstStyle/>
          <a:p>
            <a:pPr indent="0" marL="0">
              <a:lnSpc>
                <a:spcPct val="115000"/>
              </a:lnSpc>
              <a:buNone/>
            </a:pPr>
            <a:r>
              <a:rPr lang="en-US" sz="900" dirty="0">
                <a:solidFill>
                  <a:schemeClr val="tx2"/>
                </a:solidFill>
              </a:rPr>
              <a:t>(3, 7)</a:t>
            </a:r>
            <a:endParaRPr lang="en-US" sz="900" dirty="0"/>
          </a:p>
        </p:txBody>
      </p:sp>
      <p:sp>
        <p:nvSpPr>
          <p:cNvPr id="34" name="Point 126"/>
          <p:cNvSpPr/>
          <p:nvPr/>
        </p:nvSpPr>
        <p:spPr>
          <a:xfrm>
            <a:off x="8156448" y="3174797"/>
            <a:ext cx="109728" cy="109728"/>
          </a:xfrm>
          <a:prstGeom prst="ellipse">
            <a:avLst/>
          </a:prstGeom>
          <a:solidFill>
            <a:schemeClr val="tx1"/>
          </a:solidFill>
          <a:ln w="12700">
            <a:solidFill>
              <a:schemeClr val="tx1"/>
            </a:solidFill>
            <a:prstDash val="solid"/>
          </a:ln>
        </p:spPr>
      </p:sp>
      <p:sp>
        <p:nvSpPr>
          <p:cNvPr id="35" name="Text 127"/>
          <p:cNvSpPr txBox="1"/>
          <p:nvPr/>
        </p:nvSpPr>
        <p:spPr>
          <a:xfrm>
            <a:off x="8284464" y="3138221"/>
            <a:ext cx="548640" cy="182880"/>
          </a:xfrm>
          <a:prstGeom prst="rect">
            <a:avLst/>
          </a:prstGeom>
          <a:noFill/>
          <a:ln/>
        </p:spPr>
        <p:txBody>
          <a:bodyPr wrap="square" lIns="25400" tIns="25400" rIns="25400" bIns="25400" rtlCol="0" anchor="t"/>
          <a:lstStyle/>
          <a:p>
            <a:pPr indent="0" marL="0">
              <a:lnSpc>
                <a:spcPct val="115000"/>
              </a:lnSpc>
              <a:buNone/>
            </a:pPr>
            <a:r>
              <a:rPr lang="en-US" sz="900" dirty="0">
                <a:solidFill>
                  <a:schemeClr val="tx2"/>
                </a:solidFill>
              </a:rPr>
              <a:t>(4, 9)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Key Parameters, Advantages and Limitations</a:t>
            </a:r>
            <a:endParaRPr lang="en-US" sz="2400" dirty="0"/>
          </a:p>
        </p:txBody>
      </p:sp>
      <p:sp>
        <p:nvSpPr>
          <p:cNvPr id="3" name="Text 128"/>
          <p:cNvSpPr txBox="1"/>
          <p:nvPr/>
        </p:nvSpPr>
        <p:spPr>
          <a:xfrm>
            <a:off x="429768" y="841248"/>
            <a:ext cx="457200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Most important parameters</a:t>
            </a:r>
            <a:endParaRPr lang="en-US" sz="1400" dirty="0"/>
          </a:p>
        </p:txBody>
      </p:sp>
      <p:graphicFrame>
        <p:nvGraphicFramePr>
          <p:cNvPr id="8" name="Table 129"/>
          <p:cNvGraphicFramePr>
            <a:graphicFrameLocks noGrp="1"/>
          </p:cNvGraphicFramePr>
          <p:nvPr>
            <p:extLst>
              <p:ext uri="{D42A27DB-BD31-4B8C-83A1-F6EECF244321}">
                <p14:modId xmlns:p14="http://schemas.microsoft.com/office/powerpoint/2010/main" val="1579011935"/>
              </p:ext>
            </p:extLst>
          </p:nvPr>
        </p:nvGraphicFramePr>
        <p:xfrm>
          <a:off x="429768" y="1115568"/>
          <a:ext cx="4572000" cy="914400"/>
        </p:xfrm>
        <a:graphic>
          <a:graphicData uri="http://schemas.openxmlformats.org/drawingml/2006/table">
            <a:tbl>
              <a:tblPr/>
              <a:tblGrid>
                <a:gridCol w="1463040"/>
                <a:gridCol w="2103120"/>
                <a:gridCol w="1005840"/>
              </a:tblGrid>
              <a:tr h="274320">
                <a:tc>
                  <a:txBody>
                    <a:bodyPr/>
                    <a:lstStyle/>
                    <a:p>
                      <a:pPr algn="l" indent="0" marL="0">
                        <a:buNone/>
                      </a:pPr>
                      <a:r>
                        <a:rPr lang="en-US" sz="1100" b="1" dirty="0">
                          <a:solidFill>
                            <a:schemeClr val="tx1"/>
                          </a:solidFill>
                        </a:rPr>
                        <a:t>Parameter</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l" indent="0" marL="0">
                        <a:buNone/>
                      </a:pPr>
                      <a:r>
                        <a:rPr lang="en-US" sz="1100" b="1" dirty="0">
                          <a:solidFill>
                            <a:schemeClr val="tx1"/>
                          </a:solidFill>
                        </a:rPr>
                        <a:t>What it controls</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100" b="1" dirty="0">
                          <a:solidFill>
                            <a:schemeClr val="tx1"/>
                          </a:solidFill>
                        </a:rPr>
                        <a:t>My value</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274320">
                <a:tc>
                  <a:txBody>
                    <a:bodyPr/>
                    <a:lstStyle/>
                    <a:p>
                      <a:pPr algn="l" indent="0" marL="0">
                        <a:buNone/>
                      </a:pPr>
                      <a:r>
                        <a:rPr lang="en-US" sz="1100" dirty="0">
                          <a:solidFill>
                            <a:schemeClr val="tx1"/>
                          </a:solidFill>
                        </a:rPr>
                        <a:t>learning_rate (η)</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l" indent="0" marL="0">
                        <a:buNone/>
                      </a:pPr>
                      <a:r>
                        <a:rPr lang="en-US" sz="1100" dirty="0">
                          <a:solidFill>
                            <a:schemeClr val="tx1"/>
                          </a:solidFill>
                        </a:rPr>
                        <a:t>How much each tree adds</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0.1</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74320">
                <a:tc>
                  <a:txBody>
                    <a:bodyPr/>
                    <a:lstStyle/>
                    <a:p>
                      <a:pPr algn="l" indent="0" marL="0">
                        <a:buNone/>
                      </a:pPr>
                      <a:r>
                        <a:rPr lang="en-US" sz="1100" dirty="0">
                          <a:solidFill>
                            <a:schemeClr val="tx1"/>
                          </a:solidFill>
                        </a:rPr>
                        <a:t>n_estimators</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l" indent="0" marL="0">
                        <a:buNone/>
                      </a:pPr>
                      <a:r>
                        <a:rPr lang="en-US" sz="1100" dirty="0">
                          <a:solidFill>
                            <a:schemeClr val="tx1"/>
                          </a:solidFill>
                        </a:rPr>
                        <a:t>Number of trees</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300</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74320">
                <a:tc>
                  <a:txBody>
                    <a:bodyPr/>
                    <a:lstStyle/>
                    <a:p>
                      <a:pPr algn="l" indent="0" marL="0">
                        <a:buNone/>
                      </a:pPr>
                      <a:r>
                        <a:rPr lang="en-US" sz="1100" dirty="0">
                          <a:solidFill>
                            <a:schemeClr val="tx1"/>
                          </a:solidFill>
                        </a:rPr>
                        <a:t>max_depth</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l" indent="0" marL="0">
                        <a:buNone/>
                      </a:pPr>
                      <a:r>
                        <a:rPr lang="en-US" sz="1100" dirty="0">
                          <a:solidFill>
                            <a:schemeClr val="tx1"/>
                          </a:solidFill>
                        </a:rPr>
                        <a:t>Depth of each tree</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3</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74320">
                <a:tc>
                  <a:txBody>
                    <a:bodyPr/>
                    <a:lstStyle/>
                    <a:p>
                      <a:pPr algn="l" indent="0" marL="0">
                        <a:buNone/>
                      </a:pPr>
                      <a:r>
                        <a:rPr lang="en-US" sz="1100" dirty="0">
                          <a:solidFill>
                            <a:schemeClr val="tx1"/>
                          </a:solidFill>
                        </a:rPr>
                        <a:t>subsample</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l" indent="0" marL="0">
                        <a:buNone/>
                      </a:pPr>
                      <a:r>
                        <a:rPr lang="en-US" sz="1100" dirty="0">
                          <a:solidFill>
                            <a:schemeClr val="tx1"/>
                          </a:solidFill>
                        </a:rPr>
                        <a:t>Share of rows per tree</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0.7</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74320">
                <a:tc>
                  <a:txBody>
                    <a:bodyPr/>
                    <a:lstStyle/>
                    <a:p>
                      <a:pPr algn="l" indent="0" marL="0">
                        <a:buNone/>
                      </a:pPr>
                      <a:r>
                        <a:rPr lang="en-US" sz="1100" dirty="0">
                          <a:solidFill>
                            <a:schemeClr val="tx1"/>
                          </a:solidFill>
                        </a:rPr>
                        <a:t>colsample_bytree</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l" indent="0" marL="0">
                        <a:buNone/>
                      </a:pPr>
                      <a:r>
                        <a:rPr lang="en-US" sz="1100" dirty="0">
                          <a:solidFill>
                            <a:schemeClr val="tx1"/>
                          </a:solidFill>
                        </a:rPr>
                        <a:t>Share of features per tree</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0.5</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74320">
                <a:tc>
                  <a:txBody>
                    <a:bodyPr/>
                    <a:lstStyle/>
                    <a:p>
                      <a:pPr algn="l" indent="0" marL="0">
                        <a:buNone/>
                      </a:pPr>
                      <a:r>
                        <a:rPr lang="en-US" sz="1100" dirty="0">
                          <a:solidFill>
                            <a:schemeClr val="tx1"/>
                          </a:solidFill>
                        </a:rPr>
                        <a:t>reg_lambda (λ)</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l" indent="0" marL="0">
                        <a:buNone/>
                      </a:pPr>
                      <a:r>
                        <a:rPr lang="en-US" sz="1100" dirty="0">
                          <a:solidFill>
                            <a:schemeClr val="tx1"/>
                          </a:solidFill>
                        </a:rPr>
                        <a:t>L2 penalty on leaf values</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1 (default)</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74320">
                <a:tc>
                  <a:txBody>
                    <a:bodyPr/>
                    <a:lstStyle/>
                    <a:p>
                      <a:pPr algn="l" indent="0" marL="0">
                        <a:buNone/>
                      </a:pPr>
                      <a:r>
                        <a:rPr lang="en-US" sz="1100" dirty="0">
                          <a:solidFill>
                            <a:schemeClr val="tx1"/>
                          </a:solidFill>
                        </a:rPr>
                        <a:t>gamma (γ)</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l" indent="0" marL="0">
                        <a:buNone/>
                      </a:pPr>
                      <a:r>
                        <a:rPr lang="en-US" sz="1100" dirty="0">
                          <a:solidFill>
                            <a:schemeClr val="tx1"/>
                          </a:solidFill>
                        </a:rPr>
                        <a:t>Minimum gain to split</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0 (default)</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74320">
                <a:tc>
                  <a:txBody>
                    <a:bodyPr/>
                    <a:lstStyle/>
                    <a:p>
                      <a:pPr algn="l" indent="0" marL="0">
                        <a:buNone/>
                      </a:pPr>
                      <a:r>
                        <a:rPr lang="en-US" sz="1100" dirty="0">
                          <a:solidFill>
                            <a:schemeClr val="tx1"/>
                          </a:solidFill>
                        </a:rPr>
                        <a:t>min_child_weight</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l" indent="0" marL="0">
                        <a:buNone/>
                      </a:pPr>
                      <a:r>
                        <a:rPr lang="en-US" sz="1100" dirty="0">
                          <a:solidFill>
                            <a:schemeClr val="tx1"/>
                          </a:solidFill>
                        </a:rPr>
                        <a:t>Minimum sum of h in a leaf</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100" dirty="0">
                          <a:solidFill>
                            <a:schemeClr val="tx1"/>
                          </a:solidFill>
                        </a:rPr>
                        <a:t>1 (default)</a:t>
                      </a:r>
                      <a:endParaRPr lang="en-US" sz="110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bl>
          </a:graphicData>
        </a:graphic>
      </p:graphicFrame>
      <p:sp>
        <p:nvSpPr>
          <p:cNvPr id="5" name="Text 130"/>
          <p:cNvSpPr txBox="1"/>
          <p:nvPr/>
        </p:nvSpPr>
        <p:spPr>
          <a:xfrm>
            <a:off x="429768" y="3657600"/>
            <a:ext cx="4572000" cy="27432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Tuned values come from cross-validation (slide 11). The rest are defaults.</a:t>
            </a:r>
            <a:endParaRPr lang="en-US" sz="1000" dirty="0"/>
          </a:p>
        </p:txBody>
      </p:sp>
      <p:sp>
        <p:nvSpPr>
          <p:cNvPr id="6" name="Text 131"/>
          <p:cNvSpPr txBox="1"/>
          <p:nvPr/>
        </p:nvSpPr>
        <p:spPr>
          <a:xfrm>
            <a:off x="5303520" y="841248"/>
            <a:ext cx="342900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Advantages</a:t>
            </a:r>
            <a:endParaRPr lang="en-US" sz="1400" dirty="0"/>
          </a:p>
        </p:txBody>
      </p:sp>
      <p:sp>
        <p:nvSpPr>
          <p:cNvPr id="7" name="Bullets 132"/>
          <p:cNvSpPr txBox="1"/>
          <p:nvPr/>
        </p:nvSpPr>
        <p:spPr>
          <a:xfrm>
            <a:off x="5303520" y="1097280"/>
            <a:ext cx="3429000" cy="1691640"/>
          </a:xfrm>
          <a:prstGeom prst="rect">
            <a:avLst/>
          </a:prstGeom>
          <a:noFill/>
          <a:ln/>
        </p:spPr>
        <p:txBody>
          <a:bodyPr wrap="square" lIns="25400" tIns="25400" rIns="25400" bIns="25400" rtlCol="0" anchor="t"/>
          <a:lstStyle/>
          <a:p>
            <a:pPr marL="152400" indent="-152400">
              <a:lnSpc>
                <a:spcPct val="110000"/>
              </a:lnSpc>
              <a:spcAft>
                <a:spcPts val="400"/>
              </a:spcAft>
              <a:buSzPct val="100000"/>
              <a:buChar char="–"/>
            </a:pPr>
            <a:r>
              <a:rPr lang="en-US" sz="1200" dirty="0">
                <a:solidFill>
                  <a:schemeClr val="tx1"/>
                </a:solidFill>
              </a:rPr>
              <a:t>Often the most accurate model on tabular data</a:t>
            </a:r>
            <a:endParaRPr lang="en-US" sz="1200" dirty="0"/>
          </a:p>
          <a:p>
            <a:pPr marL="152400" indent="-152400">
              <a:lnSpc>
                <a:spcPct val="110000"/>
              </a:lnSpc>
              <a:spcAft>
                <a:spcPts val="400"/>
              </a:spcAft>
              <a:buSzPct val="100000"/>
              <a:buChar char="–"/>
            </a:pPr>
            <a:r>
              <a:rPr lang="en-US" sz="1200" dirty="0">
                <a:solidFill>
                  <a:schemeClr val="tx1"/>
                </a:solidFill>
              </a:rPr>
              <a:t>Built-in regularization: λ, γ, η, sampling</a:t>
            </a:r>
            <a:endParaRPr lang="en-US" sz="1200" dirty="0"/>
          </a:p>
          <a:p>
            <a:pPr marL="152400" indent="-152400">
              <a:lnSpc>
                <a:spcPct val="110000"/>
              </a:lnSpc>
              <a:spcAft>
                <a:spcPts val="400"/>
              </a:spcAft>
              <a:buSzPct val="100000"/>
              <a:buChar char="–"/>
            </a:pPr>
            <a:r>
              <a:rPr lang="en-US" sz="1200" dirty="0">
                <a:solidFill>
                  <a:schemeClr val="tx1"/>
                </a:solidFill>
              </a:rPr>
              <a:t>No feature scaling needed; handles missing values</a:t>
            </a:r>
            <a:endParaRPr lang="en-US" sz="1200" dirty="0"/>
          </a:p>
          <a:p>
            <a:pPr marL="152400" indent="-152400">
              <a:lnSpc>
                <a:spcPct val="110000"/>
              </a:lnSpc>
              <a:spcAft>
                <a:spcPts val="400"/>
              </a:spcAft>
              <a:buSzPct val="100000"/>
              <a:buChar char="–"/>
            </a:pPr>
            <a:r>
              <a:rPr lang="en-US" sz="1200" dirty="0">
                <a:solidFill>
                  <a:schemeClr val="tx1"/>
                </a:solidFill>
              </a:rPr>
              <a:t>Fast: parallel split search, histograms, GPU</a:t>
            </a:r>
            <a:endParaRPr lang="en-US" sz="1200" dirty="0"/>
          </a:p>
        </p:txBody>
      </p:sp>
      <p:sp>
        <p:nvSpPr>
          <p:cNvPr id="8" name="Text 133"/>
          <p:cNvSpPr txBox="1"/>
          <p:nvPr/>
        </p:nvSpPr>
        <p:spPr>
          <a:xfrm>
            <a:off x="5303520" y="2852928"/>
            <a:ext cx="342900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Limitations</a:t>
            </a:r>
            <a:endParaRPr lang="en-US" sz="1400" dirty="0"/>
          </a:p>
        </p:txBody>
      </p:sp>
      <p:sp>
        <p:nvSpPr>
          <p:cNvPr id="9" name="Bullets 134"/>
          <p:cNvSpPr txBox="1"/>
          <p:nvPr/>
        </p:nvSpPr>
        <p:spPr>
          <a:xfrm>
            <a:off x="5303520" y="3108960"/>
            <a:ext cx="3429000" cy="1645920"/>
          </a:xfrm>
          <a:prstGeom prst="rect">
            <a:avLst/>
          </a:prstGeom>
          <a:noFill/>
          <a:ln/>
        </p:spPr>
        <p:txBody>
          <a:bodyPr wrap="square" lIns="25400" tIns="25400" rIns="25400" bIns="25400" rtlCol="0" anchor="t"/>
          <a:lstStyle/>
          <a:p>
            <a:pPr marL="152400" indent="-152400">
              <a:lnSpc>
                <a:spcPct val="110000"/>
              </a:lnSpc>
              <a:spcAft>
                <a:spcPts val="400"/>
              </a:spcAft>
              <a:buSzPct val="100000"/>
              <a:buChar char="–"/>
            </a:pPr>
            <a:r>
              <a:rPr lang="en-US" sz="1200" dirty="0">
                <a:solidFill>
                  <a:schemeClr val="tx1"/>
                </a:solidFill>
              </a:rPr>
              <a:t>Many interacting hyperparameters to tune</a:t>
            </a:r>
            <a:endParaRPr lang="en-US" sz="1200" dirty="0"/>
          </a:p>
          <a:p>
            <a:pPr marL="152400" indent="-152400">
              <a:lnSpc>
                <a:spcPct val="110000"/>
              </a:lnSpc>
              <a:spcAft>
                <a:spcPts val="400"/>
              </a:spcAft>
              <a:buSzPct val="100000"/>
              <a:buChar char="–"/>
            </a:pPr>
            <a:r>
              <a:rPr lang="en-US" sz="1200" dirty="0">
                <a:solidFill>
                  <a:schemeClr val="tx1"/>
                </a:solidFill>
              </a:rPr>
              <a:t>Trees are built one at a time</a:t>
            </a:r>
            <a:endParaRPr lang="en-US" sz="1200" dirty="0"/>
          </a:p>
          <a:p>
            <a:pPr marL="152400" indent="-152400">
              <a:lnSpc>
                <a:spcPct val="110000"/>
              </a:lnSpc>
              <a:spcAft>
                <a:spcPts val="400"/>
              </a:spcAft>
              <a:buSzPct val="100000"/>
              <a:buChar char="–"/>
            </a:pPr>
            <a:r>
              <a:rPr lang="en-US" sz="1200" dirty="0">
                <a:solidFill>
                  <a:schemeClr val="tx1"/>
                </a:solidFill>
              </a:rPr>
              <a:t>Can overfit small or noisy data</a:t>
            </a:r>
            <a:endParaRPr lang="en-US" sz="1200" dirty="0"/>
          </a:p>
          <a:p>
            <a:pPr marL="152400" indent="-152400">
              <a:lnSpc>
                <a:spcPct val="110000"/>
              </a:lnSpc>
              <a:spcAft>
                <a:spcPts val="400"/>
              </a:spcAft>
              <a:buSzPct val="100000"/>
              <a:buChar char="–"/>
            </a:pPr>
            <a:r>
              <a:rPr lang="en-US" sz="1200" dirty="0">
                <a:solidFill>
                  <a:schemeClr val="tx1"/>
                </a:solidFill>
              </a:rPr>
              <a:t>Harder to interpret than one tree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EDA: Feature Scales and Correlation</a:t>
            </a:r>
            <a:endParaRPr lang="en-US" sz="2400" dirty="0"/>
          </a:p>
        </p:txBody>
      </p:sp>
      <p:sp>
        <p:nvSpPr>
          <p:cNvPr id="3" name="Text 135"/>
          <p:cNvSpPr txBox="1"/>
          <p:nvPr/>
        </p:nvSpPr>
        <p:spPr>
          <a:xfrm>
            <a:off x="429768" y="868680"/>
            <a:ext cx="393192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Feature scales</a:t>
            </a:r>
            <a:endParaRPr lang="en-US" sz="1400" dirty="0"/>
          </a:p>
        </p:txBody>
      </p:sp>
      <p:sp>
        <p:nvSpPr>
          <p:cNvPr id="4" name="Bullets 136"/>
          <p:cNvSpPr txBox="1"/>
          <p:nvPr/>
        </p:nvSpPr>
        <p:spPr>
          <a:xfrm>
            <a:off x="429768" y="1124712"/>
            <a:ext cx="3931920" cy="1600200"/>
          </a:xfrm>
          <a:prstGeom prst="rect">
            <a:avLst/>
          </a:prstGeom>
          <a:noFill/>
          <a:ln/>
        </p:spPr>
        <p:txBody>
          <a:bodyPr wrap="square" lIns="25400" tIns="25400" rIns="25400" bIns="25400" rtlCol="0" anchor="t"/>
          <a:lstStyle/>
          <a:p>
            <a:pPr marL="152400" indent="-152400">
              <a:lnSpc>
                <a:spcPct val="110000"/>
              </a:lnSpc>
              <a:spcAft>
                <a:spcPts val="400"/>
              </a:spcAft>
              <a:buSzPct val="100000"/>
              <a:buChar char="–"/>
            </a:pPr>
            <a:r>
              <a:rPr lang="en-US" sz="1200" dirty="0">
                <a:solidFill>
                  <a:schemeClr val="tx1"/>
                </a:solidFill>
              </a:rPr>
              <a:t>Standard deviations range from below 1 to about 10⁴</a:t>
            </a:r>
            <a:endParaRPr lang="en-US" sz="1200" dirty="0"/>
          </a:p>
          <a:p>
            <a:pPr marL="152400" indent="-152400">
              <a:lnSpc>
                <a:spcPct val="110000"/>
              </a:lnSpc>
              <a:spcAft>
                <a:spcPts val="400"/>
              </a:spcAft>
              <a:buSzPct val="100000"/>
              <a:buChar char="–"/>
            </a:pPr>
            <a:r>
              <a:rPr lang="en-US" sz="1200" dirty="0">
                <a:solidFill>
                  <a:schemeClr val="tx1"/>
                </a:solidFill>
              </a:rPr>
              <a:t>Logistic Regression needs scaling: StandardScaler in a pipeline, fit on training data only</a:t>
            </a:r>
            <a:endParaRPr lang="en-US" sz="1200" dirty="0"/>
          </a:p>
          <a:p>
            <a:pPr marL="152400" indent="-152400">
              <a:lnSpc>
                <a:spcPct val="110000"/>
              </a:lnSpc>
              <a:spcAft>
                <a:spcPts val="400"/>
              </a:spcAft>
              <a:buSzPct val="100000"/>
              <a:buChar char="–"/>
            </a:pPr>
            <a:r>
              <a:rPr lang="en-US" sz="1200" dirty="0">
                <a:solidFill>
                  <a:schemeClr val="tx1"/>
                </a:solidFill>
              </a:rPr>
              <a:t>Tree models split on thresholds, so XGBoost and the Decision Tree use raw values</a:t>
            </a:r>
            <a:endParaRPr lang="en-US" sz="1200" dirty="0"/>
          </a:p>
        </p:txBody>
      </p:sp>
      <p:sp>
        <p:nvSpPr>
          <p:cNvPr id="5" name="Text 137"/>
          <p:cNvSpPr txBox="1"/>
          <p:nvPr/>
        </p:nvSpPr>
        <p:spPr>
          <a:xfrm>
            <a:off x="429768" y="2788920"/>
            <a:ext cx="393192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Correlation</a:t>
            </a:r>
            <a:endParaRPr lang="en-US" sz="1400" dirty="0"/>
          </a:p>
        </p:txBody>
      </p:sp>
      <p:sp>
        <p:nvSpPr>
          <p:cNvPr id="6" name="Bullets 138"/>
          <p:cNvSpPr txBox="1"/>
          <p:nvPr/>
        </p:nvSpPr>
        <p:spPr>
          <a:xfrm>
            <a:off x="429768" y="3044952"/>
            <a:ext cx="3931920" cy="1280160"/>
          </a:xfrm>
          <a:prstGeom prst="rect">
            <a:avLst/>
          </a:prstGeom>
          <a:noFill/>
          <a:ln/>
        </p:spPr>
        <p:txBody>
          <a:bodyPr wrap="square" lIns="25400" tIns="25400" rIns="25400" bIns="25400" rtlCol="0" anchor="t"/>
          <a:lstStyle/>
          <a:p>
            <a:pPr marL="152400" indent="-152400">
              <a:lnSpc>
                <a:spcPct val="110000"/>
              </a:lnSpc>
              <a:spcAft>
                <a:spcPts val="400"/>
              </a:spcAft>
              <a:buSzPct val="100000"/>
              <a:buChar char="–"/>
            </a:pPr>
            <a:r>
              <a:rPr lang="en-US" sz="1200" dirty="0">
                <a:solidFill>
                  <a:schemeClr val="tx1"/>
                </a:solidFill>
              </a:rPr>
              <a:t>Features of one sensor are strongly correlated (|r| up to 0.95)</a:t>
            </a:r>
            <a:endParaRPr lang="en-US" sz="1200" dirty="0"/>
          </a:p>
          <a:p>
            <a:pPr marL="152400" indent="-152400">
              <a:lnSpc>
                <a:spcPct val="110000"/>
              </a:lnSpc>
              <a:spcAft>
                <a:spcPts val="400"/>
              </a:spcAft>
              <a:buSzPct val="100000"/>
              <a:buChar char="–"/>
            </a:pPr>
            <a:r>
              <a:rPr lang="en-US" sz="1200" dirty="0">
                <a:solidFill>
                  <a:schemeClr val="tx1"/>
                </a:solidFill>
              </a:rPr>
              <a:t>Only DR_norm carries different information</a:t>
            </a:r>
            <a:endParaRPr lang="en-US" sz="1200" dirty="0"/>
          </a:p>
          <a:p>
            <a:pPr marL="152400" indent="-152400">
              <a:lnSpc>
                <a:spcPct val="110000"/>
              </a:lnSpc>
              <a:spcAft>
                <a:spcPts val="400"/>
              </a:spcAft>
              <a:buSzPct val="100000"/>
              <a:buChar char="–"/>
            </a:pPr>
            <a:r>
              <a:rPr lang="en-US" sz="1200" dirty="0">
                <a:solidFill>
                  <a:schemeClr val="tx1"/>
                </a:solidFill>
              </a:rPr>
              <a:t>Redundant, but harmless for prediction</a:t>
            </a:r>
            <a:endParaRPr lang="en-US" sz="1200" dirty="0"/>
          </a:p>
        </p:txBody>
      </p:sp>
      <p:pic>
        <p:nvPicPr>
          <p:cNvPr id="7" name="Picture 139" descr="Standard deviation of all 128 features, log scale">    </p:cNvPr>
          <p:cNvPicPr>
            <a:picLocks noChangeAspect="1"/>
          </p:cNvPicPr>
          <p:nvPr/>
        </p:nvPicPr>
        <p:blipFill>
          <a:blip r:embed="rId1"/>
          <a:stretch>
            <a:fillRect/>
          </a:stretch>
        </p:blipFill>
        <p:spPr>
          <a:xfrm>
            <a:off x="5014810" y="868680"/>
            <a:ext cx="3229181" cy="1920240"/>
          </a:xfrm>
          <a:prstGeom prst="rect">
            <a:avLst/>
          </a:prstGeom>
        </p:spPr>
      </p:pic>
      <p:pic>
        <p:nvPicPr>
          <p:cNvPr id="8" name="Picture 140" descr="Correlation heatmap of sensor 1 features">    </p:cNvPr>
          <p:cNvPicPr>
            <a:picLocks noChangeAspect="1"/>
          </p:cNvPicPr>
          <p:nvPr/>
        </p:nvPicPr>
        <p:blipFill>
          <a:blip r:embed="rId2"/>
          <a:stretch>
            <a:fillRect/>
          </a:stretch>
        </p:blipFill>
        <p:spPr>
          <a:xfrm>
            <a:off x="4572000" y="2880360"/>
            <a:ext cx="2235954" cy="1874520"/>
          </a:xfrm>
          <a:prstGeom prst="rect">
            <a:avLst/>
          </a:prstGeom>
        </p:spPr>
      </p:pic>
      <p:sp>
        <p:nvSpPr>
          <p:cNvPr id="9" name="Text 141"/>
          <p:cNvSpPr txBox="1"/>
          <p:nvPr/>
        </p:nvSpPr>
        <p:spPr>
          <a:xfrm>
            <a:off x="6945114" y="3017520"/>
            <a:ext cx="1769118" cy="146304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Top: spread of all 128 features (log scale). The tall spikes are the DR features.</a:t>
            </a:r>
            <a:endParaRPr lang="en-US" sz="1000" dirty="0"/>
          </a:p>
          <a:p>
            <a:pPr indent="0" marL="0">
              <a:lnSpc>
                <a:spcPct val="115000"/>
              </a:lnSpc>
              <a:buNone/>
            </a:pPr>
            <a:endParaRPr lang="en-US" sz="1000" dirty="0"/>
          </a:p>
          <a:p>
            <a:pPr indent="0" marL="0">
              <a:lnSpc>
                <a:spcPct val="115000"/>
              </a:lnSpc>
              <a:buNone/>
            </a:pPr>
            <a:r>
              <a:rPr lang="en-US" sz="1000" dirty="0">
                <a:solidFill>
                  <a:schemeClr val="tx2"/>
                </a:solidFill>
              </a:rPr>
              <a:t>Left: correlation among the 8 features of sensor 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Model 1: Logistic Regression</a:t>
            </a:r>
            <a:endParaRPr lang="en-US" sz="2400" dirty="0"/>
          </a:p>
        </p:txBody>
      </p:sp>
      <p:sp>
        <p:nvSpPr>
          <p:cNvPr id="3" name="Text 142"/>
          <p:cNvSpPr txBox="1"/>
          <p:nvPr/>
        </p:nvSpPr>
        <p:spPr>
          <a:xfrm>
            <a:off x="429768" y="868680"/>
            <a:ext cx="3931920" cy="685800"/>
          </a:xfrm>
          <a:prstGeom prst="rect">
            <a:avLst/>
          </a:prstGeom>
          <a:noFill/>
          <a:ln/>
        </p:spPr>
        <p:txBody>
          <a:bodyPr wrap="square" lIns="25400" tIns="25400" rIns="25400" bIns="25400" rtlCol="0" anchor="t"/>
          <a:lstStyle/>
          <a:p>
            <a:pPr indent="0" marL="0">
              <a:lnSpc>
                <a:spcPct val="115000"/>
              </a:lnSpc>
              <a:buNone/>
            </a:pPr>
            <a:r>
              <a:rPr lang="en-US" sz="1200" dirty="0">
                <a:solidFill>
                  <a:schemeClr val="tx1"/>
                </a:solidFill>
              </a:rPr>
              <a:t>The baseline: multinomial Logistic Regression on all 128 scaled features (max_iter = 5000).</a:t>
            </a:r>
            <a:endParaRPr lang="en-US" sz="1200" dirty="0"/>
          </a:p>
        </p:txBody>
      </p:sp>
      <p:sp>
        <p:nvSpPr>
          <p:cNvPr id="4" name="Text 143"/>
          <p:cNvSpPr txBox="1"/>
          <p:nvPr/>
        </p:nvSpPr>
        <p:spPr>
          <a:xfrm>
            <a:off x="429768" y="1600200"/>
            <a:ext cx="393192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Results</a:t>
            </a:r>
            <a:endParaRPr lang="en-US" sz="1400" dirty="0"/>
          </a:p>
        </p:txBody>
      </p:sp>
      <p:sp>
        <p:nvSpPr>
          <p:cNvPr id="5" name="Bullets 144"/>
          <p:cNvSpPr txBox="1"/>
          <p:nvPr/>
        </p:nvSpPr>
        <p:spPr>
          <a:xfrm>
            <a:off x="429768" y="1856232"/>
            <a:ext cx="3931920" cy="1554480"/>
          </a:xfrm>
          <a:prstGeom prst="rect">
            <a:avLst/>
          </a:prstGeom>
          <a:noFill/>
          <a:ln/>
        </p:spPr>
        <p:txBody>
          <a:bodyPr wrap="square" lIns="25400" tIns="25400" rIns="25400" bIns="25400" rtlCol="0" anchor="t"/>
          <a:lstStyle/>
          <a:p>
            <a:pPr marL="152400" indent="-152400">
              <a:lnSpc>
                <a:spcPct val="110000"/>
              </a:lnSpc>
              <a:spcAft>
                <a:spcPts val="400"/>
              </a:spcAft>
              <a:buSzPct val="100000"/>
              <a:buChar char="–"/>
            </a:pPr>
            <a:r>
              <a:rPr lang="en-US" sz="1200" dirty="0">
                <a:solidFill>
                  <a:schemeClr val="tx1"/>
                </a:solidFill>
              </a:rPr>
              <a:t>Test accuracy = 99.25% (21 of 2,782 wrong)</a:t>
            </a:r>
            <a:endParaRPr lang="en-US" sz="1200" dirty="0"/>
          </a:p>
          <a:p>
            <a:pPr marL="152400" indent="-152400">
              <a:lnSpc>
                <a:spcPct val="110000"/>
              </a:lnSpc>
              <a:spcAft>
                <a:spcPts val="400"/>
              </a:spcAft>
              <a:buSzPct val="100000"/>
              <a:buChar char="–"/>
            </a:pPr>
            <a:r>
              <a:rPr lang="en-US" sz="1200" dirty="0">
                <a:solidFill>
                  <a:schemeClr val="tx1"/>
                </a:solidFill>
              </a:rPr>
              <a:t>Train 99.34% vs. test 99.25%: no overfitting</a:t>
            </a:r>
            <a:endParaRPr lang="en-US" sz="1200" dirty="0"/>
          </a:p>
          <a:p>
            <a:pPr marL="152400" indent="-152400">
              <a:lnSpc>
                <a:spcPct val="110000"/>
              </a:lnSpc>
              <a:spcAft>
                <a:spcPts val="400"/>
              </a:spcAft>
              <a:buSzPct val="100000"/>
              <a:buChar char="–"/>
            </a:pPr>
            <a:r>
              <a:rPr lang="en-US" sz="1200" dirty="0">
                <a:solidFill>
                  <a:schemeClr val="tx1"/>
                </a:solidFill>
              </a:rPr>
              <a:t>Balanced accuracy 99.18%: small classes are not neglected</a:t>
            </a:r>
            <a:endParaRPr lang="en-US" sz="1200" dirty="0"/>
          </a:p>
          <a:p>
            <a:pPr marL="152400" indent="-152400">
              <a:lnSpc>
                <a:spcPct val="110000"/>
              </a:lnSpc>
              <a:spcAft>
                <a:spcPts val="400"/>
              </a:spcAft>
              <a:buSzPct val="100000"/>
              <a:buChar char="–"/>
            </a:pPr>
            <a:r>
              <a:rPr lang="en-US" sz="1200" dirty="0">
                <a:solidFill>
                  <a:schemeClr val="tx1"/>
                </a:solidFill>
              </a:rPr>
              <a:t>The gases are nearly linearly separable: a high bar for XGBoost</a:t>
            </a:r>
            <a:endParaRPr lang="en-US" sz="1200" dirty="0"/>
          </a:p>
        </p:txBody>
      </p:sp>
      <p:pic>
        <p:nvPicPr>
          <p:cNvPr id="6" name="Picture 145" descr="Notebook output: metrics">    </p:cNvPr>
          <p:cNvPicPr>
            <a:picLocks noChangeAspect="1"/>
          </p:cNvPicPr>
          <p:nvPr/>
        </p:nvPicPr>
        <p:blipFill>
          <a:blip r:embed="rId1"/>
          <a:stretch>
            <a:fillRect/>
          </a:stretch>
        </p:blipFill>
        <p:spPr>
          <a:xfrm>
            <a:off x="429768" y="3520440"/>
            <a:ext cx="2741288" cy="1188720"/>
          </a:xfrm>
          <a:prstGeom prst="rect">
            <a:avLst/>
          </a:prstGeom>
        </p:spPr>
      </p:pic>
      <p:sp>
        <p:nvSpPr>
          <p:cNvPr id="7" name="Frame 146"/>
          <p:cNvSpPr/>
          <p:nvPr/>
        </p:nvSpPr>
        <p:spPr>
          <a:xfrm>
            <a:off x="429768" y="3520440"/>
            <a:ext cx="2741288" cy="1188720"/>
          </a:xfrm>
          <a:prstGeom prst="rect">
            <a:avLst/>
          </a:prstGeom>
          <a:noFill/>
          <a:ln w="9525">
            <a:solidFill>
              <a:srgbClr val="CCCCCC"/>
            </a:solidFill>
            <a:prstDash val="solid"/>
          </a:ln>
        </p:spPr>
      </p:sp>
      <p:pic>
        <p:nvPicPr>
          <p:cNvPr id="8" name="Picture 147" descr="Confusion matrix on the test set">    </p:cNvPr>
          <p:cNvPicPr>
            <a:picLocks noChangeAspect="1"/>
          </p:cNvPicPr>
          <p:nvPr/>
        </p:nvPicPr>
        <p:blipFill>
          <a:blip r:embed="rId2"/>
          <a:stretch>
            <a:fillRect/>
          </a:stretch>
        </p:blipFill>
        <p:spPr>
          <a:xfrm>
            <a:off x="5006232" y="868680"/>
            <a:ext cx="3365208" cy="3520440"/>
          </a:xfrm>
          <a:prstGeom prst="rect">
            <a:avLst/>
          </a:prstGeom>
        </p:spPr>
      </p:pic>
      <p:sp>
        <p:nvSpPr>
          <p:cNvPr id="9" name="Text 148"/>
          <p:cNvSpPr txBox="1"/>
          <p:nvPr/>
        </p:nvSpPr>
        <p:spPr>
          <a:xfrm>
            <a:off x="4663440" y="4425696"/>
            <a:ext cx="4050792" cy="32004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Confusion matrix on the test set. Most errors involve Ammonia and Acetone.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Model 2: Decision Tree</a:t>
            </a:r>
            <a:endParaRPr lang="en-US" sz="2400" dirty="0"/>
          </a:p>
        </p:txBody>
      </p:sp>
      <p:sp>
        <p:nvSpPr>
          <p:cNvPr id="3" name="Text 149"/>
          <p:cNvSpPr txBox="1"/>
          <p:nvPr/>
        </p:nvSpPr>
        <p:spPr>
          <a:xfrm>
            <a:off x="429768" y="868680"/>
            <a:ext cx="3931920" cy="685800"/>
          </a:xfrm>
          <a:prstGeom prst="rect">
            <a:avLst/>
          </a:prstGeom>
          <a:noFill/>
          <a:ln/>
        </p:spPr>
        <p:txBody>
          <a:bodyPr wrap="square" lIns="25400" tIns="25400" rIns="25400" bIns="25400" rtlCol="0" anchor="t"/>
          <a:lstStyle/>
          <a:p>
            <a:pPr indent="0" marL="0">
              <a:lnSpc>
                <a:spcPct val="115000"/>
              </a:lnSpc>
              <a:buNone/>
            </a:pPr>
            <a:r>
              <a:rPr lang="en-US" sz="1200" dirty="0">
                <a:solidFill>
                  <a:schemeClr val="tx1"/>
                </a:solidFill>
              </a:rPr>
              <a:t>A single tree with default settings: it grows until every leaf is pure. Unscaled features.</a:t>
            </a:r>
            <a:endParaRPr lang="en-US" sz="1200" dirty="0"/>
          </a:p>
        </p:txBody>
      </p:sp>
      <p:sp>
        <p:nvSpPr>
          <p:cNvPr id="4" name="Text 150"/>
          <p:cNvSpPr txBox="1"/>
          <p:nvPr/>
        </p:nvSpPr>
        <p:spPr>
          <a:xfrm>
            <a:off x="429768" y="1600200"/>
            <a:ext cx="393192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Results</a:t>
            </a:r>
            <a:endParaRPr lang="en-US" sz="1400" dirty="0"/>
          </a:p>
        </p:txBody>
      </p:sp>
      <p:sp>
        <p:nvSpPr>
          <p:cNvPr id="5" name="Bullets 151"/>
          <p:cNvSpPr txBox="1"/>
          <p:nvPr/>
        </p:nvSpPr>
        <p:spPr>
          <a:xfrm>
            <a:off x="429768" y="1856232"/>
            <a:ext cx="3931920" cy="1554480"/>
          </a:xfrm>
          <a:prstGeom prst="rect">
            <a:avLst/>
          </a:prstGeom>
          <a:noFill/>
          <a:ln/>
        </p:spPr>
        <p:txBody>
          <a:bodyPr wrap="square" lIns="25400" tIns="25400" rIns="25400" bIns="25400" rtlCol="0" anchor="t"/>
          <a:lstStyle/>
          <a:p>
            <a:pPr marL="152400" indent="-152400">
              <a:lnSpc>
                <a:spcPct val="110000"/>
              </a:lnSpc>
              <a:spcAft>
                <a:spcPts val="400"/>
              </a:spcAft>
              <a:buSzPct val="100000"/>
              <a:buChar char="–"/>
            </a:pPr>
            <a:r>
              <a:rPr lang="en-US" sz="1200" dirty="0">
                <a:solidFill>
                  <a:schemeClr val="tx1"/>
                </a:solidFill>
              </a:rPr>
              <a:t>Test accuracy = 97.23% (77 errors): the weakest model</a:t>
            </a:r>
            <a:endParaRPr lang="en-US" sz="1200" dirty="0"/>
          </a:p>
          <a:p>
            <a:pPr marL="152400" indent="-152400">
              <a:lnSpc>
                <a:spcPct val="110000"/>
              </a:lnSpc>
              <a:spcAft>
                <a:spcPts val="400"/>
              </a:spcAft>
              <a:buSzPct val="100000"/>
              <a:buChar char="–"/>
            </a:pPr>
            <a:r>
              <a:rPr lang="en-US" sz="1200" dirty="0">
                <a:solidFill>
                  <a:schemeClr val="tx1"/>
                </a:solidFill>
              </a:rPr>
              <a:t>Train 100% vs. test 97.23%: the tree overfits</a:t>
            </a:r>
            <a:endParaRPr lang="en-US" sz="1200" dirty="0"/>
          </a:p>
          <a:p>
            <a:pPr marL="152400" indent="-152400">
              <a:lnSpc>
                <a:spcPct val="110000"/>
              </a:lnSpc>
              <a:spcAft>
                <a:spcPts val="400"/>
              </a:spcAft>
              <a:buSzPct val="100000"/>
              <a:buChar char="–"/>
            </a:pPr>
            <a:r>
              <a:rPr lang="en-US" sz="1200" dirty="0">
                <a:solidFill>
                  <a:schemeClr val="tx1"/>
                </a:solidFill>
              </a:rPr>
              <a:t>Depth 22 with 267 leaves: many leaves fit only a few points</a:t>
            </a:r>
            <a:endParaRPr lang="en-US" sz="1200" dirty="0"/>
          </a:p>
          <a:p>
            <a:pPr marL="152400" indent="-152400">
              <a:lnSpc>
                <a:spcPct val="110000"/>
              </a:lnSpc>
              <a:spcAft>
                <a:spcPts val="400"/>
              </a:spcAft>
              <a:buSzPct val="100000"/>
              <a:buChar char="–"/>
            </a:pPr>
            <a:r>
              <a:rPr lang="en-US" sz="1200" dirty="0">
                <a:solidFill>
                  <a:schemeClr val="tx1"/>
                </a:solidFill>
              </a:rPr>
              <a:t>Confuses Acetaldehyde with Ethanol and Toluene</a:t>
            </a:r>
            <a:endParaRPr lang="en-US" sz="1200" dirty="0"/>
          </a:p>
        </p:txBody>
      </p:sp>
      <p:pic>
        <p:nvPicPr>
          <p:cNvPr id="6" name="Picture 152" descr="Notebook output: metrics">    </p:cNvPr>
          <p:cNvPicPr>
            <a:picLocks noChangeAspect="1"/>
          </p:cNvPicPr>
          <p:nvPr/>
        </p:nvPicPr>
        <p:blipFill>
          <a:blip r:embed="rId1"/>
          <a:stretch>
            <a:fillRect/>
          </a:stretch>
        </p:blipFill>
        <p:spPr>
          <a:xfrm>
            <a:off x="429768" y="3520440"/>
            <a:ext cx="2635071" cy="1188720"/>
          </a:xfrm>
          <a:prstGeom prst="rect">
            <a:avLst/>
          </a:prstGeom>
        </p:spPr>
      </p:pic>
      <p:sp>
        <p:nvSpPr>
          <p:cNvPr id="7" name="Frame 153"/>
          <p:cNvSpPr/>
          <p:nvPr/>
        </p:nvSpPr>
        <p:spPr>
          <a:xfrm>
            <a:off x="429768" y="3520440"/>
            <a:ext cx="2635071" cy="1188720"/>
          </a:xfrm>
          <a:prstGeom prst="rect">
            <a:avLst/>
          </a:prstGeom>
          <a:noFill/>
          <a:ln w="9525">
            <a:solidFill>
              <a:srgbClr val="CCCCCC"/>
            </a:solidFill>
            <a:prstDash val="solid"/>
          </a:ln>
        </p:spPr>
      </p:sp>
      <p:pic>
        <p:nvPicPr>
          <p:cNvPr id="8" name="Picture 154" descr="Confusion matrix on the test set">    </p:cNvPr>
          <p:cNvPicPr>
            <a:picLocks noChangeAspect="1"/>
          </p:cNvPicPr>
          <p:nvPr/>
        </p:nvPicPr>
        <p:blipFill>
          <a:blip r:embed="rId2"/>
          <a:stretch>
            <a:fillRect/>
          </a:stretch>
        </p:blipFill>
        <p:spPr>
          <a:xfrm>
            <a:off x="5064444" y="868680"/>
            <a:ext cx="3248784" cy="3520440"/>
          </a:xfrm>
          <a:prstGeom prst="rect">
            <a:avLst/>
          </a:prstGeom>
        </p:spPr>
      </p:pic>
      <p:sp>
        <p:nvSpPr>
          <p:cNvPr id="9" name="Text 155"/>
          <p:cNvSpPr txBox="1"/>
          <p:nvPr/>
        </p:nvSpPr>
        <p:spPr>
          <a:xfrm>
            <a:off x="4663440" y="4425696"/>
            <a:ext cx="4050792" cy="32004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Confusion matrix on the test set: errors are spread across many classes.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Model 3: XGBoost, Tuning</a:t>
            </a:r>
            <a:endParaRPr lang="en-US" sz="2400" dirty="0"/>
          </a:p>
        </p:txBody>
      </p:sp>
      <p:sp>
        <p:nvSpPr>
          <p:cNvPr id="3" name="Text 156"/>
          <p:cNvSpPr txBox="1"/>
          <p:nvPr/>
        </p:nvSpPr>
        <p:spPr>
          <a:xfrm>
            <a:off x="429768" y="841248"/>
            <a:ext cx="265176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1. Trees and learning rate</a:t>
            </a:r>
            <a:endParaRPr lang="en-US" sz="1400" dirty="0"/>
          </a:p>
        </p:txBody>
      </p:sp>
      <p:pic>
        <p:nvPicPr>
          <p:cNvPr id="4" name="Picture 157" descr="1. Trees and learning rate">    </p:cNvPr>
          <p:cNvPicPr>
            <a:picLocks noChangeAspect="1"/>
          </p:cNvPicPr>
          <p:nvPr/>
        </p:nvPicPr>
        <p:blipFill>
          <a:blip r:embed="rId1"/>
          <a:stretch>
            <a:fillRect/>
          </a:stretch>
        </p:blipFill>
        <p:spPr>
          <a:xfrm>
            <a:off x="429768" y="1143000"/>
            <a:ext cx="2651760" cy="1565158"/>
          </a:xfrm>
          <a:prstGeom prst="rect">
            <a:avLst/>
          </a:prstGeom>
        </p:spPr>
      </p:pic>
      <p:sp>
        <p:nvSpPr>
          <p:cNvPr id="5" name="Text 158"/>
          <p:cNvSpPr txBox="1"/>
          <p:nvPr/>
        </p:nvSpPr>
        <p:spPr>
          <a:xfrm>
            <a:off x="429768" y="2788920"/>
            <a:ext cx="2651760" cy="68580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All 3 learning rates reach 0.72% validation error. 0.1 needs about 137 trees. Chosen: 0.1 with 300 trees.</a:t>
            </a:r>
            <a:endParaRPr lang="en-US" sz="1000" dirty="0"/>
          </a:p>
        </p:txBody>
      </p:sp>
      <p:sp>
        <p:nvSpPr>
          <p:cNvPr id="6" name="Text 159"/>
          <p:cNvSpPr txBox="1"/>
          <p:nvPr/>
        </p:nvSpPr>
        <p:spPr>
          <a:xfrm>
            <a:off x="3246120" y="841248"/>
            <a:ext cx="265176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2. Tree depth</a:t>
            </a:r>
            <a:endParaRPr lang="en-US" sz="1400" dirty="0"/>
          </a:p>
        </p:txBody>
      </p:sp>
      <p:pic>
        <p:nvPicPr>
          <p:cNvPr id="7" name="Picture 160" descr="2. Tree depth">    </p:cNvPr>
          <p:cNvPicPr>
            <a:picLocks noChangeAspect="1"/>
          </p:cNvPicPr>
          <p:nvPr/>
        </p:nvPicPr>
        <p:blipFill>
          <a:blip r:embed="rId2"/>
          <a:stretch>
            <a:fillRect/>
          </a:stretch>
        </p:blipFill>
        <p:spPr>
          <a:xfrm>
            <a:off x="3246120" y="1143000"/>
            <a:ext cx="2651760" cy="1547092"/>
          </a:xfrm>
          <a:prstGeom prst="rect">
            <a:avLst/>
          </a:prstGeom>
        </p:spPr>
      </p:pic>
      <p:sp>
        <p:nvSpPr>
          <p:cNvPr id="8" name="Text 161"/>
          <p:cNvSpPr txBox="1"/>
          <p:nvPr/>
        </p:nvSpPr>
        <p:spPr>
          <a:xfrm>
            <a:off x="3246120" y="2788920"/>
            <a:ext cx="2651760" cy="68580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Best CV F1 at depth 3 (0.9926). Depth 2 underfits; deeper trees don't help.</a:t>
            </a:r>
            <a:endParaRPr lang="en-US" sz="1000" dirty="0"/>
          </a:p>
        </p:txBody>
      </p:sp>
      <p:sp>
        <p:nvSpPr>
          <p:cNvPr id="9" name="Text 162"/>
          <p:cNvSpPr txBox="1"/>
          <p:nvPr/>
        </p:nvSpPr>
        <p:spPr>
          <a:xfrm>
            <a:off x="6062472" y="841248"/>
            <a:ext cx="265176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3. Row and feature sampling</a:t>
            </a:r>
            <a:endParaRPr lang="en-US" sz="1400" dirty="0"/>
          </a:p>
        </p:txBody>
      </p:sp>
      <p:pic>
        <p:nvPicPr>
          <p:cNvPr id="10" name="Picture 163" descr="3. Row and feature sampling">    </p:cNvPr>
          <p:cNvPicPr>
            <a:picLocks noChangeAspect="1"/>
          </p:cNvPicPr>
          <p:nvPr/>
        </p:nvPicPr>
        <p:blipFill>
          <a:blip r:embed="rId3"/>
          <a:stretch>
            <a:fillRect/>
          </a:stretch>
        </p:blipFill>
        <p:spPr>
          <a:xfrm>
            <a:off x="6062472" y="1143000"/>
            <a:ext cx="2651760" cy="1213372"/>
          </a:xfrm>
          <a:prstGeom prst="rect">
            <a:avLst/>
          </a:prstGeom>
        </p:spPr>
      </p:pic>
      <p:sp>
        <p:nvSpPr>
          <p:cNvPr id="11" name="Frame 164"/>
          <p:cNvSpPr/>
          <p:nvPr/>
        </p:nvSpPr>
        <p:spPr>
          <a:xfrm>
            <a:off x="6062472" y="1143000"/>
            <a:ext cx="2651760" cy="1213372"/>
          </a:xfrm>
          <a:prstGeom prst="rect">
            <a:avLst/>
          </a:prstGeom>
          <a:noFill/>
          <a:ln w="9525">
            <a:solidFill>
              <a:srgbClr val="CCCCCC"/>
            </a:solidFill>
            <a:prstDash val="solid"/>
          </a:ln>
        </p:spPr>
      </p:sp>
      <p:sp>
        <p:nvSpPr>
          <p:cNvPr id="12" name="Text 165"/>
          <p:cNvSpPr txBox="1"/>
          <p:nvPr/>
        </p:nvSpPr>
        <p:spPr>
          <a:xfrm>
            <a:off x="6062472" y="2788920"/>
            <a:ext cx="2651760" cy="68580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70% of rows and 50% of features per tree: CV F1 0.9933, a gain within the fold-to-fold noise.</a:t>
            </a:r>
            <a:endParaRPr lang="en-US" sz="1000" dirty="0"/>
          </a:p>
        </p:txBody>
      </p:sp>
      <p:sp>
        <p:nvSpPr>
          <p:cNvPr id="13" name="Callout 166"/>
          <p:cNvSpPr/>
          <p:nvPr/>
        </p:nvSpPr>
        <p:spPr>
          <a:xfrm>
            <a:off x="429768" y="3657600"/>
            <a:ext cx="8284464" cy="685800"/>
          </a:xfrm>
          <a:prstGeom prst="rect">
            <a:avLst/>
          </a:prstGeom>
          <a:solidFill>
            <a:schemeClr val="bg2"/>
          </a:solidFill>
          <a:ln w="12700">
            <a:solidFill>
              <a:schemeClr val="bg2"/>
            </a:solidFill>
            <a:prstDash val="solid"/>
          </a:ln>
        </p:spPr>
      </p:sp>
      <p:sp>
        <p:nvSpPr>
          <p:cNvPr id="14" name="Callout text 167"/>
          <p:cNvSpPr txBox="1"/>
          <p:nvPr/>
        </p:nvSpPr>
        <p:spPr>
          <a:xfrm>
            <a:off x="521208" y="3712464"/>
            <a:ext cx="8101584" cy="576072"/>
          </a:xfrm>
          <a:prstGeom prst="rect">
            <a:avLst/>
          </a:prstGeom>
          <a:noFill/>
          <a:ln/>
        </p:spPr>
        <p:txBody>
          <a:bodyPr wrap="square" lIns="25400" tIns="25400" rIns="25400" bIns="25400" rtlCol="0" anchor="t"/>
          <a:lstStyle/>
          <a:p>
            <a:pPr indent="0" marL="0">
              <a:lnSpc>
                <a:spcPct val="110000"/>
              </a:lnSpc>
              <a:buNone/>
            </a:pPr>
            <a:r>
              <a:rPr lang="en-US" sz="1200" b="1" dirty="0">
                <a:solidFill>
                  <a:schemeClr val="tx1"/>
                </a:solidFill>
              </a:rPr>
              <a:t>How it was tuned</a:t>
            </a:r>
            <a:endParaRPr lang="en-US" sz="1200" dirty="0"/>
          </a:p>
          <a:p>
            <a:pPr indent="0" marL="0">
              <a:lnSpc>
                <a:spcPct val="110000"/>
              </a:lnSpc>
              <a:buNone/>
            </a:pPr>
            <a:r>
              <a:rPr lang="en-US" sz="1200" dirty="0">
                <a:solidFill>
                  <a:schemeClr val="tx1"/>
                </a:solidFill>
              </a:rPr>
              <a:t>Cross-validation on the training set only (3-fold, stratified), one parameter group at a time. The test set was used once, for the final model.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Model 3: XGBoost, Final Model</a:t>
            </a:r>
            <a:endParaRPr lang="en-US" sz="2400" dirty="0"/>
          </a:p>
        </p:txBody>
      </p:sp>
      <p:sp>
        <p:nvSpPr>
          <p:cNvPr id="3" name="Text 168"/>
          <p:cNvSpPr txBox="1"/>
          <p:nvPr/>
        </p:nvSpPr>
        <p:spPr>
          <a:xfrm>
            <a:off x="429768" y="868680"/>
            <a:ext cx="3931920" cy="685800"/>
          </a:xfrm>
          <a:prstGeom prst="rect">
            <a:avLst/>
          </a:prstGeom>
          <a:noFill/>
          <a:ln/>
        </p:spPr>
        <p:txBody>
          <a:bodyPr wrap="square" lIns="25400" tIns="25400" rIns="25400" bIns="25400" rtlCol="0" anchor="t"/>
          <a:lstStyle/>
          <a:p>
            <a:pPr indent="0" marL="0">
              <a:lnSpc>
                <a:spcPct val="115000"/>
              </a:lnSpc>
              <a:buNone/>
            </a:pPr>
            <a:r>
              <a:rPr lang="en-US" sz="1200" dirty="0">
                <a:solidFill>
                  <a:schemeClr val="tx1"/>
                </a:solidFill>
              </a:rPr>
              <a:t>Retrained on the full training set: 300 trees, learning rate 0.1, depth 3, subsample 0.7, colsample_bytree 0.5.</a:t>
            </a:r>
            <a:endParaRPr lang="en-US" sz="1200" dirty="0"/>
          </a:p>
        </p:txBody>
      </p:sp>
      <p:sp>
        <p:nvSpPr>
          <p:cNvPr id="4" name="Text 169"/>
          <p:cNvSpPr txBox="1"/>
          <p:nvPr/>
        </p:nvSpPr>
        <p:spPr>
          <a:xfrm>
            <a:off x="429768" y="1600200"/>
            <a:ext cx="393192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Results</a:t>
            </a:r>
            <a:endParaRPr lang="en-US" sz="1400" dirty="0"/>
          </a:p>
        </p:txBody>
      </p:sp>
      <p:sp>
        <p:nvSpPr>
          <p:cNvPr id="5" name="Bullets 170"/>
          <p:cNvSpPr txBox="1"/>
          <p:nvPr/>
        </p:nvSpPr>
        <p:spPr>
          <a:xfrm>
            <a:off x="429768" y="1856232"/>
            <a:ext cx="3931920" cy="1554480"/>
          </a:xfrm>
          <a:prstGeom prst="rect">
            <a:avLst/>
          </a:prstGeom>
          <a:noFill/>
          <a:ln/>
        </p:spPr>
        <p:txBody>
          <a:bodyPr wrap="square" lIns="25400" tIns="25400" rIns="25400" bIns="25400" rtlCol="0" anchor="t"/>
          <a:lstStyle/>
          <a:p>
            <a:pPr marL="152400" indent="-152400">
              <a:lnSpc>
                <a:spcPct val="110000"/>
              </a:lnSpc>
              <a:spcAft>
                <a:spcPts val="400"/>
              </a:spcAft>
              <a:buSzPct val="100000"/>
              <a:buChar char="–"/>
            </a:pPr>
            <a:r>
              <a:rPr lang="en-US" sz="1200" dirty="0">
                <a:solidFill>
                  <a:schemeClr val="tx1"/>
                </a:solidFill>
              </a:rPr>
              <a:t>Test accuracy = 99.46% (15 errors): the best model</a:t>
            </a:r>
            <a:endParaRPr lang="en-US" sz="1200" dirty="0"/>
          </a:p>
          <a:p>
            <a:pPr marL="152400" indent="-152400">
              <a:lnSpc>
                <a:spcPct val="110000"/>
              </a:lnSpc>
              <a:spcAft>
                <a:spcPts val="400"/>
              </a:spcAft>
              <a:buSzPct val="100000"/>
              <a:buChar char="–"/>
            </a:pPr>
            <a:r>
              <a:rPr lang="en-US" sz="1200" dirty="0">
                <a:solidFill>
                  <a:schemeClr val="tx1"/>
                </a:solidFill>
              </a:rPr>
              <a:t>Train 100%, but the test score stays high: many shallow trees generalize better than one deep tree</a:t>
            </a:r>
            <a:endParaRPr lang="en-US" sz="1200" dirty="0"/>
          </a:p>
          <a:p>
            <a:pPr marL="152400" indent="-152400">
              <a:lnSpc>
                <a:spcPct val="110000"/>
              </a:lnSpc>
              <a:spcAft>
                <a:spcPts val="400"/>
              </a:spcAft>
              <a:buSzPct val="100000"/>
              <a:buChar char="–"/>
            </a:pPr>
            <a:r>
              <a:rPr lang="en-US" sz="1200" dirty="0">
                <a:solidFill>
                  <a:schemeClr val="tx1"/>
                </a:solidFill>
              </a:rPr>
              <a:t>Balanced accuracy 99.42%, macro F1 99.45%</a:t>
            </a:r>
            <a:endParaRPr lang="en-US" sz="1200" dirty="0"/>
          </a:p>
          <a:p>
            <a:pPr marL="152400" indent="-152400">
              <a:lnSpc>
                <a:spcPct val="110000"/>
              </a:lnSpc>
              <a:spcAft>
                <a:spcPts val="400"/>
              </a:spcAft>
              <a:buSzPct val="100000"/>
              <a:buChar char="–"/>
            </a:pPr>
            <a:r>
              <a:rPr lang="en-US" sz="1200" dirty="0">
                <a:solidFill>
                  <a:schemeClr val="tx1"/>
                </a:solidFill>
              </a:rPr>
              <a:t>Misses only 4 Ammonia measurements</a:t>
            </a:r>
            <a:endParaRPr lang="en-US" sz="1200" dirty="0"/>
          </a:p>
        </p:txBody>
      </p:sp>
      <p:pic>
        <p:nvPicPr>
          <p:cNvPr id="6" name="Picture 171" descr="Notebook output: metrics">    </p:cNvPr>
          <p:cNvPicPr>
            <a:picLocks noChangeAspect="1"/>
          </p:cNvPicPr>
          <p:nvPr/>
        </p:nvPicPr>
        <p:blipFill>
          <a:blip r:embed="rId1"/>
          <a:stretch>
            <a:fillRect/>
          </a:stretch>
        </p:blipFill>
        <p:spPr>
          <a:xfrm>
            <a:off x="429768" y="3520440"/>
            <a:ext cx="2082324" cy="1188720"/>
          </a:xfrm>
          <a:prstGeom prst="rect">
            <a:avLst/>
          </a:prstGeom>
        </p:spPr>
      </p:pic>
      <p:sp>
        <p:nvSpPr>
          <p:cNvPr id="7" name="Frame 172"/>
          <p:cNvSpPr/>
          <p:nvPr/>
        </p:nvSpPr>
        <p:spPr>
          <a:xfrm>
            <a:off x="429768" y="3520440"/>
            <a:ext cx="2082324" cy="1188720"/>
          </a:xfrm>
          <a:prstGeom prst="rect">
            <a:avLst/>
          </a:prstGeom>
          <a:noFill/>
          <a:ln w="9525">
            <a:solidFill>
              <a:srgbClr val="CCCCCC"/>
            </a:solidFill>
            <a:prstDash val="solid"/>
          </a:ln>
        </p:spPr>
      </p:sp>
      <p:pic>
        <p:nvPicPr>
          <p:cNvPr id="8" name="Picture 173" descr="Confusion matrix on the test set">    </p:cNvPr>
          <p:cNvPicPr>
            <a:picLocks noChangeAspect="1"/>
          </p:cNvPicPr>
          <p:nvPr/>
        </p:nvPicPr>
        <p:blipFill>
          <a:blip r:embed="rId2"/>
          <a:stretch>
            <a:fillRect/>
          </a:stretch>
        </p:blipFill>
        <p:spPr>
          <a:xfrm>
            <a:off x="5053356" y="868680"/>
            <a:ext cx="3270960" cy="3520440"/>
          </a:xfrm>
          <a:prstGeom prst="rect">
            <a:avLst/>
          </a:prstGeom>
        </p:spPr>
      </p:pic>
      <p:sp>
        <p:nvSpPr>
          <p:cNvPr id="9" name="Text 174"/>
          <p:cNvSpPr txBox="1"/>
          <p:nvPr/>
        </p:nvSpPr>
        <p:spPr>
          <a:xfrm>
            <a:off x="4663440" y="4425696"/>
            <a:ext cx="4050792" cy="32004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Confusion matrix on the test set: no gas has more than 4 errors.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Model Comparison</a:t>
            </a:r>
            <a:endParaRPr lang="en-US" sz="2400" dirty="0"/>
          </a:p>
        </p:txBody>
      </p:sp>
      <p:graphicFrame>
        <p:nvGraphicFramePr>
          <p:cNvPr id="14" name="Table 175"/>
          <p:cNvGraphicFramePr>
            <a:graphicFrameLocks noGrp="1"/>
          </p:cNvGraphicFramePr>
          <p:nvPr>
            <p:extLst>
              <p:ext uri="{D42A27DB-BD31-4B8C-83A1-F6EECF244321}">
                <p14:modId xmlns:p14="http://schemas.microsoft.com/office/powerpoint/2010/main" val="1579011935"/>
              </p:ext>
            </p:extLst>
          </p:nvPr>
        </p:nvGraphicFramePr>
        <p:xfrm>
          <a:off x="429768" y="896112"/>
          <a:ext cx="3931920" cy="914400"/>
        </p:xfrm>
        <a:graphic>
          <a:graphicData uri="http://schemas.openxmlformats.org/drawingml/2006/table">
            <a:tbl>
              <a:tblPr/>
              <a:tblGrid>
                <a:gridCol w="1371600"/>
                <a:gridCol w="685800"/>
                <a:gridCol w="658368"/>
                <a:gridCol w="685800"/>
                <a:gridCol w="530352"/>
              </a:tblGrid>
              <a:tr h="256032">
                <a:tc>
                  <a:txBody>
                    <a:bodyPr/>
                    <a:lstStyle/>
                    <a:p>
                      <a:pPr algn="l" indent="0" marL="0">
                        <a:buNone/>
                      </a:pPr>
                      <a:r>
                        <a:rPr lang="en-US" sz="1050" b="1" dirty="0">
                          <a:solidFill>
                            <a:schemeClr val="tx1"/>
                          </a:solidFill>
                        </a:rPr>
                        <a:t>Model</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050" b="1" dirty="0">
                          <a:solidFill>
                            <a:schemeClr val="tx1"/>
                          </a:solidFill>
                        </a:rPr>
                        <a:t>Accuracy</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050" b="1" dirty="0">
                          <a:solidFill>
                            <a:schemeClr val="tx1"/>
                          </a:solidFill>
                        </a:rPr>
                        <a:t>Bal. acc.</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050" b="1" dirty="0">
                          <a:solidFill>
                            <a:schemeClr val="tx1"/>
                          </a:solidFill>
                        </a:rPr>
                        <a:t>Macro F1</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algn="r" indent="0" marL="0">
                        <a:buNone/>
                      </a:pPr>
                      <a:r>
                        <a:rPr lang="en-US" sz="1050" b="1" dirty="0">
                          <a:solidFill>
                            <a:schemeClr val="tx1"/>
                          </a:solidFill>
                        </a:rPr>
                        <a:t>Errors</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256032">
                <a:tc>
                  <a:txBody>
                    <a:bodyPr/>
                    <a:lstStyle/>
                    <a:p>
                      <a:pPr algn="l" indent="0" marL="0">
                        <a:buNone/>
                      </a:pPr>
                      <a:r>
                        <a:rPr lang="en-US" sz="1050" dirty="0">
                          <a:solidFill>
                            <a:schemeClr val="tx1"/>
                          </a:solidFill>
                        </a:rPr>
                        <a:t>Logistic Regression</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050" dirty="0">
                          <a:solidFill>
                            <a:schemeClr val="tx1"/>
                          </a:solidFill>
                        </a:rPr>
                        <a:t>0.9925</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050" dirty="0">
                          <a:solidFill>
                            <a:schemeClr val="tx1"/>
                          </a:solidFill>
                        </a:rPr>
                        <a:t>0.9918</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050" dirty="0">
                          <a:solidFill>
                            <a:schemeClr val="tx1"/>
                          </a:solidFill>
                        </a:rPr>
                        <a:t>0.9924</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050" dirty="0">
                          <a:solidFill>
                            <a:schemeClr val="tx1"/>
                          </a:solidFill>
                        </a:rPr>
                        <a:t>21</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56032">
                <a:tc>
                  <a:txBody>
                    <a:bodyPr/>
                    <a:lstStyle/>
                    <a:p>
                      <a:pPr algn="l" indent="0" marL="0">
                        <a:buNone/>
                      </a:pPr>
                      <a:r>
                        <a:rPr lang="en-US" sz="1050" dirty="0">
                          <a:solidFill>
                            <a:schemeClr val="tx1"/>
                          </a:solidFill>
                        </a:rPr>
                        <a:t>Decision Tree</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050" dirty="0">
                          <a:solidFill>
                            <a:schemeClr val="tx1"/>
                          </a:solidFill>
                        </a:rPr>
                        <a:t>0.9723</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050" dirty="0">
                          <a:solidFill>
                            <a:schemeClr val="tx1"/>
                          </a:solidFill>
                        </a:rPr>
                        <a:t>0.9702</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050" dirty="0">
                          <a:solidFill>
                            <a:schemeClr val="tx1"/>
                          </a:solidFill>
                        </a:rPr>
                        <a:t>0.9705</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050" dirty="0">
                          <a:solidFill>
                            <a:schemeClr val="tx1"/>
                          </a:solidFill>
                        </a:rPr>
                        <a:t>77</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r h="256032">
                <a:tc>
                  <a:txBody>
                    <a:bodyPr/>
                    <a:lstStyle/>
                    <a:p>
                      <a:pPr algn="l" indent="0" marL="0">
                        <a:buNone/>
                      </a:pPr>
                      <a:r>
                        <a:rPr lang="en-US" sz="1050" b="1" dirty="0">
                          <a:solidFill>
                            <a:schemeClr val="tx1"/>
                          </a:solidFill>
                        </a:rPr>
                        <a:t>XGBoost</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050" b="1" dirty="0">
                          <a:solidFill>
                            <a:schemeClr val="tx1"/>
                          </a:solidFill>
                        </a:rPr>
                        <a:t>0.9946</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050" b="1" dirty="0">
                          <a:solidFill>
                            <a:schemeClr val="tx1"/>
                          </a:solidFill>
                        </a:rPr>
                        <a:t>0.9942</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050" b="1" dirty="0">
                          <a:solidFill>
                            <a:schemeClr val="tx1"/>
                          </a:solidFill>
                        </a:rPr>
                        <a:t>0.9945</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c>
                  <a:txBody>
                    <a:bodyPr/>
                    <a:lstStyle/>
                    <a:p>
                      <a:pPr algn="r" indent="0" marL="0">
                        <a:buNone/>
                      </a:pPr>
                      <a:r>
                        <a:rPr lang="en-US" sz="1050" b="1" dirty="0">
                          <a:solidFill>
                            <a:schemeClr val="tx1"/>
                          </a:solidFill>
                        </a:rPr>
                        <a:t>15</a:t>
                      </a:r>
                      <a:endParaRPr lang="en-US" sz="1050" dirty="0"/>
                    </a:p>
                  </a:txBody>
                  <a:tcPr marL="50800" marR="50800" marT="25400" marB="25400" anchor="ctr">
                    <a:lnL w="0" cap="flat" cmpd="sng" algn="ctr">
                      <a:noFill/>
                    </a:lnL>
                    <a:lnR w="0" cap="flat" cmpd="sng" algn="ctr">
                      <a:noFill/>
                    </a:lnR>
                    <a:lnT w="0" cap="flat" cmpd="sng" algn="ctr">
                      <a:noFill/>
                    </a:lnT>
                    <a:lnB w="9525" cap="flat" cmpd="sng" algn="ctr">
                      <a:solidFill>
                        <a:srgbClr val="DDDDDD"/>
                      </a:solidFill>
                      <a:prstDash val="solid"/>
                      <a:round/>
                      <a:headEnd type="none" w="med" len="med"/>
                      <a:tailEnd type="none" w="med" len="med"/>
                    </a:lnB>
                  </a:tcPr>
                </a:tc>
              </a:tr>
            </a:tbl>
          </a:graphicData>
        </a:graphic>
      </p:graphicFrame>
      <p:sp>
        <p:nvSpPr>
          <p:cNvPr id="4" name="Bullets 176"/>
          <p:cNvSpPr txBox="1"/>
          <p:nvPr/>
        </p:nvSpPr>
        <p:spPr>
          <a:xfrm>
            <a:off x="429768" y="2103120"/>
            <a:ext cx="3931920" cy="1828800"/>
          </a:xfrm>
          <a:prstGeom prst="rect">
            <a:avLst/>
          </a:prstGeom>
          <a:noFill/>
          <a:ln/>
        </p:spPr>
        <p:txBody>
          <a:bodyPr wrap="square" lIns="25400" tIns="25400" rIns="25400" bIns="25400" rtlCol="0" anchor="t"/>
          <a:lstStyle/>
          <a:p>
            <a:pPr marL="152400" indent="-152400">
              <a:lnSpc>
                <a:spcPct val="110000"/>
              </a:lnSpc>
              <a:spcAft>
                <a:spcPts val="400"/>
              </a:spcAft>
              <a:buSzPct val="100000"/>
              <a:buChar char="–"/>
            </a:pPr>
            <a:r>
              <a:rPr lang="en-US" sz="1200" dirty="0">
                <a:solidFill>
                  <a:schemeClr val="tx1"/>
                </a:solidFill>
              </a:rPr>
              <a:t>XGBoost is the best model on every metric</a:t>
            </a:r>
            <a:endParaRPr lang="en-US" sz="1200" dirty="0"/>
          </a:p>
          <a:p>
            <a:pPr marL="152400" indent="-152400">
              <a:lnSpc>
                <a:spcPct val="110000"/>
              </a:lnSpc>
              <a:spcAft>
                <a:spcPts val="400"/>
              </a:spcAft>
              <a:buSzPct val="100000"/>
              <a:buChar char="–"/>
            </a:pPr>
            <a:r>
              <a:rPr lang="en-US" sz="1200" dirty="0">
                <a:solidFill>
                  <a:schemeClr val="tx1"/>
                </a:solidFill>
              </a:rPr>
              <a:t>vs. Decision Tree: 15 errors instead of 77, about 80% fewer</a:t>
            </a:r>
            <a:endParaRPr lang="en-US" sz="1200" dirty="0"/>
          </a:p>
          <a:p>
            <a:pPr marL="152400" indent="-152400">
              <a:lnSpc>
                <a:spcPct val="110000"/>
              </a:lnSpc>
              <a:spcAft>
                <a:spcPts val="400"/>
              </a:spcAft>
              <a:buSzPct val="100000"/>
              <a:buChar char="–"/>
            </a:pPr>
            <a:r>
              <a:rPr lang="en-US" sz="1200" dirty="0">
                <a:solidFill>
                  <a:schemeClr val="tx1"/>
                </a:solidFill>
              </a:rPr>
              <a:t>vs. Logistic Regression: 15 instead of 21, about 30% fewer</a:t>
            </a:r>
            <a:endParaRPr lang="en-US" sz="1200" dirty="0"/>
          </a:p>
          <a:p>
            <a:pPr marL="152400" indent="-152400">
              <a:lnSpc>
                <a:spcPct val="110000"/>
              </a:lnSpc>
              <a:spcAft>
                <a:spcPts val="400"/>
              </a:spcAft>
              <a:buSzPct val="100000"/>
              <a:buChar char="–"/>
            </a:pPr>
            <a:r>
              <a:rPr lang="en-US" sz="1200" dirty="0">
                <a:solidFill>
                  <a:schemeClr val="tx1"/>
                </a:solidFill>
              </a:rPr>
              <a:t>Precision ≈ recall for every model: no class is over-predicted</a:t>
            </a:r>
            <a:endParaRPr lang="en-US" sz="1200" dirty="0"/>
          </a:p>
        </p:txBody>
      </p:sp>
      <p:pic>
        <p:nvPicPr>
          <p:cNvPr id="5" name="Picture 177" descr="Test metrics by model">    </p:cNvPr>
          <p:cNvPicPr>
            <a:picLocks noChangeAspect="1"/>
          </p:cNvPicPr>
          <p:nvPr/>
        </p:nvPicPr>
        <p:blipFill>
          <a:blip r:embed="rId1"/>
          <a:stretch>
            <a:fillRect/>
          </a:stretch>
        </p:blipFill>
        <p:spPr>
          <a:xfrm>
            <a:off x="4572000" y="868680"/>
            <a:ext cx="4142232" cy="1887017"/>
          </a:xfrm>
          <a:prstGeom prst="rect">
            <a:avLst/>
          </a:prstGeom>
        </p:spPr>
      </p:pic>
      <p:sp>
        <p:nvSpPr>
          <p:cNvPr id="6" name="Text 178"/>
          <p:cNvSpPr txBox="1"/>
          <p:nvPr/>
        </p:nvSpPr>
        <p:spPr>
          <a:xfrm>
            <a:off x="4572000" y="2792273"/>
            <a:ext cx="4142232" cy="22860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Test set metrics by model (y-axis starts at 0.95).</a:t>
            </a:r>
            <a:endParaRPr lang="en-US" sz="1000" dirty="0"/>
          </a:p>
        </p:txBody>
      </p:sp>
      <p:sp>
        <p:nvSpPr>
          <p:cNvPr id="7" name="Callout 179"/>
          <p:cNvSpPr/>
          <p:nvPr/>
        </p:nvSpPr>
        <p:spPr>
          <a:xfrm>
            <a:off x="4572000" y="3291840"/>
            <a:ext cx="4142232" cy="868680"/>
          </a:xfrm>
          <a:prstGeom prst="rect">
            <a:avLst/>
          </a:prstGeom>
          <a:solidFill>
            <a:schemeClr val="bg2"/>
          </a:solidFill>
          <a:ln w="12700">
            <a:solidFill>
              <a:schemeClr val="bg2"/>
            </a:solidFill>
            <a:prstDash val="solid"/>
          </a:ln>
        </p:spPr>
      </p:sp>
      <p:sp>
        <p:nvSpPr>
          <p:cNvPr id="8" name="Callout text 180"/>
          <p:cNvSpPr txBox="1"/>
          <p:nvPr/>
        </p:nvSpPr>
        <p:spPr>
          <a:xfrm>
            <a:off x="4663440" y="3346704"/>
            <a:ext cx="3959352" cy="758952"/>
          </a:xfrm>
          <a:prstGeom prst="rect">
            <a:avLst/>
          </a:prstGeom>
          <a:noFill/>
          <a:ln/>
        </p:spPr>
        <p:txBody>
          <a:bodyPr wrap="square" lIns="25400" tIns="25400" rIns="25400" bIns="25400" rtlCol="0" anchor="t"/>
          <a:lstStyle/>
          <a:p>
            <a:pPr indent="0" marL="0">
              <a:lnSpc>
                <a:spcPct val="110000"/>
              </a:lnSpc>
              <a:buNone/>
            </a:pPr>
            <a:r>
              <a:rPr lang="en-US" sz="1200" b="1" dirty="0">
                <a:solidFill>
                  <a:schemeClr val="tx1"/>
                </a:solidFill>
              </a:rPr>
              <a:t>Is a 6-error gap meaningful?</a:t>
            </a:r>
            <a:endParaRPr lang="en-US" sz="1200" dirty="0"/>
          </a:p>
          <a:p>
            <a:pPr indent="0" marL="0">
              <a:lnSpc>
                <a:spcPct val="110000"/>
              </a:lnSpc>
              <a:buNone/>
            </a:pPr>
            <a:r>
              <a:rPr lang="en-US" sz="1200" dirty="0">
                <a:solidFill>
                  <a:schemeClr val="tx1"/>
                </a:solidFill>
              </a:rPr>
              <a:t>The test set has 2,782 measurements, so 6 errors is only 0.2 points of accuracy. Slide 15 checks whether the gap is real.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Per-Class Performance</a:t>
            </a:r>
            <a:endParaRPr lang="en-US" sz="2400" dirty="0"/>
          </a:p>
        </p:txBody>
      </p:sp>
      <p:sp>
        <p:nvSpPr>
          <p:cNvPr id="3" name="Text 181"/>
          <p:cNvSpPr txBox="1"/>
          <p:nvPr/>
        </p:nvSpPr>
        <p:spPr>
          <a:xfrm>
            <a:off x="429768" y="868680"/>
            <a:ext cx="3931920" cy="502920"/>
          </a:xfrm>
          <a:prstGeom prst="rect">
            <a:avLst/>
          </a:prstGeom>
          <a:noFill/>
          <a:ln/>
        </p:spPr>
        <p:txBody>
          <a:bodyPr wrap="square" lIns="25400" tIns="25400" rIns="25400" bIns="25400" rtlCol="0" anchor="t"/>
          <a:lstStyle/>
          <a:p>
            <a:pPr indent="0" marL="0">
              <a:lnSpc>
                <a:spcPct val="115000"/>
              </a:lnSpc>
              <a:buNone/>
            </a:pPr>
            <a:r>
              <a:rPr lang="en-US" sz="1200" dirty="0">
                <a:solidFill>
                  <a:schemeClr val="tx1"/>
                </a:solidFill>
              </a:rPr>
              <a:t>Ammonia is the smallest class (328 test measurements), so it gets a separate check.</a:t>
            </a:r>
            <a:endParaRPr lang="en-US" sz="1200" dirty="0"/>
          </a:p>
        </p:txBody>
      </p:sp>
      <p:sp>
        <p:nvSpPr>
          <p:cNvPr id="4" name="Text 182"/>
          <p:cNvSpPr txBox="1"/>
          <p:nvPr/>
        </p:nvSpPr>
        <p:spPr>
          <a:xfrm>
            <a:off x="429768" y="1463040"/>
            <a:ext cx="393192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Results</a:t>
            </a:r>
            <a:endParaRPr lang="en-US" sz="1400" dirty="0"/>
          </a:p>
        </p:txBody>
      </p:sp>
      <p:sp>
        <p:nvSpPr>
          <p:cNvPr id="5" name="Bullets 183"/>
          <p:cNvSpPr txBox="1"/>
          <p:nvPr/>
        </p:nvSpPr>
        <p:spPr>
          <a:xfrm>
            <a:off x="429768" y="1719072"/>
            <a:ext cx="3931920" cy="2194560"/>
          </a:xfrm>
          <a:prstGeom prst="rect">
            <a:avLst/>
          </a:prstGeom>
          <a:noFill/>
          <a:ln/>
        </p:spPr>
        <p:txBody>
          <a:bodyPr wrap="square" lIns="25400" tIns="25400" rIns="25400" bIns="25400" rtlCol="0" anchor="t"/>
          <a:lstStyle/>
          <a:p>
            <a:pPr marL="152400" indent="-152400">
              <a:lnSpc>
                <a:spcPct val="110000"/>
              </a:lnSpc>
              <a:spcAft>
                <a:spcPts val="400"/>
              </a:spcAft>
              <a:buSzPct val="100000"/>
              <a:buChar char="–"/>
            </a:pPr>
            <a:r>
              <a:rPr lang="en-US" sz="1200" dirty="0">
                <a:solidFill>
                  <a:schemeClr val="tx1"/>
                </a:solidFill>
              </a:rPr>
              <a:t>Ammonia: XGBoost F1 0.9939 vs. 0.9893 (Logistic Regression) and 0.9738 (Decision Tree)</a:t>
            </a:r>
            <a:endParaRPr lang="en-US" sz="1200" dirty="0"/>
          </a:p>
          <a:p>
            <a:pPr marL="152400" indent="-152400">
              <a:lnSpc>
                <a:spcPct val="110000"/>
              </a:lnSpc>
              <a:spcAft>
                <a:spcPts val="400"/>
              </a:spcAft>
              <a:buSzPct val="100000"/>
              <a:buChar char="–"/>
            </a:pPr>
            <a:r>
              <a:rPr lang="en-US" sz="1200" dirty="0">
                <a:solidFill>
                  <a:schemeClr val="tx1"/>
                </a:solidFill>
              </a:rPr>
              <a:t>XGBoost has the highest F1 on 5 of 6 gases</a:t>
            </a:r>
            <a:endParaRPr lang="en-US" sz="1200" dirty="0"/>
          </a:p>
          <a:p>
            <a:pPr marL="152400" indent="-152400">
              <a:lnSpc>
                <a:spcPct val="110000"/>
              </a:lnSpc>
              <a:spcAft>
                <a:spcPts val="400"/>
              </a:spcAft>
              <a:buSzPct val="100000"/>
              <a:buChar char="–"/>
            </a:pPr>
            <a:r>
              <a:rPr lang="en-US" sz="1200" dirty="0">
                <a:solidFill>
                  <a:schemeClr val="tx1"/>
                </a:solidFill>
              </a:rPr>
              <a:t>Toluene: Logistic Regression is ahead by 1 measurement</a:t>
            </a:r>
            <a:endParaRPr lang="en-US" sz="1200" dirty="0"/>
          </a:p>
          <a:p>
            <a:pPr marL="152400" indent="-152400">
              <a:lnSpc>
                <a:spcPct val="110000"/>
              </a:lnSpc>
              <a:spcAft>
                <a:spcPts val="400"/>
              </a:spcAft>
              <a:buSzPct val="100000"/>
              <a:buChar char="–"/>
            </a:pPr>
            <a:r>
              <a:rPr lang="en-US" sz="1200" dirty="0">
                <a:solidFill>
                  <a:schemeClr val="tx1"/>
                </a:solidFill>
              </a:rPr>
              <a:t>The tree's worst class: Acetaldehyde (F1 0.946)</a:t>
            </a:r>
            <a:endParaRPr lang="en-US" sz="1200" dirty="0"/>
          </a:p>
        </p:txBody>
      </p:sp>
      <p:pic>
        <p:nvPicPr>
          <p:cNvPr id="6" name="Picture 184" descr="Per-class F1 by model">    </p:cNvPr>
          <p:cNvPicPr>
            <a:picLocks noChangeAspect="1"/>
          </p:cNvPicPr>
          <p:nvPr/>
        </p:nvPicPr>
        <p:blipFill>
          <a:blip r:embed="rId1"/>
          <a:stretch>
            <a:fillRect/>
          </a:stretch>
        </p:blipFill>
        <p:spPr>
          <a:xfrm>
            <a:off x="4572000" y="868680"/>
            <a:ext cx="4142232" cy="1887017"/>
          </a:xfrm>
          <a:prstGeom prst="rect">
            <a:avLst/>
          </a:prstGeom>
        </p:spPr>
      </p:pic>
      <p:pic>
        <p:nvPicPr>
          <p:cNvPr id="7" name="Picture 185" descr="Per-class F1 table">    </p:cNvPr>
          <p:cNvPicPr>
            <a:picLocks noChangeAspect="1"/>
          </p:cNvPicPr>
          <p:nvPr/>
        </p:nvPicPr>
        <p:blipFill>
          <a:blip r:embed="rId2"/>
          <a:stretch>
            <a:fillRect/>
          </a:stretch>
        </p:blipFill>
        <p:spPr>
          <a:xfrm>
            <a:off x="4572000" y="2892857"/>
            <a:ext cx="3851258" cy="1737360"/>
          </a:xfrm>
          <a:prstGeom prst="rect">
            <a:avLst/>
          </a:prstGeom>
        </p:spPr>
      </p:pic>
      <p:sp>
        <p:nvSpPr>
          <p:cNvPr id="8" name="Frame 186"/>
          <p:cNvSpPr/>
          <p:nvPr/>
        </p:nvSpPr>
        <p:spPr>
          <a:xfrm>
            <a:off x="4572000" y="2892857"/>
            <a:ext cx="3851258" cy="1737360"/>
          </a:xfrm>
          <a:prstGeom prst="rect">
            <a:avLst/>
          </a:prstGeom>
          <a:noFill/>
          <a:ln w="9525">
            <a:solidFill>
              <a:srgbClr val="CCCCCC"/>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Most Surprising Finding</a:t>
            </a:r>
            <a:endParaRPr lang="en-US" sz="2400" dirty="0"/>
          </a:p>
        </p:txBody>
      </p:sp>
      <p:sp>
        <p:nvSpPr>
          <p:cNvPr id="3" name="Text 187"/>
          <p:cNvSpPr txBox="1"/>
          <p:nvPr/>
        </p:nvSpPr>
        <p:spPr>
          <a:xfrm>
            <a:off x="429768" y="868680"/>
            <a:ext cx="3931920" cy="731520"/>
          </a:xfrm>
          <a:prstGeom prst="rect">
            <a:avLst/>
          </a:prstGeom>
          <a:noFill/>
          <a:ln/>
        </p:spPr>
        <p:txBody>
          <a:bodyPr wrap="square" lIns="25400" tIns="25400" rIns="25400" bIns="25400" rtlCol="0" anchor="t"/>
          <a:lstStyle/>
          <a:p>
            <a:pPr indent="0" marL="0">
              <a:lnSpc>
                <a:spcPct val="115000"/>
              </a:lnSpc>
              <a:buNone/>
            </a:pPr>
            <a:r>
              <a:rPr lang="en-US" sz="1200" dirty="0">
                <a:solidFill>
                  <a:schemeClr val="tx1"/>
                </a:solidFill>
              </a:rPr>
              <a:t>A simple linear model reached 99.25%, only 6 test errors behind XGBoost. With so few errors, is XGBoost's lead real or luck?</a:t>
            </a:r>
            <a:endParaRPr lang="en-US" sz="1200" dirty="0"/>
          </a:p>
        </p:txBody>
      </p:sp>
      <p:sp>
        <p:nvSpPr>
          <p:cNvPr id="4" name="Text 188"/>
          <p:cNvSpPr txBox="1"/>
          <p:nvPr/>
        </p:nvSpPr>
        <p:spPr>
          <a:xfrm>
            <a:off x="429768" y="1691640"/>
            <a:ext cx="3931920" cy="256032"/>
          </a:xfrm>
          <a:prstGeom prst="rect">
            <a:avLst/>
          </a:prstGeom>
          <a:noFill/>
          <a:ln/>
        </p:spPr>
        <p:txBody>
          <a:bodyPr wrap="square" lIns="25400" tIns="25400" rIns="25400" bIns="25400" rtlCol="0" anchor="t"/>
          <a:lstStyle/>
          <a:p>
            <a:pPr indent="0" marL="0">
              <a:lnSpc>
                <a:spcPct val="115000"/>
              </a:lnSpc>
              <a:buNone/>
            </a:pPr>
            <a:r>
              <a:rPr lang="en-US" sz="1400" b="1" dirty="0">
                <a:solidFill>
                  <a:schemeClr val="tx1"/>
                </a:solidFill>
              </a:rPr>
              <a:t>Results</a:t>
            </a:r>
            <a:endParaRPr lang="en-US" sz="1400" dirty="0"/>
          </a:p>
        </p:txBody>
      </p:sp>
      <p:sp>
        <p:nvSpPr>
          <p:cNvPr id="5" name="Bullets 189"/>
          <p:cNvSpPr txBox="1"/>
          <p:nvPr/>
        </p:nvSpPr>
        <p:spPr>
          <a:xfrm>
            <a:off x="429768" y="1947672"/>
            <a:ext cx="3931920" cy="2377440"/>
          </a:xfrm>
          <a:prstGeom prst="rect">
            <a:avLst/>
          </a:prstGeom>
          <a:noFill/>
          <a:ln/>
        </p:spPr>
        <p:txBody>
          <a:bodyPr wrap="square" lIns="25400" tIns="25400" rIns="25400" bIns="25400" rtlCol="0" anchor="t"/>
          <a:lstStyle/>
          <a:p>
            <a:pPr marL="152400" indent="-152400">
              <a:lnSpc>
                <a:spcPct val="110000"/>
              </a:lnSpc>
              <a:spcAft>
                <a:spcPts val="400"/>
              </a:spcAft>
              <a:buSzPct val="100000"/>
              <a:buChar char="–"/>
            </a:pPr>
            <a:r>
              <a:rPr lang="en-US" sz="1200" dirty="0">
                <a:solidFill>
                  <a:schemeClr val="tx1"/>
                </a:solidFill>
              </a:rPr>
              <a:t>5-fold CV on the training set; the test set is not used</a:t>
            </a:r>
            <a:endParaRPr lang="en-US" sz="1200" dirty="0"/>
          </a:p>
          <a:p>
            <a:pPr marL="152400" indent="-152400">
              <a:lnSpc>
                <a:spcPct val="110000"/>
              </a:lnSpc>
              <a:spcAft>
                <a:spcPts val="400"/>
              </a:spcAft>
              <a:buSzPct val="100000"/>
              <a:buChar char="–"/>
            </a:pPr>
            <a:r>
              <a:rPr lang="en-US" sz="1200" dirty="0">
                <a:solidFill>
                  <a:schemeClr val="tx1"/>
                </a:solidFill>
              </a:rPr>
              <a:t>XGBoost beats Logistic Regression in every fold: mean F1 0.9939 vs. 0.9890</a:t>
            </a:r>
            <a:endParaRPr lang="en-US" sz="1200" dirty="0"/>
          </a:p>
          <a:p>
            <a:pPr marL="152400" indent="-152400">
              <a:lnSpc>
                <a:spcPct val="110000"/>
              </a:lnSpc>
              <a:spcAft>
                <a:spcPts val="400"/>
              </a:spcAft>
              <a:buSzPct val="100000"/>
              <a:buChar char="–"/>
            </a:pPr>
            <a:r>
              <a:rPr lang="en-US" sz="1200" dirty="0">
                <a:solidFill>
                  <a:schemeClr val="tx1"/>
                </a:solidFill>
              </a:rPr>
              <a:t>The gap is 3 to 5 times the fold-to-fold spread: consistent, not luck</a:t>
            </a:r>
            <a:endParaRPr lang="en-US" sz="1200" dirty="0"/>
          </a:p>
          <a:p>
            <a:pPr marL="152400" indent="-152400">
              <a:lnSpc>
                <a:spcPct val="110000"/>
              </a:lnSpc>
              <a:spcAft>
                <a:spcPts val="400"/>
              </a:spcAft>
              <a:buSzPct val="100000"/>
              <a:buChar char="–"/>
            </a:pPr>
            <a:r>
              <a:rPr lang="en-US" sz="1200" dirty="0">
                <a:solidFill>
                  <a:schemeClr val="tx1"/>
                </a:solidFill>
              </a:rPr>
              <a:t>The Decision Tree is far behind (0.9696) and the least stable</a:t>
            </a:r>
            <a:endParaRPr lang="en-US" sz="1200" dirty="0"/>
          </a:p>
        </p:txBody>
      </p:sp>
      <p:pic>
        <p:nvPicPr>
          <p:cNvPr id="6" name="Picture 190" descr="5-fold CV macro F1 box plot">    </p:cNvPr>
          <p:cNvPicPr>
            <a:picLocks noChangeAspect="1"/>
          </p:cNvPicPr>
          <p:nvPr/>
        </p:nvPicPr>
        <p:blipFill>
          <a:blip r:embed="rId1"/>
          <a:stretch>
            <a:fillRect/>
          </a:stretch>
        </p:blipFill>
        <p:spPr>
          <a:xfrm>
            <a:off x="4572000" y="868680"/>
            <a:ext cx="4087351" cy="2286000"/>
          </a:xfrm>
          <a:prstGeom prst="rect">
            <a:avLst/>
          </a:prstGeom>
        </p:spPr>
      </p:pic>
      <p:pic>
        <p:nvPicPr>
          <p:cNvPr id="7" name="Picture 191" descr="CV summary table">    </p:cNvPr>
          <p:cNvPicPr>
            <a:picLocks noChangeAspect="1"/>
          </p:cNvPicPr>
          <p:nvPr/>
        </p:nvPicPr>
        <p:blipFill>
          <a:blip r:embed="rId2"/>
          <a:stretch>
            <a:fillRect/>
          </a:stretch>
        </p:blipFill>
        <p:spPr>
          <a:xfrm>
            <a:off x="4572000" y="3291840"/>
            <a:ext cx="2468880" cy="1249393"/>
          </a:xfrm>
          <a:prstGeom prst="rect">
            <a:avLst/>
          </a:prstGeom>
        </p:spPr>
      </p:pic>
      <p:sp>
        <p:nvSpPr>
          <p:cNvPr id="8" name="Frame 192"/>
          <p:cNvSpPr/>
          <p:nvPr/>
        </p:nvSpPr>
        <p:spPr>
          <a:xfrm>
            <a:off x="4572000" y="3291840"/>
            <a:ext cx="2468880" cy="1249393"/>
          </a:xfrm>
          <a:prstGeom prst="rect">
            <a:avLst/>
          </a:prstGeom>
          <a:noFill/>
          <a:ln w="9525">
            <a:solidFill>
              <a:srgbClr val="CCCCCC"/>
            </a:solidFill>
            <a:prstDash val="solid"/>
          </a:ln>
        </p:spPr>
      </p:sp>
      <p:sp>
        <p:nvSpPr>
          <p:cNvPr id="9" name="Text 193"/>
          <p:cNvSpPr txBox="1"/>
          <p:nvPr/>
        </p:nvSpPr>
        <p:spPr>
          <a:xfrm>
            <a:off x="7178040" y="3337560"/>
            <a:ext cx="1536192" cy="1097280"/>
          </a:xfrm>
          <a:prstGeom prst="rect">
            <a:avLst/>
          </a:prstGeom>
          <a:noFill/>
          <a:ln/>
        </p:spPr>
        <p:txBody>
          <a:bodyPr wrap="square" lIns="25400" tIns="25400" rIns="25400" bIns="25400" rtlCol="0" anchor="t"/>
          <a:lstStyle/>
          <a:p>
            <a:pPr indent="0" marL="0">
              <a:lnSpc>
                <a:spcPct val="115000"/>
              </a:lnSpc>
              <a:buNone/>
            </a:pPr>
            <a:r>
              <a:rPr lang="en-US" sz="1000" dirty="0">
                <a:solidFill>
                  <a:schemeClr val="tx2"/>
                </a:solidFill>
              </a:rPr>
              <a:t>5-fold cross-validated macro F1 for each model. The XGBoost box sits above the Logistic Regression box.</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29768" y="274320"/>
            <a:ext cx="8284464" cy="457200"/>
          </a:xfrm>
          <a:prstGeom prst="rect">
            <a:avLst/>
          </a:prstGeom>
          <a:noFill/>
          <a:ln/>
        </p:spPr>
        <p:txBody>
          <a:bodyPr wrap="square" lIns="25400" tIns="25400" rIns="25400" bIns="25400" rtlCol="0" anchor="t"/>
          <a:lstStyle/>
          <a:p>
            <a:pPr algn="l" indent="0" marL="0">
              <a:buNone/>
            </a:pPr>
            <a:r>
              <a:rPr lang="en-US" sz="2400" b="1" dirty="0">
                <a:solidFill>
                  <a:schemeClr val="tx1"/>
                </a:solidFill>
              </a:rPr>
              <a:t>Final Takeaway</a:t>
            </a:r>
            <a:endParaRPr lang="en-US" sz="2400" dirty="0"/>
          </a:p>
        </p:txBody>
      </p:sp>
      <p:sp>
        <p:nvSpPr>
          <p:cNvPr id="3" name="Bullets 194"/>
          <p:cNvSpPr txBox="1"/>
          <p:nvPr/>
        </p:nvSpPr>
        <p:spPr>
          <a:xfrm>
            <a:off x="429768" y="960120"/>
            <a:ext cx="8284464" cy="1737360"/>
          </a:xfrm>
          <a:prstGeom prst="rect">
            <a:avLst/>
          </a:prstGeom>
          <a:noFill/>
          <a:ln/>
        </p:spPr>
        <p:txBody>
          <a:bodyPr wrap="square" lIns="25400" tIns="25400" rIns="25400" bIns="25400" rtlCol="0" anchor="t"/>
          <a:lstStyle/>
          <a:p>
            <a:pPr marL="152400" indent="-152400">
              <a:lnSpc>
                <a:spcPct val="110000"/>
              </a:lnSpc>
              <a:spcAft>
                <a:spcPts val="400"/>
              </a:spcAft>
              <a:buSzPct val="100000"/>
              <a:buChar char="–"/>
            </a:pPr>
            <a:r>
              <a:rPr lang="en-US" sz="1400" dirty="0">
                <a:solidFill>
                  <a:schemeClr val="tx1"/>
                </a:solidFill>
              </a:rPr>
              <a:t>Best model: XGBoost (300 trees, depth 3), test accuracy 99.46%, macro F1 0.9945</a:t>
            </a:r>
            <a:endParaRPr lang="en-US" sz="1400" dirty="0"/>
          </a:p>
          <a:p>
            <a:pPr marL="152400" indent="-152400">
              <a:lnSpc>
                <a:spcPct val="110000"/>
              </a:lnSpc>
              <a:spcAft>
                <a:spcPts val="400"/>
              </a:spcAft>
              <a:buSzPct val="100000"/>
              <a:buChar char="–"/>
            </a:pPr>
            <a:r>
              <a:rPr lang="en-US" sz="1400" dirty="0">
                <a:solidFill>
                  <a:schemeClr val="tx1"/>
                </a:solidFill>
              </a:rPr>
              <a:t>vs. Decision Tree: about 80% fewer errors; boosting fixes the single tree's overfitting</a:t>
            </a:r>
            <a:endParaRPr lang="en-US" sz="1400" dirty="0"/>
          </a:p>
          <a:p>
            <a:pPr marL="152400" indent="-152400">
              <a:lnSpc>
                <a:spcPct val="110000"/>
              </a:lnSpc>
              <a:spcAft>
                <a:spcPts val="400"/>
              </a:spcAft>
              <a:buSzPct val="100000"/>
              <a:buChar char="–"/>
            </a:pPr>
            <a:r>
              <a:rPr lang="en-US" sz="1400" dirty="0">
                <a:solidFill>
                  <a:schemeClr val="tx1"/>
                </a:solidFill>
              </a:rPr>
              <a:t>vs. Logistic Regression: a small but consistent gain, ahead in every CV fold</a:t>
            </a:r>
            <a:endParaRPr lang="en-US" sz="1400" dirty="0"/>
          </a:p>
          <a:p>
            <a:pPr marL="152400" indent="-152400">
              <a:lnSpc>
                <a:spcPct val="110000"/>
              </a:lnSpc>
              <a:spcAft>
                <a:spcPts val="400"/>
              </a:spcAft>
              <a:buSzPct val="100000"/>
              <a:buChar char="–"/>
            </a:pPr>
            <a:r>
              <a:rPr lang="en-US" sz="1400" dirty="0">
                <a:solidFill>
                  <a:schemeClr val="tx1"/>
                </a:solidFill>
              </a:rPr>
              <a:t>Shallow trees were enough: depth 3 was best, and tuning changed CV F1 by less than the fold noise</a:t>
            </a:r>
            <a:endParaRPr lang="en-US" sz="1400" dirty="0"/>
          </a:p>
        </p:txBody>
      </p:sp>
      <p:sp>
        <p:nvSpPr>
          <p:cNvPr id="4" name="Callout 195"/>
          <p:cNvSpPr/>
          <p:nvPr/>
        </p:nvSpPr>
        <p:spPr>
          <a:xfrm>
            <a:off x="429768" y="2880360"/>
            <a:ext cx="8284464" cy="868680"/>
          </a:xfrm>
          <a:prstGeom prst="rect">
            <a:avLst/>
          </a:prstGeom>
          <a:solidFill>
            <a:schemeClr val="bg2"/>
          </a:solidFill>
          <a:ln w="12700">
            <a:solidFill>
              <a:schemeClr val="bg2"/>
            </a:solidFill>
            <a:prstDash val="solid"/>
          </a:ln>
        </p:spPr>
      </p:sp>
      <p:sp>
        <p:nvSpPr>
          <p:cNvPr id="5" name="Callout text 196"/>
          <p:cNvSpPr txBox="1"/>
          <p:nvPr/>
        </p:nvSpPr>
        <p:spPr>
          <a:xfrm>
            <a:off x="521208" y="2935224"/>
            <a:ext cx="8101584" cy="758952"/>
          </a:xfrm>
          <a:prstGeom prst="rect">
            <a:avLst/>
          </a:prstGeom>
          <a:noFill/>
          <a:ln/>
        </p:spPr>
        <p:txBody>
          <a:bodyPr wrap="square" lIns="25400" tIns="25400" rIns="25400" bIns="25400" rtlCol="0" anchor="t"/>
          <a:lstStyle/>
          <a:p>
            <a:pPr indent="0" marL="0">
              <a:lnSpc>
                <a:spcPct val="110000"/>
              </a:lnSpc>
              <a:buNone/>
            </a:pPr>
            <a:r>
              <a:rPr lang="en-US" sz="1200" b="1" dirty="0">
                <a:solidFill>
                  <a:schemeClr val="tx1"/>
                </a:solidFill>
              </a:rPr>
              <a:t>Limitation: sensor drift</a:t>
            </a:r>
            <a:endParaRPr lang="en-US" sz="1200" dirty="0"/>
          </a:p>
          <a:p>
            <a:pPr indent="0" marL="0">
              <a:lnSpc>
                <a:spcPct val="110000"/>
              </a:lnSpc>
              <a:buNone/>
            </a:pPr>
            <a:r>
              <a:rPr lang="en-US" sz="1200" dirty="0">
                <a:solidFill>
                  <a:schemeClr val="tx1"/>
                </a:solidFill>
              </a:rPr>
              <a:t>The data covers 36 months and the sensors drift over time. A random split mixes all months, so these scores are optimistic. Training on early batches and testing on later ones would be a harder, more realistic test.</a:t>
            </a:r>
            <a:endParaRPr lang="en-US" sz="1200" dirty="0"/>
          </a:p>
        </p:txBody>
      </p:sp>
    </p:spTree>
  </p:cSld>
  <p:clrMapOvr>
    <a:masterClrMapping/>
  </p:clrMapOvr>
</p:sld>
</file>

<file path=ppt/theme/theme1.xml><?xml version="1.0" encoding="utf-8"?>
<a:theme xmlns:a="http://schemas.openxmlformats.org/drawingml/2006/main" name="ES603 HW5">
  <a:themeElements>
    <a:clrScheme name="ES603 HW5">
      <a:dk1>
        <a:srgbClr val="000000"/>
      </a:dk1>
      <a:lt1>
        <a:srgbClr val="FFFFFF"/>
      </a:lt1>
      <a:dk2>
        <a:srgbClr val="555555"/>
      </a:dk2>
      <a:lt2>
        <a:srgbClr val="F2F2F2"/>
      </a:lt2>
      <a:accent1>
        <a:srgbClr val="1F77B4"/>
      </a:accent1>
      <a:accent2>
        <a:srgbClr val="D62728"/>
      </a:accent2>
      <a:accent3>
        <a:srgbClr val="2CA02C"/>
      </a:accent3>
      <a:accent4>
        <a:srgbClr val="FF7F0E"/>
      </a:accent4>
      <a:accent5>
        <a:srgbClr val="9467BD"/>
      </a:accent5>
      <a:accent6>
        <a:srgbClr val="8C564B"/>
      </a:accent6>
      <a:hlink>
        <a:srgbClr val="1F77B4"/>
      </a:hlink>
      <a:folHlink>
        <a:srgbClr val="8C564B"/>
      </a:folHlink>
    </a:clrScheme>
    <a:fontScheme name="ES603 HW5">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 603 Homework 5</dc:title>
  <dc:subject>PptxGenJS Presentation</dc:subject>
  <dc:creator>Vadim Egorov</dc:creator>
  <cp:lastModifiedBy>Vadim Egorov</cp:lastModifiedBy>
  <cp:revision>1</cp:revision>
  <dcterms:created xsi:type="dcterms:W3CDTF">2026-10-26T02:55:33Z</dcterms:created>
  <dcterms:modified xsi:type="dcterms:W3CDTF">2026-10-26T02:55:33Z</dcterms:modified>
</cp:coreProperties>
</file>