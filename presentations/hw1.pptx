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8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9c7709948_9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f9c7709948_9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c7709948_9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f9c7709948_9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9c7709948_9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f9c7709948_9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9c7709948_9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f9c7709948_9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9c7709948_9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9c7709948_9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9c7709948_9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f9c7709948_9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9c7709948_9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9c7709948_9_1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1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 603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Vadim Egorov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&amp; Quality</a:t>
            </a:r>
            <a:endParaRPr/>
          </a:p>
        </p:txBody>
      </p:sp>
      <p:sp>
        <p:nvSpPr>
          <p:cNvPr id="106" name="Google Shape;106;p26"/>
          <p:cNvSpPr txBox="1"/>
          <p:nvPr/>
        </p:nvSpPr>
        <p:spPr>
          <a:xfrm>
            <a:off x="320040" y="118872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/>
          </a:p>
        </p:txBody>
      </p:sp>
      <p:sp>
        <p:nvSpPr>
          <p:cNvPr id="107" name="Google Shape;107;p26"/>
          <p:cNvSpPr txBox="1"/>
          <p:nvPr/>
        </p:nvSpPr>
        <p:spPr>
          <a:xfrm>
            <a:off x="320040" y="1463040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891 rows × 15 columns</a:t>
            </a:r>
            <a:endParaRPr/>
          </a:p>
        </p:txBody>
      </p:sp>
      <p:sp>
        <p:nvSpPr>
          <p:cNvPr id="108" name="Google Shape;108;p26"/>
          <p:cNvSpPr txBox="1"/>
          <p:nvPr/>
        </p:nvSpPr>
        <p:spPr>
          <a:xfrm>
            <a:off x="6218775" y="1188726"/>
            <a:ext cx="182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Missing values</a:t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218775" y="1568892"/>
            <a:ext cx="283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age: 177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deck: 688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embarked: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embark_town: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other columns: 0</a:t>
            </a:r>
            <a:endParaRPr/>
          </a:p>
        </p:txBody>
      </p:sp>
      <p:sp>
        <p:nvSpPr>
          <p:cNvPr id="110" name="Google Shape;110;p26"/>
          <p:cNvSpPr txBox="1"/>
          <p:nvPr/>
        </p:nvSpPr>
        <p:spPr>
          <a:xfrm>
            <a:off x="6218775" y="3000104"/>
            <a:ext cx="182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Handling</a:t>
            </a:r>
            <a:endParaRPr/>
          </a:p>
        </p:txBody>
      </p:sp>
      <p:sp>
        <p:nvSpPr>
          <p:cNvPr id="111" name="Google Shape;111;p26"/>
          <p:cNvSpPr txBox="1"/>
          <p:nvPr/>
        </p:nvSpPr>
        <p:spPr>
          <a:xfrm>
            <a:off x="6218775" y="3357907"/>
            <a:ext cx="28347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For age-based plots, rows with missing age were removed using dropna().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No missing ages were imputed.</a:t>
            </a:r>
            <a:endParaRPr/>
          </a:p>
        </p:txBody>
      </p:sp>
      <p:sp>
        <p:nvSpPr>
          <p:cNvPr id="112" name="Google Shape;112;p26"/>
          <p:cNvSpPr txBox="1"/>
          <p:nvPr/>
        </p:nvSpPr>
        <p:spPr>
          <a:xfrm>
            <a:off x="311690" y="3819632"/>
            <a:ext cx="91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/>
          </a:p>
        </p:txBody>
      </p:sp>
      <p:sp>
        <p:nvSpPr>
          <p:cNvPr id="113" name="Google Shape;113;p26"/>
          <p:cNvSpPr txBox="1"/>
          <p:nvPr/>
        </p:nvSpPr>
        <p:spPr>
          <a:xfrm>
            <a:off x="311700" y="4048225"/>
            <a:ext cx="83211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url = "https://raw.githubusercontent.com/mwaskom/seaborn-data/master/titanic.csv"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pd.read_csv(url)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df.head(10)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df.shape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6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df.isnull().sum(</a:t>
            </a:r>
            <a:r>
              <a:rPr lang="en" sz="86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pic>
        <p:nvPicPr>
          <p:cNvPr id="114" name="Google Shape;1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900" y="1752475"/>
            <a:ext cx="5654118" cy="193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120" name="Google Shape;120;p27"/>
          <p:cNvSpPr txBox="1"/>
          <p:nvPr/>
        </p:nvSpPr>
        <p:spPr>
          <a:xfrm>
            <a:off x="320040" y="11887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 &amp; result</a:t>
            </a:r>
            <a:endParaRPr/>
          </a:p>
        </p:txBody>
      </p:sp>
      <p:sp>
        <p:nvSpPr>
          <p:cNvPr id="121" name="Google Shape;121;p27"/>
          <p:cNvSpPr txBox="1"/>
          <p:nvPr/>
        </p:nvSpPr>
        <p:spPr>
          <a:xfrm>
            <a:off x="4617720" y="11887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used</a:t>
            </a:r>
            <a:endParaRPr/>
          </a:p>
        </p:txBody>
      </p:sp>
      <p:sp>
        <p:nvSpPr>
          <p:cNvPr id="122" name="Google Shape;122;p27"/>
          <p:cNvSpPr txBox="1"/>
          <p:nvPr/>
        </p:nvSpPr>
        <p:spPr>
          <a:xfrm>
            <a:off x="320040" y="157276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was the average age of the passengers?</a:t>
            </a:r>
            <a:endParaRPr/>
          </a:p>
        </p:txBody>
      </p:sp>
      <p:sp>
        <p:nvSpPr>
          <p:cNvPr id="123" name="Google Shape;123;p27"/>
          <p:cNvSpPr txBox="1"/>
          <p:nvPr/>
        </p:nvSpPr>
        <p:spPr>
          <a:xfrm>
            <a:off x="320040" y="1965960"/>
            <a:ext cx="39776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29.70 years</a:t>
            </a:r>
            <a:endParaRPr/>
          </a:p>
        </p:txBody>
      </p:sp>
      <p:sp>
        <p:nvSpPr>
          <p:cNvPr id="124" name="Google Shape;124;p27"/>
          <p:cNvSpPr txBox="1"/>
          <p:nvPr/>
        </p:nvSpPr>
        <p:spPr>
          <a:xfrm>
            <a:off x="4617708" y="1965941"/>
            <a:ext cx="40692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6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df['age'].mean()</a:t>
            </a:r>
            <a:endParaRPr/>
          </a:p>
        </p:txBody>
      </p:sp>
      <p:sp>
        <p:nvSpPr>
          <p:cNvPr id="125" name="Google Shape;125;p27"/>
          <p:cNvSpPr txBox="1"/>
          <p:nvPr/>
        </p:nvSpPr>
        <p:spPr>
          <a:xfrm>
            <a:off x="320055" y="2395725"/>
            <a:ext cx="5948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was the average age of male passengers compared with female passengers?</a:t>
            </a:r>
            <a:endParaRPr/>
          </a:p>
        </p:txBody>
      </p:sp>
      <p:sp>
        <p:nvSpPr>
          <p:cNvPr id="126" name="Google Shape;126;p27"/>
          <p:cNvSpPr txBox="1"/>
          <p:nvPr/>
        </p:nvSpPr>
        <p:spPr>
          <a:xfrm>
            <a:off x="320040" y="2788920"/>
            <a:ext cx="39776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Female: 27.92 years   |   Male: 30.73 years</a:t>
            </a:r>
            <a:endParaRPr/>
          </a:p>
        </p:txBody>
      </p:sp>
      <p:sp>
        <p:nvSpPr>
          <p:cNvPr id="127" name="Google Shape;127;p27"/>
          <p:cNvSpPr txBox="1"/>
          <p:nvPr/>
        </p:nvSpPr>
        <p:spPr>
          <a:xfrm>
            <a:off x="4617708" y="2752351"/>
            <a:ext cx="40692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6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df.groupby('sex')['age'].mean()</a:t>
            </a:r>
            <a:endParaRPr/>
          </a:p>
        </p:txBody>
      </p:sp>
      <p:sp>
        <p:nvSpPr>
          <p:cNvPr id="128" name="Google Shape;128;p27"/>
          <p:cNvSpPr txBox="1"/>
          <p:nvPr/>
        </p:nvSpPr>
        <p:spPr>
          <a:xfrm>
            <a:off x="320040" y="321868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percentage of passengers survived?</a:t>
            </a:r>
            <a:endParaRPr/>
          </a:p>
        </p:txBody>
      </p:sp>
      <p:sp>
        <p:nvSpPr>
          <p:cNvPr id="129" name="Google Shape;129;p27"/>
          <p:cNvSpPr txBox="1"/>
          <p:nvPr/>
        </p:nvSpPr>
        <p:spPr>
          <a:xfrm>
            <a:off x="320040" y="3611880"/>
            <a:ext cx="39776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38.38%</a:t>
            </a:r>
            <a:endParaRPr/>
          </a:p>
        </p:txBody>
      </p:sp>
      <p:sp>
        <p:nvSpPr>
          <p:cNvPr id="130" name="Google Shape;130;p27"/>
          <p:cNvSpPr txBox="1"/>
          <p:nvPr/>
        </p:nvSpPr>
        <p:spPr>
          <a:xfrm>
            <a:off x="4617695" y="3611874"/>
            <a:ext cx="40692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6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df['survived'].mean() * 100</a:t>
            </a:r>
            <a:endParaRPr/>
          </a:p>
        </p:txBody>
      </p:sp>
      <p:sp>
        <p:nvSpPr>
          <p:cNvPr id="131" name="Google Shape;131;p27"/>
          <p:cNvSpPr txBox="1"/>
          <p:nvPr/>
        </p:nvSpPr>
        <p:spPr>
          <a:xfrm>
            <a:off x="320040" y="404164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passenger class had the highest survival rate?</a:t>
            </a:r>
            <a:endParaRPr/>
          </a:p>
        </p:txBody>
      </p:sp>
      <p:sp>
        <p:nvSpPr>
          <p:cNvPr id="132" name="Google Shape;132;p27"/>
          <p:cNvSpPr txBox="1"/>
          <p:nvPr/>
        </p:nvSpPr>
        <p:spPr>
          <a:xfrm>
            <a:off x="320040" y="4434840"/>
            <a:ext cx="397763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1st class: 62.96%   |   2nd: 47.28%   |   3rd: 24.24%</a:t>
            </a:r>
            <a:endParaRPr/>
          </a:p>
        </p:txBody>
      </p:sp>
      <p:sp>
        <p:nvSpPr>
          <p:cNvPr id="133" name="Google Shape;133;p27"/>
          <p:cNvSpPr txBox="1"/>
          <p:nvPr/>
        </p:nvSpPr>
        <p:spPr>
          <a:xfrm>
            <a:off x="4617708" y="4434846"/>
            <a:ext cx="40692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6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df.groupby('pclass')['survived'].mean()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Survival by Passenger Class </a:t>
            </a:r>
            <a:r>
              <a:rPr lang="en"/>
              <a:t>(Bar Chart)</a:t>
            </a:r>
            <a:endParaRPr/>
          </a:p>
        </p:txBody>
      </p:sp>
      <p:sp>
        <p:nvSpPr>
          <p:cNvPr id="139" name="Google Shape;139;p28"/>
          <p:cNvSpPr txBox="1"/>
          <p:nvPr/>
        </p:nvSpPr>
        <p:spPr>
          <a:xfrm>
            <a:off x="320040" y="1207008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/>
          </a:p>
        </p:txBody>
      </p:sp>
      <p:sp>
        <p:nvSpPr>
          <p:cNvPr id="140" name="Google Shape;140;p28"/>
          <p:cNvSpPr txBox="1"/>
          <p:nvPr/>
        </p:nvSpPr>
        <p:spPr>
          <a:xfrm>
            <a:off x="320040" y="146304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survival rates across the three passenger classes.</a:t>
            </a:r>
            <a:endParaRPr/>
          </a:p>
        </p:txBody>
      </p:sp>
      <p:sp>
        <p:nvSpPr>
          <p:cNvPr id="141" name="Google Shape;141;p28"/>
          <p:cNvSpPr txBox="1"/>
          <p:nvPr/>
        </p:nvSpPr>
        <p:spPr>
          <a:xfrm>
            <a:off x="320040" y="2004903"/>
            <a:ext cx="2971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/>
          </a:p>
        </p:txBody>
      </p:sp>
      <p:sp>
        <p:nvSpPr>
          <p:cNvPr id="142" name="Google Shape;142;p28"/>
          <p:cNvSpPr txBox="1"/>
          <p:nvPr/>
        </p:nvSpPr>
        <p:spPr>
          <a:xfrm>
            <a:off x="320040" y="2260935"/>
            <a:ext cx="29718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Group passengers by pclass.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Calculate the mean of survived for each class.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Plot the three rates as bars.</a:t>
            </a:r>
            <a:endParaRPr/>
          </a:p>
        </p:txBody>
      </p:sp>
      <p:sp>
        <p:nvSpPr>
          <p:cNvPr id="143" name="Google Shape;143;p28"/>
          <p:cNvSpPr txBox="1"/>
          <p:nvPr/>
        </p:nvSpPr>
        <p:spPr>
          <a:xfrm>
            <a:off x="320040" y="2957720"/>
            <a:ext cx="2971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it tells us</a:t>
            </a:r>
            <a:endParaRPr/>
          </a:p>
        </p:txBody>
      </p:sp>
      <p:sp>
        <p:nvSpPr>
          <p:cNvPr id="144" name="Google Shape;144;p28"/>
          <p:cNvSpPr txBox="1"/>
          <p:nvPr/>
        </p:nvSpPr>
        <p:spPr>
          <a:xfrm>
            <a:off x="320052" y="3213750"/>
            <a:ext cx="34746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1st class had the highest survival rate at about 63%.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2nd class was about 47%, while 3rd class was only about 24%.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Survival decreased as passenger class decreased.</a:t>
            </a:r>
            <a:endParaRPr/>
          </a:p>
        </p:txBody>
      </p:sp>
      <p:pic>
        <p:nvPicPr>
          <p:cNvPr descr="cell_9_0.png" id="145" name="Google Shape;1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4760" y="1143000"/>
            <a:ext cx="4709160" cy="3778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Age Distribution and Survival (Histogram)</a:t>
            </a:r>
            <a:endParaRPr/>
          </a:p>
        </p:txBody>
      </p:sp>
      <p:sp>
        <p:nvSpPr>
          <p:cNvPr id="151" name="Google Shape;151;p29"/>
          <p:cNvSpPr txBox="1"/>
          <p:nvPr/>
        </p:nvSpPr>
        <p:spPr>
          <a:xfrm>
            <a:off x="320040" y="120700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/>
          </a:p>
        </p:txBody>
      </p:sp>
      <p:sp>
        <p:nvSpPr>
          <p:cNvPr id="152" name="Google Shape;152;p29"/>
          <p:cNvSpPr txBox="1"/>
          <p:nvPr/>
        </p:nvSpPr>
        <p:spPr>
          <a:xfrm>
            <a:off x="320040" y="1463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the age distribution of all passengers with the ages of survivors.</a:t>
            </a:r>
            <a:endParaRPr/>
          </a:p>
        </p:txBody>
      </p:sp>
      <p:sp>
        <p:nvSpPr>
          <p:cNvPr id="153" name="Google Shape;153;p29"/>
          <p:cNvSpPr txBox="1"/>
          <p:nvPr/>
        </p:nvSpPr>
        <p:spPr>
          <a:xfrm>
            <a:off x="320040" y="199339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/>
          </a:p>
        </p:txBody>
      </p:sp>
      <p:sp>
        <p:nvSpPr>
          <p:cNvPr id="154" name="Google Shape;154;p29"/>
          <p:cNvSpPr txBox="1"/>
          <p:nvPr/>
        </p:nvSpPr>
        <p:spPr>
          <a:xfrm>
            <a:off x="320040" y="2249424"/>
            <a:ext cx="3017520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Drop missing ages with dropna().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Create a survivor-only age series.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Use the same 8 age bins for both groups.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Overlay the histograms and label the counts.</a:t>
            </a:r>
            <a:endParaRPr/>
          </a:p>
        </p:txBody>
      </p:sp>
      <p:sp>
        <p:nvSpPr>
          <p:cNvPr id="155" name="Google Shape;155;p29"/>
          <p:cNvSpPr txBox="1"/>
          <p:nvPr/>
        </p:nvSpPr>
        <p:spPr>
          <a:xfrm>
            <a:off x="320040" y="32461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it tells us</a:t>
            </a:r>
            <a:endParaRPr/>
          </a:p>
        </p:txBody>
      </p:sp>
      <p:sp>
        <p:nvSpPr>
          <p:cNvPr id="156" name="Google Shape;156;p29"/>
          <p:cNvSpPr txBox="1"/>
          <p:nvPr/>
        </p:nvSpPr>
        <p:spPr>
          <a:xfrm>
            <a:off x="320040" y="3502152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Most passengers were between about 20 and 40 years old.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Under age 10, 38 of 64 passengers survived (~59%).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Older groups had lower rates, but their sample sizes were small.</a:t>
            </a:r>
            <a:endParaRPr/>
          </a:p>
        </p:txBody>
      </p:sp>
      <p:pic>
        <p:nvPicPr>
          <p:cNvPr descr="cell_11_0.png" id="157" name="Google Shape;1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1880" y="1179576"/>
            <a:ext cx="5230368" cy="3247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Survival by Passenger Type (Bar Chart)</a:t>
            </a:r>
            <a:endParaRPr/>
          </a:p>
        </p:txBody>
      </p:sp>
      <p:sp>
        <p:nvSpPr>
          <p:cNvPr id="163" name="Google Shape;163;p30"/>
          <p:cNvSpPr txBox="1"/>
          <p:nvPr/>
        </p:nvSpPr>
        <p:spPr>
          <a:xfrm>
            <a:off x="320040" y="120700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/>
          </a:p>
        </p:txBody>
      </p:sp>
      <p:sp>
        <p:nvSpPr>
          <p:cNvPr id="164" name="Google Shape;164;p30"/>
          <p:cNvSpPr txBox="1"/>
          <p:nvPr/>
        </p:nvSpPr>
        <p:spPr>
          <a:xfrm>
            <a:off x="320040" y="1463040"/>
            <a:ext cx="3108900" cy="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adult men and women with </a:t>
            </a:r>
            <a:r>
              <a:rPr lang="en" sz="1130"/>
              <a:t>children</a:t>
            </a:r>
            <a:r>
              <a:rPr b="0" i="0" lang="en" sz="11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65" name="Google Shape;165;p30"/>
          <p:cNvSpPr txBox="1"/>
          <p:nvPr/>
        </p:nvSpPr>
        <p:spPr>
          <a:xfrm>
            <a:off x="320040" y="1832953"/>
            <a:ext cx="310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/>
          </a:p>
        </p:txBody>
      </p:sp>
      <p:sp>
        <p:nvSpPr>
          <p:cNvPr id="166" name="Google Shape;166;p30"/>
          <p:cNvSpPr txBox="1"/>
          <p:nvPr/>
        </p:nvSpPr>
        <p:spPr>
          <a:xfrm>
            <a:off x="320050" y="2088987"/>
            <a:ext cx="310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Create person_type from who and sex.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Assign Boy, Girl, Man, and Woman.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Remove Unknown values.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Calculate mean, survivors, and total by group.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Add overall survival as a reference.</a:t>
            </a:r>
            <a:endParaRPr/>
          </a:p>
        </p:txBody>
      </p:sp>
      <p:sp>
        <p:nvSpPr>
          <p:cNvPr id="167" name="Google Shape;167;p30"/>
          <p:cNvSpPr txBox="1"/>
          <p:nvPr/>
        </p:nvSpPr>
        <p:spPr>
          <a:xfrm>
            <a:off x="320040" y="3209293"/>
            <a:ext cx="310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it tells us</a:t>
            </a:r>
            <a:endParaRPr/>
          </a:p>
        </p:txBody>
      </p:sp>
      <p:sp>
        <p:nvSpPr>
          <p:cNvPr id="168" name="Google Shape;168;p30"/>
          <p:cNvSpPr txBox="1"/>
          <p:nvPr/>
        </p:nvSpPr>
        <p:spPr>
          <a:xfrm>
            <a:off x="320040" y="3465325"/>
            <a:ext cx="3108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Women: 76% survived (205/271).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Girls: 65% (28/43); boys: 52% (21/40).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Men: 16% (88/537), well below the overall 38%.</a:t>
            </a:r>
            <a:endParaRPr/>
          </a:p>
        </p:txBody>
      </p:sp>
      <p:pic>
        <p:nvPicPr>
          <p:cNvPr descr="cell_13_0.png" id="169" name="Google Shape;16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4760" y="1225296"/>
            <a:ext cx="4800600" cy="3042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Survival by Family Size and Passenger Type</a:t>
            </a:r>
            <a:endParaRPr/>
          </a:p>
        </p:txBody>
      </p:sp>
      <p:sp>
        <p:nvSpPr>
          <p:cNvPr id="175" name="Google Shape;175;p31"/>
          <p:cNvSpPr txBox="1"/>
          <p:nvPr/>
        </p:nvSpPr>
        <p:spPr>
          <a:xfrm>
            <a:off x="320040" y="1207008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320040" y="146304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See whether family size changes the survival pattern for each passenger type.</a:t>
            </a:r>
            <a:endParaRPr/>
          </a:p>
        </p:txBody>
      </p:sp>
      <p:sp>
        <p:nvSpPr>
          <p:cNvPr id="177" name="Google Shape;177;p31"/>
          <p:cNvSpPr txBox="1"/>
          <p:nvPr/>
        </p:nvSpPr>
        <p:spPr>
          <a:xfrm>
            <a:off x="320003" y="2025232"/>
            <a:ext cx="306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/>
          </a:p>
        </p:txBody>
      </p:sp>
      <p:sp>
        <p:nvSpPr>
          <p:cNvPr id="178" name="Google Shape;178;p31"/>
          <p:cNvSpPr txBox="1"/>
          <p:nvPr/>
        </p:nvSpPr>
        <p:spPr>
          <a:xfrm>
            <a:off x="320013" y="2281263"/>
            <a:ext cx="306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family_size = sibsp + parch + 1.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Group by family_size and person_type.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Calculate survival rate and sample size 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Add missing combinations so gaps mean no data.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Use line/marker for type and color for n.</a:t>
            </a:r>
            <a:endParaRPr/>
          </a:p>
        </p:txBody>
      </p:sp>
      <p:sp>
        <p:nvSpPr>
          <p:cNvPr id="179" name="Google Shape;179;p31"/>
          <p:cNvSpPr txBox="1"/>
          <p:nvPr/>
        </p:nvSpPr>
        <p:spPr>
          <a:xfrm>
            <a:off x="320040" y="3401568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it tells us</a:t>
            </a:r>
            <a:endParaRPr/>
          </a:p>
        </p:txBody>
      </p:sp>
      <p:sp>
        <p:nvSpPr>
          <p:cNvPr id="180" name="Google Shape;180;p31"/>
          <p:cNvSpPr txBox="1"/>
          <p:nvPr/>
        </p:nvSpPr>
        <p:spPr>
          <a:xfrm>
            <a:off x="320050" y="3657600"/>
            <a:ext cx="31281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Family sizes 1–4: women stayed near 77–82%, while men were about 16–21%.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" sz="10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Boys and girls were often high in small families, but some n values were tiny.</a:t>
            </a:r>
            <a:endParaRPr/>
          </a:p>
        </p:txBody>
      </p:sp>
      <p:pic>
        <p:nvPicPr>
          <p:cNvPr descr="cell_14_0.png" id="181" name="Google Shape;18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8241" y="1207000"/>
            <a:ext cx="5636810" cy="34654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1"/>
          <p:cNvSpPr txBox="1"/>
          <p:nvPr/>
        </p:nvSpPr>
        <p:spPr>
          <a:xfrm>
            <a:off x="320050" y="4614725"/>
            <a:ext cx="8274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Family size is calculated as </a:t>
            </a:r>
            <a:r>
              <a:rPr lang="en" sz="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sibsp + parch + 1</a:t>
            </a:r>
            <a:r>
              <a:rPr lang="en" sz="800">
                <a:solidFill>
                  <a:schemeClr val="dk2"/>
                </a:solidFill>
              </a:rPr>
              <a:t>, so it is based on each passenger’s immediate relationships. This can produce different values within the same broader family—for example, a woman may have a calculated family size of 7 while a child in that family has a calculated family size of 4.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Overall survival was 38.4%.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Passenger class mattered: about 63% of 1st-class passengers survived versus 24% of 3rd-class passengers.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Passenger type showed an even larger gap: women 76%, girls 65%, boys 52%, and men 16%.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Family size changed the pattern, but results for very large families were based on small samples.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 had 177 missing values, so age-based plots used the 714 passengers with known ages.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