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9144000" cy="51435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j-lt"/>
        <a:ea typeface="+mj-ea"/>
        <a:cs typeface="+mj-cs"/>
        <a:sym typeface="Calibri"/>
      </a:defRPr>
    </a:lvl1pPr>
    <a:lvl2pPr indent="228600" defTabSz="457200" latinLnBrk="0">
      <a:defRPr sz="1200">
        <a:latin typeface="+mj-lt"/>
        <a:ea typeface="+mj-ea"/>
        <a:cs typeface="+mj-cs"/>
        <a:sym typeface="Calibri"/>
      </a:defRPr>
    </a:lvl2pPr>
    <a:lvl3pPr indent="457200" defTabSz="457200" latinLnBrk="0">
      <a:defRPr sz="1200">
        <a:latin typeface="+mj-lt"/>
        <a:ea typeface="+mj-ea"/>
        <a:cs typeface="+mj-cs"/>
        <a:sym typeface="Calibri"/>
      </a:defRPr>
    </a:lvl3pPr>
    <a:lvl4pPr indent="685800" defTabSz="457200" latinLnBrk="0">
      <a:defRPr sz="1200">
        <a:latin typeface="+mj-lt"/>
        <a:ea typeface="+mj-ea"/>
        <a:cs typeface="+mj-cs"/>
        <a:sym typeface="Calibri"/>
      </a:defRPr>
    </a:lvl4pPr>
    <a:lvl5pPr indent="914400" defTabSz="457200" latinLnBrk="0">
      <a:defRPr sz="1200">
        <a:latin typeface="+mj-lt"/>
        <a:ea typeface="+mj-ea"/>
        <a:cs typeface="+mj-cs"/>
        <a:sym typeface="Calibri"/>
      </a:defRPr>
    </a:lvl5pPr>
    <a:lvl6pPr indent="1143000" defTabSz="457200" latinLnBrk="0">
      <a:defRPr sz="1200">
        <a:latin typeface="+mj-lt"/>
        <a:ea typeface="+mj-ea"/>
        <a:cs typeface="+mj-cs"/>
        <a:sym typeface="Calibri"/>
      </a:defRPr>
    </a:lvl6pPr>
    <a:lvl7pPr indent="1371600" defTabSz="457200" latinLnBrk="0">
      <a:defRPr sz="1200">
        <a:latin typeface="+mj-lt"/>
        <a:ea typeface="+mj-ea"/>
        <a:cs typeface="+mj-cs"/>
        <a:sym typeface="Calibri"/>
      </a:defRPr>
    </a:lvl7pPr>
    <a:lvl8pPr indent="1600200" defTabSz="457200" latinLnBrk="0">
      <a:defRPr sz="1200">
        <a:latin typeface="+mj-lt"/>
        <a:ea typeface="+mj-ea"/>
        <a:cs typeface="+mj-cs"/>
        <a:sym typeface="Calibri"/>
      </a:defRPr>
    </a:lvl8pPr>
    <a:lvl9pPr indent="1828800" defTabSz="4572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half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45720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91440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137160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182880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1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b="1" cap="all" sz="4000"/>
            </a:lvl1pPr>
          </a:lstStyle>
          <a:p>
            <a:pPr/>
            <a:r>
              <a:t>Title Text</a:t>
            </a:r>
          </a:p>
        </p:txBody>
      </p:sp>
      <p:sp>
        <p:nvSpPr>
          <p:cNvPr id="30" name="Body Level One…"/>
          <p:cNvSpPr txBox="1"/>
          <p:nvPr>
            <p:ph type="body" sz="half" idx="1"/>
          </p:nvPr>
        </p:nvSpPr>
        <p:spPr>
          <a:xfrm>
            <a:off x="722312" y="2906713"/>
            <a:ext cx="7772401" cy="1500188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4572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9144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13716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18288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9" name="Body Level One…"/>
          <p:cNvSpPr txBox="1"/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9" indent="-320039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Body Level One…"/>
          <p:cNvSpPr txBox="1"/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b="1" sz="2400"/>
            </a:lvl1pPr>
            <a:lvl2pPr marL="0" indent="457200">
              <a:spcBef>
                <a:spcPts val="500"/>
              </a:spcBef>
              <a:buSzTx/>
              <a:buFontTx/>
              <a:buNone/>
              <a:defRPr b="1" sz="2400"/>
            </a:lvl2pPr>
            <a:lvl3pPr marL="0" indent="914400">
              <a:spcBef>
                <a:spcPts val="500"/>
              </a:spcBef>
              <a:buSzTx/>
              <a:buFontTx/>
              <a:buNone/>
              <a:defRPr b="1" sz="2400"/>
            </a:lvl3pPr>
            <a:lvl4pPr marL="0" indent="1371600">
              <a:spcBef>
                <a:spcPts val="500"/>
              </a:spcBef>
              <a:buSzTx/>
              <a:buFontTx/>
              <a:buNone/>
              <a:defRPr b="1" sz="2400"/>
            </a:lvl4pPr>
            <a:lvl5pPr marL="0" indent="1828800">
              <a:spcBef>
                <a:spcPts val="500"/>
              </a:spcBef>
              <a:buSzTx/>
              <a:buFontTx/>
              <a:buNone/>
              <a:defRPr b="1"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4645025" y="1535112"/>
            <a:ext cx="4041775" cy="639763"/>
          </a:xfrm>
          <a:prstGeom prst="rect">
            <a:avLst/>
          </a:prstGeom>
        </p:spPr>
        <p:txBody>
          <a:bodyPr anchor="b"/>
          <a:lstStyle/>
          <a:p>
            <a:pPr marL="0" indent="0">
              <a:spcBef>
                <a:spcPts val="500"/>
              </a:spcBef>
              <a:buSzTx/>
              <a:buFontTx/>
              <a:buNone/>
              <a:defRPr b="1" sz="2400"/>
            </a:pPr>
          </a:p>
        </p:txBody>
      </p:sp>
      <p:sp>
        <p:nvSpPr>
          <p:cNvPr id="5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/>
          <p:nvPr>
            <p:ph type="title"/>
          </p:nvPr>
        </p:nvSpPr>
        <p:spPr>
          <a:xfrm>
            <a:off x="457200" y="273050"/>
            <a:ext cx="3008314" cy="1162050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73" name="Body Level One…"/>
          <p:cNvSpPr txBox="1"/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/>
          <p:nvPr>
            <p:ph type="body" sz="half" idx="21"/>
          </p:nvPr>
        </p:nvSpPr>
        <p:spPr>
          <a:xfrm>
            <a:off x="457199" y="1435100"/>
            <a:ext cx="3008315" cy="4691063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300"/>
              </a:spcBef>
              <a:buSzTx/>
              <a:buFontTx/>
              <a:buNone/>
              <a:defRPr sz="1400"/>
            </a:pPr>
          </a:p>
        </p:txBody>
      </p:sp>
      <p:sp>
        <p:nvSpPr>
          <p:cNvPr id="7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/>
          <p:nvPr>
            <p:ph type="title"/>
          </p:nvPr>
        </p:nvSpPr>
        <p:spPr>
          <a:xfrm>
            <a:off x="1792288" y="4800600"/>
            <a:ext cx="5486401" cy="566738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83" name="Picture Placeholder 2"/>
          <p:cNvSpPr/>
          <p:nvPr>
            <p:ph type="pic" idx="21"/>
          </p:nvPr>
        </p:nvSpPr>
        <p:spPr>
          <a:xfrm>
            <a:off x="1792288" y="612775"/>
            <a:ext cx="5486401" cy="4114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84" name="Body Level One…"/>
          <p:cNvSpPr txBox="1"/>
          <p:nvPr>
            <p:ph type="body" sz="quarter" idx="1"/>
          </p:nvPr>
        </p:nvSpPr>
        <p:spPr>
          <a:xfrm>
            <a:off x="1792288" y="5367337"/>
            <a:ext cx="5486401" cy="804863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457200">
              <a:spcBef>
                <a:spcPts val="300"/>
              </a:spcBef>
              <a:buSzTx/>
              <a:buFontTx/>
              <a:buNone/>
              <a:defRPr sz="1400"/>
            </a:lvl2pPr>
            <a:lvl3pPr marL="0" indent="914400">
              <a:spcBef>
                <a:spcPts val="300"/>
              </a:spcBef>
              <a:buSzTx/>
              <a:buFontTx/>
              <a:buNone/>
              <a:defRPr sz="1400"/>
            </a:lvl3pPr>
            <a:lvl4pPr marL="0" indent="1371600">
              <a:spcBef>
                <a:spcPts val="300"/>
              </a:spcBef>
              <a:buSzTx/>
              <a:buFontTx/>
              <a:buNone/>
              <a:defRPr sz="1400"/>
            </a:lvl4pPr>
            <a:lvl5pPr marL="0" indent="182880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extBox 1"/>
          <p:cNvSpPr txBox="1"/>
          <p:nvPr/>
        </p:nvSpPr>
        <p:spPr>
          <a:xfrm>
            <a:off x="411479" y="1554480"/>
            <a:ext cx="8321041" cy="5726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4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Steam Games: Popularity vs. Reception</a:t>
            </a:r>
          </a:p>
        </p:txBody>
      </p:sp>
      <p:sp>
        <p:nvSpPr>
          <p:cNvPr id="95" name="TextBox 2"/>
          <p:cNvSpPr txBox="1"/>
          <p:nvPr/>
        </p:nvSpPr>
        <p:spPr>
          <a:xfrm>
            <a:off x="411479" y="2514600"/>
            <a:ext cx="8321041" cy="7456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60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An Exploratory Data Analysis of the Steam Games Dataset V2</a:t>
            </a:r>
          </a:p>
          <a:p>
            <a:pPr>
              <a:defRPr b="1" sz="1500">
                <a:latin typeface="Arial"/>
                <a:ea typeface="Arial"/>
                <a:cs typeface="Arial"/>
                <a:sym typeface="Arial"/>
              </a:defRPr>
            </a:pPr>
            <a:r>
              <a:t>ES 603 — Homework 2</a:t>
            </a:r>
          </a:p>
          <a:p>
            <a:pPr>
              <a:defRPr b="1" sz="1500">
                <a:latin typeface="Arial"/>
                <a:ea typeface="Arial"/>
                <a:cs typeface="Arial"/>
                <a:sym typeface="Arial"/>
              </a:defRPr>
            </a:pPr>
            <a:r>
              <a:t>Vadim Egorov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extBox 1"/>
          <p:cNvSpPr txBox="1"/>
          <p:nvPr/>
        </p:nvSpPr>
        <p:spPr>
          <a:xfrm>
            <a:off x="411479" y="320040"/>
            <a:ext cx="8321041" cy="4743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Dataset &amp; Research Questions</a:t>
            </a:r>
          </a:p>
        </p:txBody>
      </p:sp>
      <p:sp>
        <p:nvSpPr>
          <p:cNvPr id="98" name="TextBox 2"/>
          <p:cNvSpPr txBox="1"/>
          <p:nvPr/>
        </p:nvSpPr>
        <p:spPr>
          <a:xfrm>
            <a:off x="411479" y="1051560"/>
            <a:ext cx="8321041" cy="2888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5000"/>
              </a:lnSpc>
              <a:defRPr b="1" sz="14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Steam Games Dataset V2 (Kaggle)  —  22,611 games x 16 columns after cleaning</a:t>
            </a:r>
          </a:p>
        </p:txBody>
      </p:sp>
      <p:sp>
        <p:nvSpPr>
          <p:cNvPr id="99" name="TextBox 3"/>
          <p:cNvSpPr txBox="1"/>
          <p:nvPr/>
        </p:nvSpPr>
        <p:spPr>
          <a:xfrm>
            <a:off x="411479" y="1691639"/>
            <a:ext cx="2651762" cy="2765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5000"/>
              </a:lnSpc>
              <a:defRPr b="1" sz="13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Group comparison</a:t>
            </a:r>
          </a:p>
        </p:txBody>
      </p:sp>
      <p:sp>
        <p:nvSpPr>
          <p:cNvPr id="100" name="TextBox 4"/>
          <p:cNvSpPr txBox="1"/>
          <p:nvPr/>
        </p:nvSpPr>
        <p:spPr>
          <a:xfrm>
            <a:off x="411480" y="1984248"/>
            <a:ext cx="8046720" cy="2765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5000"/>
              </a:lnSpc>
              <a:defRPr sz="13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Do genres differ in player engagement (concurrent players)?</a:t>
            </a:r>
          </a:p>
        </p:txBody>
      </p:sp>
      <p:sp>
        <p:nvSpPr>
          <p:cNvPr id="101" name="TextBox 5"/>
          <p:cNvSpPr txBox="1"/>
          <p:nvPr/>
        </p:nvSpPr>
        <p:spPr>
          <a:xfrm>
            <a:off x="411480" y="2313432"/>
            <a:ext cx="8046720" cy="2642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5000"/>
              </a:lnSpc>
              <a:defRPr sz="120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Predicted: Action &amp; RPG higher than casual genres</a:t>
            </a:r>
          </a:p>
        </p:txBody>
      </p:sp>
      <p:sp>
        <p:nvSpPr>
          <p:cNvPr id="102" name="TextBox 6"/>
          <p:cNvSpPr txBox="1"/>
          <p:nvPr/>
        </p:nvSpPr>
        <p:spPr>
          <a:xfrm>
            <a:off x="411479" y="2697479"/>
            <a:ext cx="2651762" cy="2765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5000"/>
              </a:lnSpc>
              <a:defRPr b="1" sz="13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Numerical relationship</a:t>
            </a:r>
          </a:p>
        </p:txBody>
      </p:sp>
      <p:sp>
        <p:nvSpPr>
          <p:cNvPr id="103" name="TextBox 7"/>
          <p:cNvSpPr txBox="1"/>
          <p:nvPr/>
        </p:nvSpPr>
        <p:spPr>
          <a:xfrm>
            <a:off x="411480" y="2990088"/>
            <a:ext cx="8046720" cy="2765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5000"/>
              </a:lnSpc>
              <a:defRPr sz="13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Does review sentiment relate to how much a game is actually played?</a:t>
            </a:r>
          </a:p>
        </p:txBody>
      </p:sp>
      <p:sp>
        <p:nvSpPr>
          <p:cNvPr id="104" name="TextBox 8"/>
          <p:cNvSpPr txBox="1"/>
          <p:nvPr/>
        </p:nvSpPr>
        <p:spPr>
          <a:xfrm>
            <a:off x="411480" y="3319271"/>
            <a:ext cx="8046720" cy="2642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5000"/>
              </a:lnSpc>
              <a:defRPr sz="120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Predicted: more positive reviews -&gt; more engagement</a:t>
            </a:r>
          </a:p>
        </p:txBody>
      </p:sp>
      <p:sp>
        <p:nvSpPr>
          <p:cNvPr id="105" name="TextBox 9"/>
          <p:cNvSpPr txBox="1"/>
          <p:nvPr/>
        </p:nvSpPr>
        <p:spPr>
          <a:xfrm>
            <a:off x="411479" y="3703320"/>
            <a:ext cx="2651762" cy="2765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5000"/>
              </a:lnSpc>
              <a:defRPr b="1" sz="13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Creative question</a:t>
            </a:r>
          </a:p>
        </p:txBody>
      </p:sp>
      <p:sp>
        <p:nvSpPr>
          <p:cNvPr id="106" name="TextBox 10"/>
          <p:cNvSpPr txBox="1"/>
          <p:nvPr/>
        </p:nvSpPr>
        <p:spPr>
          <a:xfrm>
            <a:off x="411480" y="3995928"/>
            <a:ext cx="8046720" cy="2765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5000"/>
              </a:lnSpc>
              <a:defRPr sz="13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Do free-to-play and paid games differ in engagement and reception?</a:t>
            </a:r>
          </a:p>
        </p:txBody>
      </p:sp>
      <p:sp>
        <p:nvSpPr>
          <p:cNvPr id="107" name="TextBox 11"/>
          <p:cNvSpPr txBox="1"/>
          <p:nvPr/>
        </p:nvSpPr>
        <p:spPr>
          <a:xfrm>
            <a:off x="411480" y="4325111"/>
            <a:ext cx="8046720" cy="2642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5000"/>
              </a:lnSpc>
              <a:defRPr sz="120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Predicted: free games more engaging (no cost barrier)</a:t>
            </a:r>
          </a:p>
        </p:txBody>
      </p:sp>
      <p:sp>
        <p:nvSpPr>
          <p:cNvPr id="108" name="TextBox 12"/>
          <p:cNvSpPr txBox="1"/>
          <p:nvPr/>
        </p:nvSpPr>
        <p:spPr>
          <a:xfrm>
            <a:off x="411479" y="4709159"/>
            <a:ext cx="8321041" cy="2269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5000"/>
              </a:lnSpc>
              <a:defRPr sz="100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Note: original questions were built around average playtime, but that variable turned out to be unusable — see next slide.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TextBox 1"/>
          <p:cNvSpPr txBox="1"/>
          <p:nvPr/>
        </p:nvSpPr>
        <p:spPr>
          <a:xfrm>
            <a:off x="411479" y="320040"/>
            <a:ext cx="8321041" cy="4743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Data Quality</a:t>
            </a:r>
          </a:p>
        </p:txBody>
      </p:sp>
      <p:sp>
        <p:nvSpPr>
          <p:cNvPr id="111" name="TextBox 2"/>
          <p:cNvSpPr txBox="1"/>
          <p:nvPr/>
        </p:nvSpPr>
        <p:spPr>
          <a:xfrm>
            <a:off x="411480" y="1051560"/>
            <a:ext cx="3749040" cy="3133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5000"/>
              </a:lnSpc>
              <a:defRPr b="1" sz="1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Cleaning</a:t>
            </a:r>
          </a:p>
        </p:txBody>
      </p:sp>
      <p:sp>
        <p:nvSpPr>
          <p:cNvPr id="112" name="TextBox 3"/>
          <p:cNvSpPr txBox="1"/>
          <p:nvPr/>
        </p:nvSpPr>
        <p:spPr>
          <a:xfrm>
            <a:off x="411480" y="1417319"/>
            <a:ext cx="3749040" cy="16995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ct val="140000"/>
              </a:lnSpc>
              <a:defRPr sz="1400">
                <a:latin typeface="Arial"/>
                <a:ea typeface="Arial"/>
                <a:cs typeface="Arial"/>
                <a:sym typeface="Arial"/>
              </a:defRPr>
            </a:pPr>
            <a:r>
              <a:t>-  23,100 -&gt; 22,611 rows (489 duplicates removed)</a:t>
            </a:r>
          </a:p>
          <a:p>
            <a:pPr>
              <a:lnSpc>
                <a:spcPct val="140000"/>
              </a:lnSpc>
              <a:defRPr sz="1400">
                <a:latin typeface="Arial"/>
                <a:ea typeface="Arial"/>
                <a:cs typeface="Arial"/>
                <a:sym typeface="Arial"/>
              </a:defRPr>
            </a:pPr>
            <a:r>
              <a:t>-  28 -&gt; 16 columns (12 unusable columns dropped)</a:t>
            </a:r>
          </a:p>
          <a:p>
            <a:pPr>
              <a:lnSpc>
                <a:spcPct val="140000"/>
              </a:lnSpc>
              <a:defRPr sz="1400">
                <a:latin typeface="Arial"/>
                <a:ea typeface="Arial"/>
                <a:cs typeface="Arial"/>
                <a:sym typeface="Arial"/>
              </a:defRPr>
            </a:pPr>
            <a:r>
              <a:t>-  Dropped for: zero variance, mostly missing, free text, or unreliable data</a:t>
            </a:r>
          </a:p>
        </p:txBody>
      </p:sp>
      <p:sp>
        <p:nvSpPr>
          <p:cNvPr id="113" name="TextBox 4"/>
          <p:cNvSpPr txBox="1"/>
          <p:nvPr/>
        </p:nvSpPr>
        <p:spPr>
          <a:xfrm>
            <a:off x="4800600" y="1051560"/>
            <a:ext cx="3749040" cy="3133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5000"/>
              </a:lnSpc>
              <a:defRPr b="1" sz="1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Key issues found</a:t>
            </a:r>
          </a:p>
        </p:txBody>
      </p:sp>
      <p:sp>
        <p:nvSpPr>
          <p:cNvPr id="114" name="TextBox 5"/>
          <p:cNvSpPr txBox="1"/>
          <p:nvPr/>
        </p:nvSpPr>
        <p:spPr>
          <a:xfrm>
            <a:off x="4800600" y="1417319"/>
            <a:ext cx="3749040" cy="1863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ct val="140000"/>
              </a:lnSpc>
              <a:defRPr sz="1300">
                <a:latin typeface="Arial"/>
                <a:ea typeface="Arial"/>
                <a:cs typeface="Arial"/>
                <a:sym typeface="Arial"/>
              </a:defRPr>
            </a:pPr>
            <a:r>
              <a:t>-  average_forever &amp; median_forever = 0 for every game (dead SteamSpy field since 2018)</a:t>
            </a:r>
          </a:p>
          <a:p>
            <a:pPr>
              <a:lnSpc>
                <a:spcPct val="140000"/>
              </a:lnSpc>
              <a:defRPr sz="1300">
                <a:latin typeface="Arial"/>
                <a:ea typeface="Arial"/>
                <a:cs typeface="Arial"/>
                <a:sym typeface="Arial"/>
              </a:defRPr>
            </a:pPr>
            <a:r>
              <a:t>-  recommendations also unreliable - shows 0 for hundreds of clearly popular games (e.g. SCP: Secret Laboratory, Dota Underlords)</a:t>
            </a:r>
          </a:p>
          <a:p>
            <a:pPr>
              <a:lnSpc>
                <a:spcPct val="140000"/>
              </a:lnSpc>
              <a:defRPr sz="1300">
                <a:latin typeface="Arial"/>
                <a:ea typeface="Arial"/>
                <a:cs typeface="Arial"/>
                <a:sym typeface="Arial"/>
              </a:defRPr>
            </a:pPr>
            <a:r>
              <a:t>-  -&gt; engagement questions reworked around ccu (concurrent players)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TextBox 1"/>
          <p:cNvSpPr txBox="1"/>
          <p:nvPr/>
        </p:nvSpPr>
        <p:spPr>
          <a:xfrm>
            <a:off x="411479" y="320040"/>
            <a:ext cx="8321041" cy="4743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Distribution of Review Ratio (Histogram)</a:t>
            </a:r>
          </a:p>
        </p:txBody>
      </p:sp>
      <p:sp>
        <p:nvSpPr>
          <p:cNvPr id="117" name="TextBox 2"/>
          <p:cNvSpPr txBox="1"/>
          <p:nvPr/>
        </p:nvSpPr>
        <p:spPr>
          <a:xfrm>
            <a:off x="411479" y="1051560"/>
            <a:ext cx="3840481" cy="301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5000"/>
              </a:lnSpc>
              <a:defRPr b="1" sz="15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Why</a:t>
            </a:r>
          </a:p>
        </p:txBody>
      </p:sp>
      <p:sp>
        <p:nvSpPr>
          <p:cNvPr id="118" name="TextBox 3"/>
          <p:cNvSpPr txBox="1"/>
          <p:nvPr/>
        </p:nvSpPr>
        <p:spPr>
          <a:xfrm>
            <a:off x="411479" y="1371600"/>
            <a:ext cx="3840481" cy="9272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25000"/>
              </a:lnSpc>
              <a:defRPr sz="12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I wanted to understand the shape of positive_review_ratio, my key outcome variable, before comparing groups or checking correlations - is it symmetric, skewed, or affected by outliers?</a:t>
            </a:r>
          </a:p>
        </p:txBody>
      </p:sp>
      <p:sp>
        <p:nvSpPr>
          <p:cNvPr id="119" name="TextBox 4"/>
          <p:cNvSpPr txBox="1"/>
          <p:nvPr/>
        </p:nvSpPr>
        <p:spPr>
          <a:xfrm>
            <a:off x="411479" y="2468879"/>
            <a:ext cx="3840481" cy="3011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5000"/>
              </a:lnSpc>
              <a:defRPr b="1" sz="15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Results</a:t>
            </a:r>
          </a:p>
        </p:txBody>
      </p:sp>
      <p:sp>
        <p:nvSpPr>
          <p:cNvPr id="120" name="TextBox 5"/>
          <p:cNvSpPr txBox="1"/>
          <p:nvPr/>
        </p:nvSpPr>
        <p:spPr>
          <a:xfrm>
            <a:off x="411479" y="2788920"/>
            <a:ext cx="3840481" cy="16421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ct val="130000"/>
              </a:lnSpc>
              <a:defRPr sz="1200">
                <a:latin typeface="Arial"/>
                <a:ea typeface="Arial"/>
                <a:cs typeface="Arial"/>
                <a:sym typeface="Arial"/>
              </a:defRPr>
            </a:pPr>
            <a:r>
              <a:t>-  Mean 76.8%, median 80.8% -&gt; left-skewed (mean below median)</a:t>
            </a:r>
          </a:p>
          <a:p>
            <a:pPr>
              <a:lnSpc>
                <a:spcPct val="130000"/>
              </a:lnSpc>
              <a:defRPr sz="1200">
                <a:latin typeface="Arial"/>
                <a:ea typeface="Arial"/>
                <a:cs typeface="Arial"/>
                <a:sym typeface="Arial"/>
              </a:defRPr>
            </a:pPr>
            <a:r>
              <a:t>-  Skew statistic: -1.32</a:t>
            </a:r>
          </a:p>
          <a:p>
            <a:pPr>
              <a:lnSpc>
                <a:spcPct val="130000"/>
              </a:lnSpc>
              <a:defRPr sz="1200">
                <a:latin typeface="Arial"/>
                <a:ea typeface="Arial"/>
                <a:cs typeface="Arial"/>
                <a:sym typeface="Arial"/>
              </a:defRPr>
            </a:pPr>
            <a:r>
              <a:t>-  Most games cluster between the 25th-75th percentile (67-90%)</a:t>
            </a:r>
          </a:p>
          <a:p>
            <a:pPr>
              <a:lnSpc>
                <a:spcPct val="130000"/>
              </a:lnSpc>
              <a:defRPr sz="1200">
                <a:latin typeface="Arial"/>
                <a:ea typeface="Arial"/>
                <a:cs typeface="Arial"/>
                <a:sym typeface="Arial"/>
              </a:defRPr>
            </a:pPr>
            <a:r>
              <a:t>-  A pileup right at 100% comes from games with very few total reviews</a:t>
            </a:r>
          </a:p>
        </p:txBody>
      </p:sp>
      <p:pic>
        <p:nvPicPr>
          <p:cNvPr id="121" name="Picture 6" descr="Picture 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208093" y="1187181"/>
            <a:ext cx="5025910" cy="324751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TextBox 1"/>
          <p:cNvSpPr txBox="1"/>
          <p:nvPr/>
        </p:nvSpPr>
        <p:spPr>
          <a:xfrm>
            <a:off x="411479" y="320040"/>
            <a:ext cx="8321041" cy="4743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Free vs. Paid Reviews (Boxplot)</a:t>
            </a:r>
          </a:p>
        </p:txBody>
      </p:sp>
      <p:sp>
        <p:nvSpPr>
          <p:cNvPr id="124" name="TextBox 2"/>
          <p:cNvSpPr txBox="1"/>
          <p:nvPr/>
        </p:nvSpPr>
        <p:spPr>
          <a:xfrm>
            <a:off x="411479" y="1051560"/>
            <a:ext cx="3840481" cy="301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5000"/>
              </a:lnSpc>
              <a:defRPr b="1" sz="15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Why</a:t>
            </a:r>
          </a:p>
        </p:txBody>
      </p:sp>
      <p:sp>
        <p:nvSpPr>
          <p:cNvPr id="125" name="TextBox 3"/>
          <p:cNvSpPr txBox="1"/>
          <p:nvPr/>
        </p:nvSpPr>
        <p:spPr>
          <a:xfrm>
            <a:off x="411479" y="1371600"/>
            <a:ext cx="3840481" cy="7062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25000"/>
              </a:lnSpc>
              <a:defRPr sz="12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 boxplot shows the full spread of a variable across two groups - median, quartiles, and outliers - not just one average number. I needed this for Q3 (free vs. paid).</a:t>
            </a:r>
          </a:p>
        </p:txBody>
      </p:sp>
      <p:sp>
        <p:nvSpPr>
          <p:cNvPr id="126" name="TextBox 4"/>
          <p:cNvSpPr txBox="1"/>
          <p:nvPr/>
        </p:nvSpPr>
        <p:spPr>
          <a:xfrm>
            <a:off x="411479" y="2468879"/>
            <a:ext cx="3840481" cy="3011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5000"/>
              </a:lnSpc>
              <a:defRPr b="1" sz="15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Results</a:t>
            </a:r>
          </a:p>
        </p:txBody>
      </p:sp>
      <p:sp>
        <p:nvSpPr>
          <p:cNvPr id="127" name="TextBox 5"/>
          <p:cNvSpPr txBox="1"/>
          <p:nvPr/>
        </p:nvSpPr>
        <p:spPr>
          <a:xfrm>
            <a:off x="411479" y="2788920"/>
            <a:ext cx="3840481" cy="9531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ct val="130000"/>
              </a:lnSpc>
              <a:defRPr sz="1200">
                <a:latin typeface="Arial"/>
                <a:ea typeface="Arial"/>
                <a:cs typeface="Arial"/>
                <a:sym typeface="Arial"/>
              </a:defRPr>
            </a:pPr>
            <a:r>
              <a:t>-  Paid median 81.8% vs. Free median 76.4%</a:t>
            </a:r>
          </a:p>
          <a:p>
            <a:pPr>
              <a:lnSpc>
                <a:spcPct val="130000"/>
              </a:lnSpc>
              <a:defRPr sz="1200">
                <a:latin typeface="Arial"/>
                <a:ea typeface="Arial"/>
                <a:cs typeface="Arial"/>
                <a:sym typeface="Arial"/>
              </a:defRPr>
            </a:pPr>
            <a:r>
              <a:t>-  Both groups have a tail of badly-reviewed outliers (51 for Free, 624 for Paid)</a:t>
            </a:r>
          </a:p>
          <a:p>
            <a:pPr>
              <a:lnSpc>
                <a:spcPct val="130000"/>
              </a:lnSpc>
              <a:defRPr sz="1200">
                <a:latin typeface="Arial"/>
                <a:ea typeface="Arial"/>
                <a:cs typeface="Arial"/>
                <a:sym typeface="Arial"/>
              </a:defRPr>
            </a:pPr>
            <a:r>
              <a:t>-  Sets up the formal hypothesis test later in this deck</a:t>
            </a:r>
          </a:p>
        </p:txBody>
      </p:sp>
      <p:pic>
        <p:nvPicPr>
          <p:cNvPr id="128" name="Picture 6" descr="Picture 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572000" y="1280853"/>
            <a:ext cx="3931921" cy="333617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TextBox 1"/>
          <p:cNvSpPr txBox="1"/>
          <p:nvPr/>
        </p:nvSpPr>
        <p:spPr>
          <a:xfrm>
            <a:off x="411479" y="320040"/>
            <a:ext cx="8321041" cy="4743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Engagement by Genre (Bar Chart)</a:t>
            </a:r>
          </a:p>
        </p:txBody>
      </p:sp>
      <p:sp>
        <p:nvSpPr>
          <p:cNvPr id="131" name="TextBox 2"/>
          <p:cNvSpPr txBox="1"/>
          <p:nvPr/>
        </p:nvSpPr>
        <p:spPr>
          <a:xfrm>
            <a:off x="411479" y="1051560"/>
            <a:ext cx="3840481" cy="301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5000"/>
              </a:lnSpc>
              <a:defRPr b="1" sz="15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Why</a:t>
            </a:r>
          </a:p>
        </p:txBody>
      </p:sp>
      <p:sp>
        <p:nvSpPr>
          <p:cNvPr id="132" name="TextBox 3"/>
          <p:cNvSpPr txBox="1"/>
          <p:nvPr/>
        </p:nvSpPr>
        <p:spPr>
          <a:xfrm>
            <a:off x="411479" y="1371600"/>
            <a:ext cx="3840481" cy="7062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25000"/>
              </a:lnSpc>
              <a:defRPr sz="12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Testing Q1 - do genres differ in player engagement? Using ccu (concurrent players) since average_forever and recommendations both turned out unusable.</a:t>
            </a:r>
          </a:p>
        </p:txBody>
      </p:sp>
      <p:sp>
        <p:nvSpPr>
          <p:cNvPr id="133" name="TextBox 4"/>
          <p:cNvSpPr txBox="1"/>
          <p:nvPr/>
        </p:nvSpPr>
        <p:spPr>
          <a:xfrm>
            <a:off x="411479" y="2468879"/>
            <a:ext cx="3840481" cy="3011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5000"/>
              </a:lnSpc>
              <a:defRPr b="1" sz="15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Results</a:t>
            </a:r>
          </a:p>
        </p:txBody>
      </p:sp>
      <p:sp>
        <p:nvSpPr>
          <p:cNvPr id="134" name="TextBox 5"/>
          <p:cNvSpPr txBox="1"/>
          <p:nvPr/>
        </p:nvSpPr>
        <p:spPr>
          <a:xfrm>
            <a:off x="411479" y="2788920"/>
            <a:ext cx="3840481" cy="11828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ct val="130000"/>
              </a:lnSpc>
              <a:defRPr sz="1200">
                <a:latin typeface="Arial"/>
                <a:ea typeface="Arial"/>
                <a:cs typeface="Arial"/>
                <a:sym typeface="Arial"/>
              </a:defRPr>
            </a:pPr>
            <a:r>
              <a:t>-  Simulation (516) and Action (391) average the most concurrent players</a:t>
            </a:r>
          </a:p>
          <a:p>
            <a:pPr>
              <a:lnSpc>
                <a:spcPct val="130000"/>
              </a:lnSpc>
              <a:defRPr sz="1200">
                <a:latin typeface="Arial"/>
                <a:ea typeface="Arial"/>
                <a:cs typeface="Arial"/>
                <a:sym typeface="Arial"/>
              </a:defRPr>
            </a:pPr>
            <a:r>
              <a:t>-  Casual (101) and Adventure (68) average the least</a:t>
            </a:r>
          </a:p>
          <a:p>
            <a:pPr>
              <a:lnSpc>
                <a:spcPct val="130000"/>
              </a:lnSpc>
              <a:defRPr sz="1200">
                <a:latin typeface="Arial"/>
                <a:ea typeface="Arial"/>
                <a:cs typeface="Arial"/>
                <a:sym typeface="Arial"/>
              </a:defRPr>
            </a:pPr>
            <a:r>
              <a:t>-  But averages alone can be misleading - see the Group Comparison slide</a:t>
            </a:r>
          </a:p>
        </p:txBody>
      </p:sp>
      <p:pic>
        <p:nvPicPr>
          <p:cNvPr id="135" name="Picture 6" descr="Picture 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572000" y="1462196"/>
            <a:ext cx="4206241" cy="297348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TextBox 1"/>
          <p:cNvSpPr txBox="1"/>
          <p:nvPr/>
        </p:nvSpPr>
        <p:spPr>
          <a:xfrm>
            <a:off x="411479" y="320040"/>
            <a:ext cx="8321041" cy="4743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Review Ratio vs. Engagement (Scatter Plot)</a:t>
            </a:r>
          </a:p>
        </p:txBody>
      </p:sp>
      <p:sp>
        <p:nvSpPr>
          <p:cNvPr id="138" name="TextBox 2"/>
          <p:cNvSpPr txBox="1"/>
          <p:nvPr/>
        </p:nvSpPr>
        <p:spPr>
          <a:xfrm>
            <a:off x="411479" y="1051560"/>
            <a:ext cx="3840481" cy="301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5000"/>
              </a:lnSpc>
              <a:defRPr b="1" sz="15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Why</a:t>
            </a:r>
          </a:p>
        </p:txBody>
      </p:sp>
      <p:sp>
        <p:nvSpPr>
          <p:cNvPr id="139" name="TextBox 3"/>
          <p:cNvSpPr txBox="1"/>
          <p:nvPr/>
        </p:nvSpPr>
        <p:spPr>
          <a:xfrm>
            <a:off x="411479" y="1371600"/>
            <a:ext cx="3840481" cy="4852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25000"/>
              </a:lnSpc>
              <a:defRPr sz="12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Testing Q2 - does a better-reviewed game actually get played more?</a:t>
            </a:r>
          </a:p>
        </p:txBody>
      </p:sp>
      <p:sp>
        <p:nvSpPr>
          <p:cNvPr id="140" name="TextBox 4"/>
          <p:cNvSpPr txBox="1"/>
          <p:nvPr/>
        </p:nvSpPr>
        <p:spPr>
          <a:xfrm>
            <a:off x="411479" y="2468879"/>
            <a:ext cx="3840481" cy="3011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5000"/>
              </a:lnSpc>
              <a:defRPr b="1" sz="15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Results</a:t>
            </a:r>
          </a:p>
        </p:txBody>
      </p:sp>
      <p:sp>
        <p:nvSpPr>
          <p:cNvPr id="141" name="TextBox 5"/>
          <p:cNvSpPr txBox="1"/>
          <p:nvPr/>
        </p:nvSpPr>
        <p:spPr>
          <a:xfrm>
            <a:off x="411479" y="2788920"/>
            <a:ext cx="3840481" cy="11828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ct val="130000"/>
              </a:lnSpc>
              <a:defRPr sz="1200">
                <a:latin typeface="Arial"/>
                <a:ea typeface="Arial"/>
                <a:cs typeface="Arial"/>
                <a:sym typeface="Arial"/>
              </a:defRPr>
            </a:pPr>
            <a:r>
              <a:t>-  Raw correlation looks like nothing: r = 0.01</a:t>
            </a:r>
          </a:p>
          <a:p>
            <a:pPr>
              <a:lnSpc>
                <a:spcPct val="130000"/>
              </a:lnSpc>
              <a:defRPr sz="1200">
                <a:latin typeface="Arial"/>
                <a:ea typeface="Arial"/>
                <a:cs typeface="Arial"/>
                <a:sym typeface="Arial"/>
              </a:defRPr>
            </a:pPr>
            <a:r>
              <a:t>-  ccu is extremely skewed (skew stat 113) - a raw correlation misses the real pattern</a:t>
            </a:r>
          </a:p>
          <a:p>
            <a:pPr>
              <a:lnSpc>
                <a:spcPct val="130000"/>
              </a:lnSpc>
              <a:defRPr sz="1200">
                <a:latin typeface="Arial"/>
                <a:ea typeface="Arial"/>
                <a:cs typeface="Arial"/>
                <a:sym typeface="Arial"/>
              </a:defRPr>
            </a:pPr>
            <a:r>
              <a:t>-  Log-transformed correlation: r = 0.23 - weak to moderate, but real</a:t>
            </a:r>
          </a:p>
        </p:txBody>
      </p:sp>
      <p:pic>
        <p:nvPicPr>
          <p:cNvPr id="142" name="Picture 6" descr="Picture 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572000" y="1462196"/>
            <a:ext cx="4206241" cy="297348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TextBox 1"/>
          <p:cNvSpPr txBox="1"/>
          <p:nvPr/>
        </p:nvSpPr>
        <p:spPr>
          <a:xfrm>
            <a:off x="411479" y="320040"/>
            <a:ext cx="8321041" cy="4743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Group Comparison: Engagement by Genre</a:t>
            </a:r>
          </a:p>
        </p:txBody>
      </p:sp>
      <p:sp>
        <p:nvSpPr>
          <p:cNvPr id="145" name="TextBox 2"/>
          <p:cNvSpPr txBox="1"/>
          <p:nvPr/>
        </p:nvSpPr>
        <p:spPr>
          <a:xfrm>
            <a:off x="411479" y="1051560"/>
            <a:ext cx="3840481" cy="301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5000"/>
              </a:lnSpc>
              <a:defRPr b="1" sz="15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Why</a:t>
            </a:r>
          </a:p>
        </p:txBody>
      </p:sp>
      <p:sp>
        <p:nvSpPr>
          <p:cNvPr id="146" name="TextBox 3"/>
          <p:cNvSpPr txBox="1"/>
          <p:nvPr/>
        </p:nvSpPr>
        <p:spPr>
          <a:xfrm>
            <a:off x="411479" y="1371600"/>
            <a:ext cx="4083992" cy="7062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25000"/>
              </a:lnSpc>
              <a:defRPr sz="12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Comparing mean AND median ccu per genre reveals something the bar chart alone can't: how concentrated each genre's popularity actually is.</a:t>
            </a:r>
          </a:p>
        </p:txBody>
      </p:sp>
      <p:sp>
        <p:nvSpPr>
          <p:cNvPr id="147" name="TextBox 4"/>
          <p:cNvSpPr txBox="1"/>
          <p:nvPr/>
        </p:nvSpPr>
        <p:spPr>
          <a:xfrm>
            <a:off x="411479" y="2468879"/>
            <a:ext cx="3840481" cy="3011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5000"/>
              </a:lnSpc>
              <a:defRPr b="1" sz="15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Results</a:t>
            </a:r>
          </a:p>
        </p:txBody>
      </p:sp>
      <p:sp>
        <p:nvSpPr>
          <p:cNvPr id="148" name="TextBox 5"/>
          <p:cNvSpPr txBox="1"/>
          <p:nvPr/>
        </p:nvSpPr>
        <p:spPr>
          <a:xfrm>
            <a:off x="411479" y="2788920"/>
            <a:ext cx="4083992" cy="18717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ct val="130000"/>
              </a:lnSpc>
              <a:defRPr sz="1200">
                <a:latin typeface="Arial"/>
                <a:ea typeface="Arial"/>
                <a:cs typeface="Arial"/>
                <a:sym typeface="Arial"/>
              </a:defRPr>
            </a:pPr>
            <a:r>
              <a:t>-  Casual: mean 101, median 0 -&gt; 54.9% of Casual games have nobody currently playing</a:t>
            </a:r>
          </a:p>
          <a:p>
            <a:pPr>
              <a:lnSpc>
                <a:spcPct val="130000"/>
              </a:lnSpc>
              <a:defRPr sz="1200">
                <a:latin typeface="Arial"/>
                <a:ea typeface="Arial"/>
                <a:cs typeface="Arial"/>
                <a:sym typeface="Arial"/>
              </a:defRPr>
            </a:pPr>
            <a:r>
              <a:t>-  Action: mean 391, median 0 -&gt; 51.5% of Action games have nobody currently playing</a:t>
            </a:r>
          </a:p>
          <a:p>
            <a:pPr>
              <a:lnSpc>
                <a:spcPct val="130000"/>
              </a:lnSpc>
              <a:defRPr sz="1200">
                <a:latin typeface="Arial"/>
                <a:ea typeface="Arial"/>
                <a:cs typeface="Arial"/>
                <a:sym typeface="Arial"/>
              </a:defRPr>
            </a:pPr>
            <a:r>
              <a:t>-  Racing: mean 223, median 7 -&gt; the most evenly-spread genre here</a:t>
            </a:r>
          </a:p>
          <a:p>
            <a:pPr>
              <a:lnSpc>
                <a:spcPct val="130000"/>
              </a:lnSpc>
              <a:defRPr sz="1200">
                <a:latin typeface="Arial"/>
                <a:ea typeface="Arial"/>
                <a:cs typeface="Arial"/>
                <a:sym typeface="Arial"/>
              </a:defRPr>
            </a:pPr>
            <a:r>
              <a:t>-  High averages often mean a few blockbusters carry the genre, not that a typical game does well</a:t>
            </a:r>
          </a:p>
        </p:txBody>
      </p:sp>
      <p:pic>
        <p:nvPicPr>
          <p:cNvPr id="149" name="Picture 6" descr="Picture 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572000" y="1455419"/>
            <a:ext cx="4480560" cy="298704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TextBox 1"/>
          <p:cNvSpPr txBox="1"/>
          <p:nvPr/>
        </p:nvSpPr>
        <p:spPr>
          <a:xfrm>
            <a:off x="411479" y="320040"/>
            <a:ext cx="8321041" cy="4743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Hypothesis Test: Free vs. Paid Reviews</a:t>
            </a:r>
          </a:p>
        </p:txBody>
      </p:sp>
      <p:sp>
        <p:nvSpPr>
          <p:cNvPr id="152" name="TextBox 2"/>
          <p:cNvSpPr txBox="1"/>
          <p:nvPr/>
        </p:nvSpPr>
        <p:spPr>
          <a:xfrm>
            <a:off x="411479" y="1051560"/>
            <a:ext cx="4114801" cy="301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5000"/>
              </a:lnSpc>
              <a:defRPr b="1" sz="15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Why</a:t>
            </a:r>
          </a:p>
        </p:txBody>
      </p:sp>
      <p:sp>
        <p:nvSpPr>
          <p:cNvPr id="153" name="TextBox 3"/>
          <p:cNvSpPr txBox="1"/>
          <p:nvPr/>
        </p:nvSpPr>
        <p:spPr>
          <a:xfrm>
            <a:off x="411479" y="1371600"/>
            <a:ext cx="4468972" cy="7062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25000"/>
              </a:lnSpc>
              <a:defRPr sz="12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The boxplot showed a gap between free and paid review ratios - is it real, or could it be random noise from how games happened to split into groups?</a:t>
            </a:r>
          </a:p>
        </p:txBody>
      </p:sp>
      <p:sp>
        <p:nvSpPr>
          <p:cNvPr id="154" name="TextBox 4"/>
          <p:cNvSpPr txBox="1"/>
          <p:nvPr/>
        </p:nvSpPr>
        <p:spPr>
          <a:xfrm>
            <a:off x="411479" y="2103120"/>
            <a:ext cx="4468972" cy="10756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ct val="130000"/>
              </a:lnSpc>
              <a:defRPr sz="1300">
                <a:latin typeface="Arial"/>
                <a:ea typeface="Arial"/>
                <a:cs typeface="Arial"/>
                <a:sym typeface="Arial"/>
              </a:defRPr>
            </a:pPr>
            <a:r>
              <a:t>H0:  mean review ratio is equal for Free and Paid games</a:t>
            </a:r>
          </a:p>
          <a:p>
            <a:pPr>
              <a:lnSpc>
                <a:spcPct val="130000"/>
              </a:lnSpc>
              <a:defRPr sz="1300">
                <a:latin typeface="Arial"/>
                <a:ea typeface="Arial"/>
                <a:cs typeface="Arial"/>
                <a:sym typeface="Arial"/>
              </a:defRPr>
            </a:pPr>
            <a:r>
              <a:t>H1:  mean review ratio differs between groups</a:t>
            </a:r>
          </a:p>
          <a:p>
            <a:pPr>
              <a:lnSpc>
                <a:spcPct val="130000"/>
              </a:lnSpc>
              <a:defRPr sz="600">
                <a:latin typeface="Arial"/>
                <a:ea typeface="Arial"/>
                <a:cs typeface="Arial"/>
                <a:sym typeface="Arial"/>
              </a:defRPr>
            </a:pPr>
          </a:p>
          <a:p>
            <a:pPr>
              <a:lnSpc>
                <a:spcPct val="130000"/>
              </a:lnSpc>
              <a:defRPr b="1" sz="1300">
                <a:latin typeface="Arial"/>
                <a:ea typeface="Arial"/>
                <a:cs typeface="Arial"/>
                <a:sym typeface="Arial"/>
              </a:defRPr>
            </a:pPr>
            <a:r>
              <a:t>Test: Welch's two-sample t-test</a:t>
            </a:r>
          </a:p>
          <a:p>
            <a:pPr>
              <a:lnSpc>
                <a:spcPct val="130000"/>
              </a:lnSpc>
              <a:defRPr sz="110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(unequal variances, unequal group sizes)</a:t>
            </a:r>
          </a:p>
        </p:txBody>
      </p:sp>
      <p:sp>
        <p:nvSpPr>
          <p:cNvPr id="155" name="TextBox 5"/>
          <p:cNvSpPr txBox="1"/>
          <p:nvPr/>
        </p:nvSpPr>
        <p:spPr>
          <a:xfrm>
            <a:off x="411479" y="3325476"/>
            <a:ext cx="4114801" cy="301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5000"/>
              </a:lnSpc>
              <a:defRPr b="1" sz="15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Results</a:t>
            </a:r>
          </a:p>
        </p:txBody>
      </p:sp>
      <p:sp>
        <p:nvSpPr>
          <p:cNvPr id="156" name="TextBox 6"/>
          <p:cNvSpPr txBox="1"/>
          <p:nvPr/>
        </p:nvSpPr>
        <p:spPr>
          <a:xfrm>
            <a:off x="411479" y="3645515"/>
            <a:ext cx="4468972" cy="9531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ct val="130000"/>
              </a:lnSpc>
              <a:defRPr sz="1200">
                <a:latin typeface="Arial"/>
                <a:ea typeface="Arial"/>
                <a:cs typeface="Arial"/>
                <a:sym typeface="Arial"/>
              </a:defRPr>
            </a:pPr>
            <a:r>
              <a:t>-  Free: n = 4,311, mean = 73.5%</a:t>
            </a:r>
          </a:p>
          <a:p>
            <a:pPr>
              <a:lnSpc>
                <a:spcPct val="130000"/>
              </a:lnSpc>
              <a:defRPr sz="1200">
                <a:latin typeface="Arial"/>
                <a:ea typeface="Arial"/>
                <a:cs typeface="Arial"/>
                <a:sym typeface="Arial"/>
              </a:defRPr>
            </a:pPr>
            <a:r>
              <a:t>-  Paid: n = 18,273, mean = 77.6%</a:t>
            </a:r>
          </a:p>
          <a:p>
            <a:pPr>
              <a:lnSpc>
                <a:spcPct val="130000"/>
              </a:lnSpc>
              <a:defRPr sz="1200">
                <a:latin typeface="Arial"/>
                <a:ea typeface="Arial"/>
                <a:cs typeface="Arial"/>
                <a:sym typeface="Arial"/>
              </a:defRPr>
            </a:pPr>
            <a:r>
              <a:t>-  t = 13.44,  p ~ 1.17 x 10^-40</a:t>
            </a:r>
          </a:p>
          <a:p>
            <a:pPr>
              <a:lnSpc>
                <a:spcPct val="130000"/>
              </a:lnSpc>
              <a:defRPr sz="1200">
                <a:latin typeface="Arial"/>
                <a:ea typeface="Arial"/>
                <a:cs typeface="Arial"/>
                <a:sym typeface="Arial"/>
              </a:defRPr>
            </a:pPr>
            <a:r>
              <a:t>-  alpha = 0.05  -&gt;  REJECT H0 (real, but modest, ~4-pt gap)</a:t>
            </a:r>
          </a:p>
        </p:txBody>
      </p:sp>
      <p:pic>
        <p:nvPicPr>
          <p:cNvPr id="157" name="Picture 7" descr="Picture 7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029200" y="1289858"/>
            <a:ext cx="3749039" cy="318100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TextBox 1"/>
          <p:cNvSpPr txBox="1"/>
          <p:nvPr/>
        </p:nvSpPr>
        <p:spPr>
          <a:xfrm>
            <a:off x="411479" y="320040"/>
            <a:ext cx="8321041" cy="4743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Most Surprising Finding</a:t>
            </a:r>
          </a:p>
        </p:txBody>
      </p:sp>
      <p:sp>
        <p:nvSpPr>
          <p:cNvPr id="160" name="TextBox 2"/>
          <p:cNvSpPr txBox="1"/>
          <p:nvPr/>
        </p:nvSpPr>
        <p:spPr>
          <a:xfrm>
            <a:off x="411479" y="1051560"/>
            <a:ext cx="3840481" cy="301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5000"/>
              </a:lnSpc>
              <a:defRPr b="1" sz="15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Why</a:t>
            </a:r>
          </a:p>
        </p:txBody>
      </p:sp>
      <p:sp>
        <p:nvSpPr>
          <p:cNvPr id="161" name="TextBox 3"/>
          <p:cNvSpPr txBox="1"/>
          <p:nvPr/>
        </p:nvSpPr>
        <p:spPr>
          <a:xfrm>
            <a:off x="411479" y="1371600"/>
            <a:ext cx="3840481" cy="7062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25000"/>
              </a:lnSpc>
              <a:defRPr sz="12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I predicted (Q2) that better-reviewed games would also be more engaging - more people currently playing them.</a:t>
            </a:r>
          </a:p>
        </p:txBody>
      </p:sp>
      <p:sp>
        <p:nvSpPr>
          <p:cNvPr id="162" name="TextBox 4"/>
          <p:cNvSpPr txBox="1"/>
          <p:nvPr/>
        </p:nvSpPr>
        <p:spPr>
          <a:xfrm>
            <a:off x="411479" y="2194560"/>
            <a:ext cx="3840481" cy="301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5000"/>
              </a:lnSpc>
              <a:defRPr b="1" sz="15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Results</a:t>
            </a:r>
          </a:p>
        </p:txBody>
      </p:sp>
      <p:sp>
        <p:nvSpPr>
          <p:cNvPr id="163" name="TextBox 5"/>
          <p:cNvSpPr txBox="1"/>
          <p:nvPr/>
        </p:nvSpPr>
        <p:spPr>
          <a:xfrm>
            <a:off x="411479" y="2514600"/>
            <a:ext cx="3840481" cy="25606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ct val="130000"/>
              </a:lnSpc>
              <a:defRPr sz="1200">
                <a:latin typeface="Arial"/>
                <a:ea typeface="Arial"/>
                <a:cs typeface="Arial"/>
                <a:sym typeface="Arial"/>
              </a:defRPr>
            </a:pPr>
            <a:r>
              <a:t>-  Raw correlation: r = 0.01 - looks like no relationship at all</a:t>
            </a:r>
          </a:p>
          <a:p>
            <a:pPr>
              <a:lnSpc>
                <a:spcPct val="130000"/>
              </a:lnSpc>
              <a:defRPr sz="1200">
                <a:latin typeface="Arial"/>
                <a:ea typeface="Arial"/>
                <a:cs typeface="Arial"/>
                <a:sym typeface="Arial"/>
              </a:defRPr>
            </a:pPr>
            <a:r>
              <a:t>-  But ccu is extremely skewed (skew stat 113) - a raw correlation misses the real pattern</a:t>
            </a:r>
          </a:p>
          <a:p>
            <a:pPr>
              <a:lnSpc>
                <a:spcPct val="130000"/>
              </a:lnSpc>
              <a:defRPr sz="1200">
                <a:latin typeface="Arial"/>
                <a:ea typeface="Arial"/>
                <a:cs typeface="Arial"/>
                <a:sym typeface="Arial"/>
              </a:defRPr>
            </a:pPr>
            <a:r>
              <a:t>-  Log-transformed: r = 0.23 - a real, modest, positive relationship</a:t>
            </a:r>
          </a:p>
          <a:p>
            <a:pPr>
              <a:lnSpc>
                <a:spcPct val="130000"/>
              </a:lnSpc>
              <a:defRPr sz="1200">
                <a:latin typeface="Arial"/>
                <a:ea typeface="Arial"/>
                <a:cs typeface="Arial"/>
                <a:sym typeface="Arial"/>
              </a:defRPr>
            </a:pPr>
            <a:r>
              <a:t>-  Popularity measures (reviews, ccu) correlate strongly with EACH OTHER (0.81-0.90), but only weakly with review ratio</a:t>
            </a:r>
          </a:p>
          <a:p>
            <a:pPr>
              <a:lnSpc>
                <a:spcPct val="130000"/>
              </a:lnSpc>
              <a:defRPr sz="1200">
                <a:latin typeface="Arial"/>
                <a:ea typeface="Arial"/>
                <a:cs typeface="Arial"/>
                <a:sym typeface="Arial"/>
              </a:defRPr>
            </a:pPr>
            <a:r>
              <a:t>-  Lesson: a skewed variable can hide a real relationship unless you check for it</a:t>
            </a:r>
          </a:p>
        </p:txBody>
      </p:sp>
      <p:pic>
        <p:nvPicPr>
          <p:cNvPr id="164" name="Picture 6" descr="Picture 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572000" y="1020126"/>
            <a:ext cx="4206241" cy="381190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TextBox 1"/>
          <p:cNvSpPr txBox="1"/>
          <p:nvPr/>
        </p:nvSpPr>
        <p:spPr>
          <a:xfrm>
            <a:off x="411479" y="320040"/>
            <a:ext cx="8321041" cy="4743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Final Takeaway</a:t>
            </a:r>
          </a:p>
        </p:txBody>
      </p:sp>
      <p:sp>
        <p:nvSpPr>
          <p:cNvPr id="167" name="TextBox 2"/>
          <p:cNvSpPr txBox="1"/>
          <p:nvPr/>
        </p:nvSpPr>
        <p:spPr>
          <a:xfrm>
            <a:off x="411479" y="1554480"/>
            <a:ext cx="8138161" cy="24840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ct val="160000"/>
              </a:lnSpc>
              <a:defRPr sz="1600">
                <a:latin typeface="Arial"/>
                <a:ea typeface="Arial"/>
                <a:cs typeface="Arial"/>
                <a:sym typeface="Arial"/>
              </a:defRPr>
            </a:pPr>
            <a:r>
              <a:t>-  Popularity and reception have a real but weak relationship (r = 0.23) — easy to miss without handling skew</a:t>
            </a:r>
          </a:p>
          <a:p>
            <a:pPr>
              <a:lnSpc>
                <a:spcPct val="160000"/>
              </a:lnSpc>
              <a:defRPr sz="1600">
                <a:latin typeface="Arial"/>
                <a:ea typeface="Arial"/>
                <a:cs typeface="Arial"/>
                <a:sym typeface="Arial"/>
              </a:defRPr>
            </a:pPr>
            <a:r>
              <a:t>-  Paid games review significantly better than free games (p &lt; 0.001)</a:t>
            </a:r>
          </a:p>
          <a:p>
            <a:pPr>
              <a:lnSpc>
                <a:spcPct val="160000"/>
              </a:lnSpc>
              <a:defRPr sz="1600">
                <a:latin typeface="Arial"/>
                <a:ea typeface="Arial"/>
                <a:cs typeface="Arial"/>
                <a:sym typeface="Arial"/>
              </a:defRPr>
            </a:pPr>
            <a:r>
              <a:t>-  Genre-level engagement is often driven by a handful of blockbusters, not a typical game</a:t>
            </a:r>
          </a:p>
          <a:p>
            <a:pPr>
              <a:lnSpc>
                <a:spcPct val="160000"/>
              </a:lnSpc>
              <a:defRPr sz="1600">
                <a:latin typeface="Arial"/>
                <a:ea typeface="Arial"/>
                <a:cs typeface="Arial"/>
                <a:sym typeface="Arial"/>
              </a:defRPr>
            </a:pPr>
            <a:r>
              <a:t>-  Two of three planned variables were dead or unreliable — real EDA means verifying data before building on it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