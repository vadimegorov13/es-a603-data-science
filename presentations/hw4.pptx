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half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half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"/>
          <p:cNvSpPr txBox="1"/>
          <p:nvPr/>
        </p:nvSpPr>
        <p:spPr>
          <a:xfrm>
            <a:off x="429767" y="1554480"/>
            <a:ext cx="8284466" cy="536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Predicting Critical Temperature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429767" y="2514600"/>
            <a:ext cx="8284466" cy="709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defRPr sz="16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Comparing four regression models on the UCI Superconductivity dataset</a:t>
            </a:r>
          </a:p>
          <a:p>
            <a:pPr>
              <a:defRPr b="1" sz="1500">
                <a:latin typeface="Arial"/>
                <a:ea typeface="Arial"/>
                <a:cs typeface="Arial"/>
                <a:sym typeface="Arial"/>
              </a:defRPr>
            </a:pPr>
            <a:r>
              <a:t>ES 603 — Homework 4</a:t>
            </a:r>
          </a:p>
          <a:p>
            <a:pPr>
              <a:defRPr b="1" sz="1500">
                <a:latin typeface="Arial"/>
                <a:ea typeface="Arial"/>
                <a:cs typeface="Arial"/>
                <a:sym typeface="Arial"/>
              </a:defRPr>
            </a:pPr>
            <a:r>
              <a:t>Vadim Egorov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"/>
          <p:cNvSpPr txBox="1"/>
          <p:nvPr/>
        </p:nvSpPr>
        <p:spPr>
          <a:xfrm>
            <a:off x="429767" y="320040"/>
            <a:ext cx="8284466" cy="437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Dataset, Research Question &amp; Preparation</a:t>
            </a:r>
          </a:p>
        </p:txBody>
      </p:sp>
      <p:sp>
        <p:nvSpPr>
          <p:cNvPr id="98" name="TextBox 2"/>
          <p:cNvSpPr txBox="1"/>
          <p:nvPr/>
        </p:nvSpPr>
        <p:spPr>
          <a:xfrm>
            <a:off x="429768" y="1005839"/>
            <a:ext cx="3803904" cy="264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Research question</a:t>
            </a:r>
          </a:p>
        </p:txBody>
      </p:sp>
      <p:sp>
        <p:nvSpPr>
          <p:cNvPr id="99" name="TextBox 3"/>
          <p:cNvSpPr txBox="1"/>
          <p:nvPr/>
        </p:nvSpPr>
        <p:spPr>
          <a:xfrm>
            <a:off x="429768" y="1325880"/>
            <a:ext cx="3803904" cy="4486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Can a material's chemical properties predict the temperature at which it becomes superconductive?</a:t>
            </a:r>
          </a:p>
        </p:txBody>
      </p:sp>
      <p:sp>
        <p:nvSpPr>
          <p:cNvPr id="100" name="TextBox 4"/>
          <p:cNvSpPr txBox="1"/>
          <p:nvPr/>
        </p:nvSpPr>
        <p:spPr>
          <a:xfrm>
            <a:off x="429768" y="1975104"/>
            <a:ext cx="3803904" cy="264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Dataset</a:t>
            </a:r>
          </a:p>
        </p:txBody>
      </p:sp>
      <p:sp>
        <p:nvSpPr>
          <p:cNvPr id="101" name="TextBox 5"/>
          <p:cNvSpPr txBox="1"/>
          <p:nvPr/>
        </p:nvSpPr>
        <p:spPr>
          <a:xfrm>
            <a:off x="429768" y="2295144"/>
            <a:ext cx="3803904" cy="1332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Superconductivity Data (UCI): 21,263 materials x 81 features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Features: 8 element properties x 10 statistics, all calculated from the chemical formula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Target: critical_temp, measured in the lab (0 to 185 K, median 20 K)</a:t>
            </a:r>
          </a:p>
        </p:txBody>
      </p:sp>
      <p:sp>
        <p:nvSpPr>
          <p:cNvPr id="102" name="TextBox 6"/>
          <p:cNvSpPr txBox="1"/>
          <p:nvPr/>
        </p:nvSpPr>
        <p:spPr>
          <a:xfrm>
            <a:off x="429768" y="3840479"/>
            <a:ext cx="3803904" cy="264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Preparation</a:t>
            </a:r>
          </a:p>
        </p:txBody>
      </p:sp>
      <p:sp>
        <p:nvSpPr>
          <p:cNvPr id="103" name="TextBox 7"/>
          <p:cNvSpPr txBox="1"/>
          <p:nvPr/>
        </p:nvSpPr>
        <p:spPr>
          <a:xfrm>
            <a:off x="429768" y="4160520"/>
            <a:ext cx="3803904" cy="669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No missing values, no categorical columns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66 duplicate rows removed -&gt; 21,197 materials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80/20 train/test split, random_state = 42</a:t>
            </a:r>
          </a:p>
        </p:txBody>
      </p:sp>
      <p:pic>
        <p:nvPicPr>
          <p:cNvPr id="104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80559" y="1005839"/>
            <a:ext cx="4251961" cy="1786022"/>
          </a:xfrm>
          <a:prstGeom prst="rect">
            <a:avLst/>
          </a:prstGeom>
          <a:ln>
            <a:solidFill>
              <a:srgbClr val="CCCCCC"/>
            </a:solidFill>
          </a:ln>
        </p:spPr>
      </p:pic>
      <p:pic>
        <p:nvPicPr>
          <p:cNvPr id="105" name="Picture 9" descr="Picture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480559" y="2926079"/>
            <a:ext cx="2148841" cy="905150"/>
          </a:xfrm>
          <a:prstGeom prst="rect">
            <a:avLst/>
          </a:prstGeom>
          <a:ln>
            <a:solidFill>
              <a:srgbClr val="CCCCCC"/>
            </a:solidFill>
          </a:ln>
        </p:spPr>
      </p:pic>
      <p:pic>
        <p:nvPicPr>
          <p:cNvPr id="106" name="Picture 10" descr="Picture 1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675119" y="2926079"/>
            <a:ext cx="2057401" cy="1207935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TextBox 11"/>
          <p:cNvSpPr txBox="1"/>
          <p:nvPr/>
        </p:nvSpPr>
        <p:spPr>
          <a:xfrm>
            <a:off x="4498847" y="3886200"/>
            <a:ext cx="2112265" cy="650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Notebook output: summary statistics, missing values and duplicates. Right: distribution of critical_temp.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"/>
          <p:cNvSpPr txBox="1"/>
          <p:nvPr/>
        </p:nvSpPr>
        <p:spPr>
          <a:xfrm>
            <a:off x="429767" y="320040"/>
            <a:ext cx="8284466" cy="437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How I Chose the 3 Features</a:t>
            </a:r>
          </a:p>
        </p:txBody>
      </p:sp>
      <p:sp>
        <p:nvSpPr>
          <p:cNvPr id="110" name="TextBox 2"/>
          <p:cNvSpPr txBox="1"/>
          <p:nvPr/>
        </p:nvSpPr>
        <p:spPr>
          <a:xfrm>
            <a:off x="429767" y="960119"/>
            <a:ext cx="2670050" cy="239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3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1. Rank all 81 by correlation</a:t>
            </a:r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1480" y="1673805"/>
            <a:ext cx="2706624" cy="1334117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TextBox 4"/>
          <p:cNvSpPr txBox="1"/>
          <p:nvPr/>
        </p:nvSpPr>
        <p:spPr>
          <a:xfrm>
            <a:off x="429767" y="3438144"/>
            <a:ext cx="2670050" cy="537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10000"/>
              </a:lnSpc>
              <a:defRPr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Thermal conductivity features are the strongest predictors of critical_temp (r = 0.72, 0.69).</a:t>
            </a:r>
          </a:p>
        </p:txBody>
      </p:sp>
      <p:sp>
        <p:nvSpPr>
          <p:cNvPr id="113" name="TextBox 5"/>
          <p:cNvSpPr txBox="1"/>
          <p:nvPr/>
        </p:nvSpPr>
        <p:spPr>
          <a:xfrm>
            <a:off x="3236975" y="960119"/>
            <a:ext cx="2670049" cy="239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3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2. The top features overlap</a:t>
            </a:r>
          </a:p>
        </p:txBody>
      </p:sp>
      <p:pic>
        <p:nvPicPr>
          <p:cNvPr id="114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05481" y="1298447"/>
            <a:ext cx="2533037" cy="2084833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extBox 7"/>
          <p:cNvSpPr txBox="1"/>
          <p:nvPr/>
        </p:nvSpPr>
        <p:spPr>
          <a:xfrm>
            <a:off x="3236975" y="3438144"/>
            <a:ext cx="2670049" cy="537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10000"/>
              </a:lnSpc>
              <a:defRPr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Three of the top four are thermal conductivity statistics (r &gt; 0.95 with each other): the same information three times.</a:t>
            </a:r>
          </a:p>
        </p:txBody>
      </p:sp>
      <p:sp>
        <p:nvSpPr>
          <p:cNvPr id="116" name="TextBox 8"/>
          <p:cNvSpPr txBox="1"/>
          <p:nvPr/>
        </p:nvSpPr>
        <p:spPr>
          <a:xfrm>
            <a:off x="6044184" y="960119"/>
            <a:ext cx="2670049" cy="239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3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3. Take the best one per property</a:t>
            </a:r>
          </a:p>
        </p:txBody>
      </p:sp>
      <p:pic>
        <p:nvPicPr>
          <p:cNvPr id="117" name="Picture 9" descr="Picture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071615" y="1298447"/>
            <a:ext cx="2550092" cy="2084833"/>
          </a:xfrm>
          <a:prstGeom prst="rect">
            <a:avLst/>
          </a:prstGeom>
          <a:ln>
            <a:solidFill>
              <a:srgbClr val="CCCCCC"/>
            </a:solidFill>
          </a:ln>
        </p:spPr>
      </p:pic>
      <p:sp>
        <p:nvSpPr>
          <p:cNvPr id="118" name="TextBox 10"/>
          <p:cNvSpPr txBox="1"/>
          <p:nvPr/>
        </p:nvSpPr>
        <p:spPr>
          <a:xfrm>
            <a:off x="6044184" y="3438144"/>
            <a:ext cx="2670049" cy="537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10000"/>
              </a:lnSpc>
              <a:defRPr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One feature each from the three most predictive properties: thermal, atomic size and valence.</a:t>
            </a:r>
          </a:p>
        </p:txBody>
      </p:sp>
      <p:sp>
        <p:nvSpPr>
          <p:cNvPr id="119" name="Rectangle 11"/>
          <p:cNvSpPr/>
          <p:nvPr/>
        </p:nvSpPr>
        <p:spPr>
          <a:xfrm>
            <a:off x="411479" y="4187952"/>
            <a:ext cx="8321042" cy="658369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TextBox 12"/>
          <p:cNvSpPr txBox="1"/>
          <p:nvPr/>
        </p:nvSpPr>
        <p:spPr>
          <a:xfrm>
            <a:off x="521208" y="4215384"/>
            <a:ext cx="8101584" cy="617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lnSpc>
                <a:spcPct val="110000"/>
              </a:lnSpc>
              <a:defRPr b="1" sz="1200">
                <a:latin typeface="Arial"/>
                <a:ea typeface="Arial"/>
                <a:cs typeface="Arial"/>
                <a:sym typeface="Arial"/>
              </a:defRPr>
            </a:pPr>
            <a:r>
              <a:t>Why only 3 features?</a:t>
            </a:r>
          </a:p>
          <a:p>
            <a:pPr>
              <a:lnSpc>
                <a:spcPct val="11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A degree-10 polynomial creates 285 columns from 3 features, but about 6.4 trillion from all 81. All four models use the same 3 features, so they can be compared directly.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"/>
          <p:cNvSpPr txBox="1"/>
          <p:nvPr/>
        </p:nvSpPr>
        <p:spPr>
          <a:xfrm>
            <a:off x="429767" y="320040"/>
            <a:ext cx="8284466" cy="437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Model 1: Linear Regression</a:t>
            </a:r>
          </a:p>
        </p:txBody>
      </p:sp>
      <p:sp>
        <p:nvSpPr>
          <p:cNvPr id="123" name="TextBox 3"/>
          <p:cNvSpPr txBox="1"/>
          <p:nvPr/>
        </p:nvSpPr>
        <p:spPr>
          <a:xfrm>
            <a:off x="429768" y="1155827"/>
            <a:ext cx="3803904" cy="4486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simplest model, as a baseline: multiple linear regression on the 3 selected features.</a:t>
            </a:r>
          </a:p>
        </p:txBody>
      </p:sp>
      <p:sp>
        <p:nvSpPr>
          <p:cNvPr id="124" name="TextBox 4"/>
          <p:cNvSpPr txBox="1"/>
          <p:nvPr/>
        </p:nvSpPr>
        <p:spPr>
          <a:xfrm>
            <a:off x="429768" y="2002535"/>
            <a:ext cx="3803904" cy="264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125" name="TextBox 5"/>
          <p:cNvSpPr txBox="1"/>
          <p:nvPr/>
        </p:nvSpPr>
        <p:spPr>
          <a:xfrm>
            <a:off x="429768" y="2322576"/>
            <a:ext cx="3803904" cy="155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Train R² = 0.557, Test R² = 0.565: no overfitting, but the model underfits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Test MAE = 17.6 K, large when the median is 20 K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Predictions top out at about 70 K, so every hotter material is underestimated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Some predictions are below 0 K, which is physically impossible</a:t>
            </a:r>
          </a:p>
        </p:txBody>
      </p:sp>
      <p:pic>
        <p:nvPicPr>
          <p:cNvPr id="126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26279" y="960119"/>
            <a:ext cx="2788921" cy="27889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60919" y="1005839"/>
            <a:ext cx="1371600" cy="999156"/>
          </a:xfrm>
          <a:prstGeom prst="rect">
            <a:avLst/>
          </a:prstGeom>
          <a:ln>
            <a:solidFill>
              <a:srgbClr val="CCCCCC"/>
            </a:solidFill>
          </a:ln>
        </p:spPr>
      </p:pic>
      <p:sp>
        <p:nvSpPr>
          <p:cNvPr id="128" name="TextBox 8"/>
          <p:cNvSpPr txBox="1"/>
          <p:nvPr/>
        </p:nvSpPr>
        <p:spPr>
          <a:xfrm>
            <a:off x="7333488" y="2057400"/>
            <a:ext cx="1426465" cy="343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Notebook output: test metrics</a:t>
            </a:r>
          </a:p>
        </p:txBody>
      </p:sp>
      <p:sp>
        <p:nvSpPr>
          <p:cNvPr id="129" name="TextBox 9"/>
          <p:cNvSpPr txBox="1"/>
          <p:nvPr/>
        </p:nvSpPr>
        <p:spPr>
          <a:xfrm>
            <a:off x="4544567" y="3794759"/>
            <a:ext cx="4169666" cy="551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Predicted vs. actual on the test set. Points on the red line are perfect predictions. The model forms two flat bands and does not follow the line.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le"/>
          <p:cNvSpPr txBox="1"/>
          <p:nvPr/>
        </p:nvSpPr>
        <p:spPr>
          <a:xfrm>
            <a:off x="429767" y="320040"/>
            <a:ext cx="8284466" cy="437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Linear Regression: Coefficients</a:t>
            </a:r>
          </a:p>
        </p:txBody>
      </p:sp>
      <p:sp>
        <p:nvSpPr>
          <p:cNvPr id="132" name="TextBox 2"/>
          <p:cNvSpPr txBox="1"/>
          <p:nvPr/>
        </p:nvSpPr>
        <p:spPr>
          <a:xfrm>
            <a:off x="418242" y="1462161"/>
            <a:ext cx="3803905" cy="264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they tell us</a:t>
            </a:r>
          </a:p>
        </p:txBody>
      </p:sp>
      <p:sp>
        <p:nvSpPr>
          <p:cNvPr id="133" name="TextBox 3"/>
          <p:cNvSpPr txBox="1"/>
          <p:nvPr/>
        </p:nvSpPr>
        <p:spPr>
          <a:xfrm>
            <a:off x="418242" y="1782201"/>
            <a:ext cx="3803905" cy="1332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Thermal conductivity spread: +0.256 K per unit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Atomic radius range: +0.107 K per unit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Average valence: -3.59 K per extra bonding electron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Signs match the correlations found in the EDA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Intercept = 6.29 K: the prediction when all features are 0, with no physical meaning</a:t>
            </a:r>
          </a:p>
        </p:txBody>
      </p:sp>
      <p:pic>
        <p:nvPicPr>
          <p:cNvPr id="134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14754" y="1462161"/>
            <a:ext cx="4206241" cy="1314092"/>
          </a:xfrm>
          <a:prstGeom prst="rect">
            <a:avLst/>
          </a:prstGeom>
          <a:ln>
            <a:solidFill>
              <a:srgbClr val="CCCCCC"/>
            </a:solidFill>
          </a:ln>
        </p:spPr>
      </p:pic>
      <p:pic>
        <p:nvPicPr>
          <p:cNvPr id="135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14754" y="2925200"/>
            <a:ext cx="1600201" cy="756139"/>
          </a:xfrm>
          <a:prstGeom prst="rect">
            <a:avLst/>
          </a:prstGeom>
          <a:ln>
            <a:solidFill>
              <a:srgbClr val="CCCCCC"/>
            </a:solidFill>
          </a:ln>
        </p:spPr>
      </p:pic>
      <p:sp>
        <p:nvSpPr>
          <p:cNvPr id="136" name="TextBox 9"/>
          <p:cNvSpPr txBox="1"/>
          <p:nvPr/>
        </p:nvSpPr>
        <p:spPr>
          <a:xfrm>
            <a:off x="6270402" y="2970920"/>
            <a:ext cx="2432305" cy="343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Notebook output: coefficients and intercept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"/>
          <p:cNvSpPr txBox="1"/>
          <p:nvPr/>
        </p:nvSpPr>
        <p:spPr>
          <a:xfrm>
            <a:off x="429767" y="320040"/>
            <a:ext cx="8284466" cy="437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Model 2: Polynomial Regression</a:t>
            </a:r>
          </a:p>
        </p:txBody>
      </p:sp>
      <p:sp>
        <p:nvSpPr>
          <p:cNvPr id="139" name="TextBox 3"/>
          <p:cNvSpPr txBox="1"/>
          <p:nvPr/>
        </p:nvSpPr>
        <p:spPr>
          <a:xfrm>
            <a:off x="429768" y="1157340"/>
            <a:ext cx="3803904" cy="669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Testing whether curved terms and interactions between the 3 features improve on the straight-line model. Degrees 1, 2, 3, 5 and 10.</a:t>
            </a:r>
          </a:p>
        </p:txBody>
      </p:sp>
      <p:sp>
        <p:nvSpPr>
          <p:cNvPr id="140" name="TextBox 4"/>
          <p:cNvSpPr txBox="1"/>
          <p:nvPr/>
        </p:nvSpPr>
        <p:spPr>
          <a:xfrm>
            <a:off x="429768" y="2226564"/>
            <a:ext cx="3803904" cy="264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141" name="TextBox 5"/>
          <p:cNvSpPr txBox="1"/>
          <p:nvPr/>
        </p:nvSpPr>
        <p:spPr>
          <a:xfrm>
            <a:off x="429768" y="2546604"/>
            <a:ext cx="3803904" cy="155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Degree 1: test R² = 0.565 (underfitting)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Degrees 2 to 5: train and test rise together, up to test R² = 0.665 at degree 5 (best)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Degree 10: train R² rises to 0.714, but test R² drops to -0.085 (overfitting)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A higher degree did not always improve testing performance</a:t>
            </a:r>
          </a:p>
        </p:txBody>
      </p:sp>
      <p:pic>
        <p:nvPicPr>
          <p:cNvPr id="142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26279" y="960119"/>
            <a:ext cx="3967279" cy="2331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26279" y="3383279"/>
            <a:ext cx="3429001" cy="1311368"/>
          </a:xfrm>
          <a:prstGeom prst="rect">
            <a:avLst/>
          </a:prstGeom>
          <a:ln>
            <a:solidFill>
              <a:srgbClr val="CCCCCC"/>
            </a:solidFill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le"/>
          <p:cNvSpPr txBox="1"/>
          <p:nvPr/>
        </p:nvSpPr>
        <p:spPr>
          <a:xfrm>
            <a:off x="429767" y="320040"/>
            <a:ext cx="8284466" cy="437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Model 3: Ridge Regression</a:t>
            </a:r>
          </a:p>
        </p:txBody>
      </p:sp>
      <p:sp>
        <p:nvSpPr>
          <p:cNvPr id="146" name="TextBox 3"/>
          <p:cNvSpPr txBox="1"/>
          <p:nvPr/>
        </p:nvSpPr>
        <p:spPr>
          <a:xfrm>
            <a:off x="429768" y="1195221"/>
            <a:ext cx="3803904" cy="669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degree-10 model overfit, so that is the one to regularize. Ridge penalizes large coefficients. The polynomial features were scaled first.</a:t>
            </a:r>
          </a:p>
        </p:txBody>
      </p:sp>
      <p:sp>
        <p:nvSpPr>
          <p:cNvPr id="147" name="TextBox 4"/>
          <p:cNvSpPr txBox="1"/>
          <p:nvPr/>
        </p:nvSpPr>
        <p:spPr>
          <a:xfrm>
            <a:off x="429768" y="2226564"/>
            <a:ext cx="3803904" cy="264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148" name="TextBox 5"/>
          <p:cNvSpPr txBox="1"/>
          <p:nvPr/>
        </p:nvSpPr>
        <p:spPr>
          <a:xfrm>
            <a:off x="429768" y="2546604"/>
            <a:ext cx="3803904" cy="155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alpha = 0.01: test R² = 0.677 (it was -0.085 without Ridge)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alpha = 1: test R² = 0.676.  alpha = 10: test R² = 0.666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Largest coefficient: 36 million with no penalty, then 486 -&gt; 58 -&gt; 18 as alpha grows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No coefficient becomes exactly zero</a:t>
            </a:r>
          </a:p>
        </p:txBody>
      </p:sp>
      <p:pic>
        <p:nvPicPr>
          <p:cNvPr id="149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26279" y="1005839"/>
            <a:ext cx="2743201" cy="1048449"/>
          </a:xfrm>
          <a:prstGeom prst="rect">
            <a:avLst/>
          </a:prstGeom>
          <a:ln>
            <a:solidFill>
              <a:srgbClr val="CCCCCC"/>
            </a:solidFill>
          </a:ln>
        </p:spPr>
      </p:pic>
      <p:pic>
        <p:nvPicPr>
          <p:cNvPr id="150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26279" y="2167127"/>
            <a:ext cx="3566161" cy="1204128"/>
          </a:xfrm>
          <a:prstGeom prst="rect">
            <a:avLst/>
          </a:prstGeom>
          <a:ln>
            <a:solidFill>
              <a:srgbClr val="CCCCCC"/>
            </a:solidFill>
          </a:ln>
        </p:spPr>
      </p:pic>
      <p:pic>
        <p:nvPicPr>
          <p:cNvPr id="151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526279" y="3429000"/>
            <a:ext cx="2331227" cy="1371600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TextBox 9"/>
          <p:cNvSpPr txBox="1"/>
          <p:nvPr/>
        </p:nvSpPr>
        <p:spPr>
          <a:xfrm>
            <a:off x="7013447" y="3520440"/>
            <a:ext cx="1700785" cy="650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Coefficient sizes for each alpha: every increase in alpha shifts the whole curve down.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"/>
          <p:cNvSpPr txBox="1"/>
          <p:nvPr/>
        </p:nvSpPr>
        <p:spPr>
          <a:xfrm>
            <a:off x="429767" y="320040"/>
            <a:ext cx="8284466" cy="437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Model 4: Lasso Regression</a:t>
            </a:r>
          </a:p>
        </p:txBody>
      </p:sp>
      <p:sp>
        <p:nvSpPr>
          <p:cNvPr id="155" name="TextBox 3"/>
          <p:cNvSpPr txBox="1"/>
          <p:nvPr/>
        </p:nvSpPr>
        <p:spPr>
          <a:xfrm>
            <a:off x="429768" y="1325880"/>
            <a:ext cx="3803904" cy="4486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Same polynomial features and same alphas as Ridge, to compare how the two penalties treat the coefficients.</a:t>
            </a:r>
          </a:p>
        </p:txBody>
      </p:sp>
      <p:sp>
        <p:nvSpPr>
          <p:cNvPr id="156" name="TextBox 4"/>
          <p:cNvSpPr txBox="1"/>
          <p:nvPr/>
        </p:nvSpPr>
        <p:spPr>
          <a:xfrm>
            <a:off x="429768" y="2226564"/>
            <a:ext cx="3803904" cy="264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157" name="TextBox 5"/>
          <p:cNvSpPr txBox="1"/>
          <p:nvPr/>
        </p:nvSpPr>
        <p:spPr>
          <a:xfrm>
            <a:off x="429768" y="2546604"/>
            <a:ext cx="3803904" cy="1332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alpha = 0.01: test R² = 0.661, with 244 of 285 coefficients at exactly zero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alpha = 1: test R² = 0.618, 279 at zero (6 terms kept)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alpha = 10: test R² = 0.529, 283 at zero (2 terms kept): underfitting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Ridge shrinks the coefficients. Lasso removes them</a:t>
            </a:r>
          </a:p>
        </p:txBody>
      </p:sp>
      <p:pic>
        <p:nvPicPr>
          <p:cNvPr id="158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26279" y="960119"/>
            <a:ext cx="4174321" cy="21031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26279" y="3127248"/>
            <a:ext cx="2103121" cy="803811"/>
          </a:xfrm>
          <a:prstGeom prst="rect">
            <a:avLst/>
          </a:prstGeom>
          <a:ln>
            <a:solidFill>
              <a:srgbClr val="CCCCCC"/>
            </a:solidFill>
          </a:ln>
        </p:spPr>
      </p:pic>
      <p:pic>
        <p:nvPicPr>
          <p:cNvPr id="160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526279" y="3986784"/>
            <a:ext cx="3097437" cy="804673"/>
          </a:xfrm>
          <a:prstGeom prst="rect">
            <a:avLst/>
          </a:prstGeom>
          <a:ln>
            <a:solidFill>
              <a:srgbClr val="CCCCCC"/>
            </a:solidFill>
          </a:ln>
        </p:spPr>
      </p:pic>
      <p:sp>
        <p:nvSpPr>
          <p:cNvPr id="161" name="TextBox 9"/>
          <p:cNvSpPr txBox="1"/>
          <p:nvPr/>
        </p:nvSpPr>
        <p:spPr>
          <a:xfrm>
            <a:off x="6739128" y="3154679"/>
            <a:ext cx="1975104" cy="496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Notebook output: Lasso scores and the number of coefficients at zero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"/>
          <p:cNvSpPr txBox="1"/>
          <p:nvPr/>
        </p:nvSpPr>
        <p:spPr>
          <a:xfrm>
            <a:off x="429767" y="320040"/>
            <a:ext cx="8284466" cy="437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Model Comparison</a:t>
            </a:r>
          </a:p>
        </p:txBody>
      </p:sp>
      <p:graphicFrame>
        <p:nvGraphicFramePr>
          <p:cNvPr id="164" name="Table 2"/>
          <p:cNvGraphicFramePr/>
          <p:nvPr/>
        </p:nvGraphicFramePr>
        <p:xfrm>
          <a:off x="435138" y="1246131"/>
          <a:ext cx="4389121" cy="222199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097280"/>
                <a:gridCol w="640080"/>
                <a:gridCol w="594360"/>
                <a:gridCol w="731520"/>
                <a:gridCol w="685800"/>
                <a:gridCol w="640080"/>
              </a:tblGrid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Degree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Alpha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Train R²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Test R²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MAE (K)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EEEE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Linear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0.557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0.565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17.6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Polynomial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0.557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0.565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17.6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Polynomial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0.607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0.619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15.3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Polynomial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0.612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0.627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15.1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Polynomial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0.643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0.665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14.23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Polynomial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0.714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-0.085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13.4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Ridge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0.01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0.676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0.677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13.4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Ridge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0.657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0.676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13.9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Ridge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0.645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0.666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14.2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Lasso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0.01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0.641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0.661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14.3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Lasso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0.605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0.618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15.4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Lasso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0.517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0.529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18.9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5" name="TextBox 3"/>
          <p:cNvSpPr txBox="1"/>
          <p:nvPr/>
        </p:nvSpPr>
        <p:spPr>
          <a:xfrm>
            <a:off x="4592859" y="3944624"/>
            <a:ext cx="4484561" cy="1111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All models use the same 3 features and the same train/test split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Linear underfits, Polynomial (degree 10) overfits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Best on unseen data: Ridge, alpha = 0.01 - explains about 68% of the variation in critical temperature.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Lasso is close behind using only 41 of 285 features</a:t>
            </a:r>
          </a:p>
        </p:txBody>
      </p:sp>
      <p:pic>
        <p:nvPicPr>
          <p:cNvPr id="16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76471" y="698279"/>
            <a:ext cx="3317337" cy="2580152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extBox 5"/>
          <p:cNvSpPr txBox="1"/>
          <p:nvPr/>
        </p:nvSpPr>
        <p:spPr>
          <a:xfrm>
            <a:off x="4956047" y="3278117"/>
            <a:ext cx="3758184" cy="343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last bar is the degree-5 polynomial (test R² = 0.665), the best unregularized degree, shown for reference.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itle"/>
          <p:cNvSpPr txBox="1"/>
          <p:nvPr/>
        </p:nvSpPr>
        <p:spPr>
          <a:xfrm>
            <a:off x="429767" y="320040"/>
            <a:ext cx="8284466" cy="437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Most Surprising Finding</a:t>
            </a:r>
          </a:p>
        </p:txBody>
      </p:sp>
      <p:sp>
        <p:nvSpPr>
          <p:cNvPr id="170" name="TextBox 3"/>
          <p:cNvSpPr txBox="1"/>
          <p:nvPr/>
        </p:nvSpPr>
        <p:spPr>
          <a:xfrm>
            <a:off x="429768" y="1325880"/>
            <a:ext cx="3803904" cy="669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Overfitting sounds like a model that is wrong everywhere on new data. The degree-10 polynomial showed something different.</a:t>
            </a:r>
          </a:p>
        </p:txBody>
      </p:sp>
      <p:sp>
        <p:nvSpPr>
          <p:cNvPr id="171" name="TextBox 4"/>
          <p:cNvSpPr txBox="1"/>
          <p:nvPr/>
        </p:nvSpPr>
        <p:spPr>
          <a:xfrm>
            <a:off x="429768" y="2226564"/>
            <a:ext cx="3803904" cy="264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172" name="TextBox 5"/>
          <p:cNvSpPr txBox="1"/>
          <p:nvPr/>
        </p:nvSpPr>
        <p:spPr>
          <a:xfrm>
            <a:off x="429768" y="2546604"/>
            <a:ext cx="3803904" cy="1774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Its MAE (13.4 K) matches Ridge's, so a typical prediction is just as good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Its MSE is about 4x higher (1,277 vs. 381)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The damage comes from a few extremely wrong predictions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Those few are enough to push test R² below zero</a:t>
            </a:r>
          </a:p>
          <a:p>
            <a: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Lesson: one metric alone can hide what is going wrong</a:t>
            </a:r>
          </a:p>
        </p:txBody>
      </p:sp>
      <p:graphicFrame>
        <p:nvGraphicFramePr>
          <p:cNvPr id="173" name="Table 6"/>
          <p:cNvGraphicFramePr/>
          <p:nvPr/>
        </p:nvGraphicFramePr>
        <p:xfrm>
          <a:off x="4663440" y="1097280"/>
          <a:ext cx="4069081" cy="115214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737360"/>
                <a:gridCol w="777240"/>
                <a:gridCol w="73152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Degree 10, 3 features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MAE (K)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MSE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Test R²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EEEE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Polynomial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13.4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1,277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-0.085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Ridge, alpha = 0.01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13.4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381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0.677</a:t>
                      </a:r>
                    </a:p>
                  </a:txBody>
                  <a:tcPr marL="18288" marR="18288" marT="18288" marB="18288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74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63440" y="2514600"/>
            <a:ext cx="4069081" cy="1556156"/>
          </a:xfrm>
          <a:prstGeom prst="rect">
            <a:avLst/>
          </a:prstGeom>
          <a:ln>
            <a:solidFill>
              <a:srgbClr val="CCCCCC"/>
            </a:solidFill>
          </a:ln>
        </p:spPr>
      </p:pic>
      <p:sp>
        <p:nvSpPr>
          <p:cNvPr id="175" name="TextBox 8"/>
          <p:cNvSpPr txBox="1"/>
          <p:nvPr/>
        </p:nvSpPr>
        <p:spPr>
          <a:xfrm>
            <a:off x="4681728" y="4114800"/>
            <a:ext cx="4032505" cy="343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Notebook output: test MAE keeps improving up to degree 10 while test MSE triples.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itle"/>
          <p:cNvSpPr txBox="1"/>
          <p:nvPr/>
        </p:nvSpPr>
        <p:spPr>
          <a:xfrm>
            <a:off x="429767" y="320040"/>
            <a:ext cx="8284466" cy="437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Final Takeaway</a:t>
            </a:r>
          </a:p>
        </p:txBody>
      </p:sp>
      <p:sp>
        <p:nvSpPr>
          <p:cNvPr id="178" name="TextBox 2"/>
          <p:cNvSpPr txBox="1"/>
          <p:nvPr/>
        </p:nvSpPr>
        <p:spPr>
          <a:xfrm>
            <a:off x="429768" y="1280159"/>
            <a:ext cx="8101584" cy="2314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lnSpc>
                <a:spcPct val="15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-  Best model on unseen data: Ridge Regression (degree 10, alpha = 0.01), test R² = 0.677</a:t>
            </a:r>
          </a:p>
          <a:p>
            <a:pPr>
              <a:lnSpc>
                <a:spcPct val="15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-  A more complex model was not better by itself: degree 10 without a penalty scored worst (test R² = -0.085)</a:t>
            </a:r>
          </a:p>
          <a:p>
            <a:pPr>
              <a:lnSpc>
                <a:spcPct val="15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-  Ridge and Lasso both fixed that overfitting (test R² = 0.677 and 0.661)</a:t>
            </a:r>
          </a:p>
          <a:p>
            <a:pPr>
              <a:lnSpc>
                <a:spcPct val="15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-  Raising alpha shrinks Ridge coefficients, and sets most Lasso coefficients to exactly zero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